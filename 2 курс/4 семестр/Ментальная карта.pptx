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</p:sldMasterIdLst>
  <p:notesMasterIdLst>
    <p:notesMasterId r:id="rId5"/>
  </p:notesMasterIdLst>
  <p:sldIdLst>
    <p:sldId id="256" r:id="rId3"/>
    <p:sldId id="257" r:id="rId4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113" d="100"/>
          <a:sy n="113" d="100"/>
        </p:scale>
        <p:origin x="46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7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7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7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7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7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706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99F36E3-E926-4512-A1AA-0EEF41903A0C}" type="slidenum">
              <a:t>‹#›</a:t>
            </a:fld>
            <a:endParaRPr/>
          </a:p>
        </p:txBody>
      </p:sp>
      <p:sp>
        <p:nvSpPr>
          <p:cNvPr id="1048707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582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83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584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43FCA7D-118A-467A-BCBD-0C34317593DF}" type="slidenum">
              <a:t>‹#›</a:t>
            </a:fld>
            <a:endParaRPr/>
          </a:p>
        </p:txBody>
      </p:sp>
      <p:sp>
        <p:nvSpPr>
          <p:cNvPr id="1048585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4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45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746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2E2D1B8-C28E-48D1-AB3B-60EBCDD57DF6}" type="slidenum">
              <a:t>‹#›</a:t>
            </a:fld>
            <a:endParaRPr/>
          </a:p>
        </p:txBody>
      </p:sp>
      <p:sp>
        <p:nvSpPr>
          <p:cNvPr id="1048747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5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51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752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5E82100-6E28-45AF-B859-BAEF3E239104}" type="slidenum">
              <a:t>‹#›</a:t>
            </a:fld>
            <a:endParaRPr/>
          </a:p>
        </p:txBody>
      </p:sp>
      <p:sp>
        <p:nvSpPr>
          <p:cNvPr id="1048753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55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756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A758348-229C-496C-BA91-FADC16AE4F2E}" type="slidenum">
              <a:t>‹#›</a:t>
            </a:fld>
            <a:endParaRPr/>
          </a:p>
        </p:txBody>
      </p:sp>
      <p:sp>
        <p:nvSpPr>
          <p:cNvPr id="1048757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09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710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2F20AE0-4A44-4D5E-AA0A-C5CB77847DDA}" type="slidenum">
              <a:t>‹#›</a:t>
            </a:fld>
            <a:endParaRPr/>
          </a:p>
        </p:txBody>
      </p:sp>
      <p:sp>
        <p:nvSpPr>
          <p:cNvPr id="1048711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5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6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61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62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763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4870ECC-0D63-448C-9151-4862C3AF37DB}" type="slidenum">
              <a:t>‹#›</a:t>
            </a:fld>
            <a:endParaRPr/>
          </a:p>
        </p:txBody>
      </p:sp>
      <p:sp>
        <p:nvSpPr>
          <p:cNvPr id="1048764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6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6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68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69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770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EEB059F-BE04-4BB0-860C-9C50DD6DC843}" type="slidenum">
              <a:t>‹#›</a:t>
            </a:fld>
            <a:endParaRPr/>
          </a:p>
        </p:txBody>
      </p:sp>
      <p:sp>
        <p:nvSpPr>
          <p:cNvPr id="1048771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3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3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3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34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735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BBFF1BC-D1A9-498F-BC2D-420EE823A9E0}" type="slidenum">
              <a:t>‹#›</a:t>
            </a:fld>
            <a:endParaRPr/>
          </a:p>
        </p:txBody>
      </p:sp>
      <p:sp>
        <p:nvSpPr>
          <p:cNvPr id="1048736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3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3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40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741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6A49C97-03D5-4E85-B290-BA17C184185B}" type="slidenum">
              <a:t>‹#›</a:t>
            </a:fld>
            <a:endParaRPr/>
          </a:p>
        </p:txBody>
      </p:sp>
      <p:sp>
        <p:nvSpPr>
          <p:cNvPr id="1048742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2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26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2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72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EC1FFAB-0991-4D3E-9BF8-23296E8C5D43}" type="slidenum">
              <a:t>‹#›</a:t>
            </a:fld>
            <a:endParaRPr/>
          </a:p>
        </p:txBody>
      </p:sp>
      <p:sp>
        <p:nvSpPr>
          <p:cNvPr id="104872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1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14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15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16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17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18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1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72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2D7EC66-CC75-4C88-BED7-FA39083D3D81}" type="slidenum">
              <a:t>‹#›</a:t>
            </a:fld>
            <a:endParaRPr/>
          </a:p>
        </p:txBody>
      </p:sp>
      <p:sp>
        <p:nvSpPr>
          <p:cNvPr id="104872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63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C3569CC-F9DC-4FEF-BDB6-333F9F7711AF}" type="slidenum">
              <a:t>‹#›</a:t>
            </a:fld>
            <a:endParaRPr/>
          </a:p>
        </p:txBody>
      </p:sp>
      <p:sp>
        <p:nvSpPr>
          <p:cNvPr id="104863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684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85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686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B46F998-06E6-424A-BB81-40BB86F7BD40}" type="slidenum">
              <a:t>‹#›</a:t>
            </a:fld>
            <a:endParaRPr/>
          </a:p>
        </p:txBody>
      </p:sp>
      <p:sp>
        <p:nvSpPr>
          <p:cNvPr id="1048687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67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680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681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C2B3B6E-0180-4CDD-80FE-F8290D684B70}" type="slidenum">
              <a:t>‹#›</a:t>
            </a:fld>
            <a:endParaRPr/>
          </a:p>
        </p:txBody>
      </p:sp>
      <p:sp>
        <p:nvSpPr>
          <p:cNvPr id="1048682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0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0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702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703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2B9F987-CE95-4F00-B199-1CA62CD9DE6B}" type="slidenum">
              <a:t>‹#›</a:t>
            </a:fld>
            <a:endParaRPr/>
          </a:p>
        </p:txBody>
      </p:sp>
      <p:sp>
        <p:nvSpPr>
          <p:cNvPr id="1048704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696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697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860BAE8-86C6-4304-B4D3-E5EDEFC4FAB7}" type="slidenum">
              <a:t>‹#›</a:t>
            </a:fld>
            <a:endParaRPr/>
          </a:p>
        </p:txBody>
      </p:sp>
      <p:sp>
        <p:nvSpPr>
          <p:cNvPr id="1048698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7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638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4C80939-A6BA-4926-862D-B90A15C9B11E}" type="slidenum">
              <a:t>‹#›</a:t>
            </a:fld>
            <a:endParaRPr/>
          </a:p>
        </p:txBody>
      </p:sp>
      <p:sp>
        <p:nvSpPr>
          <p:cNvPr id="1048639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68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69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691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692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693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19DD6DF-00EB-4D2E-BBCF-0EC7A87D05C3}" type="slidenum">
              <a:t>‹#›</a:t>
            </a:fld>
            <a:endParaRPr/>
          </a:p>
        </p:txBody>
      </p:sp>
      <p:sp>
        <p:nvSpPr>
          <p:cNvPr id="1048694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65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66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661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662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663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3DA0010-093E-4015-AB60-D533595A3079}" type="slidenum">
              <a:t>‹#›</a:t>
            </a:fld>
            <a:endParaRPr/>
          </a:p>
        </p:txBody>
      </p:sp>
      <p:sp>
        <p:nvSpPr>
          <p:cNvPr id="1048664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66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66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66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669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670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BF9D7A1-5B64-494B-8CE9-28446B7D6E2B}" type="slidenum">
              <a:t>‹#›</a:t>
            </a:fld>
            <a:endParaRPr/>
          </a:p>
        </p:txBody>
      </p:sp>
      <p:sp>
        <p:nvSpPr>
          <p:cNvPr id="1048671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67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674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67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67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ADF6A5E-1C7C-483B-9D94-18ADCEF3D1F7}" type="slidenum">
              <a:t>‹#›</a:t>
            </a:fld>
            <a:endParaRPr/>
          </a:p>
        </p:txBody>
      </p:sp>
      <p:sp>
        <p:nvSpPr>
          <p:cNvPr id="104867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6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6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65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65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655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656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B1BC698-80AA-4A1C-97CB-08BFDC3BD75C}" type="slidenum">
              <a:t>‹#›</a:t>
            </a:fld>
            <a:endParaRPr/>
          </a:p>
        </p:txBody>
      </p:sp>
      <p:sp>
        <p:nvSpPr>
          <p:cNvPr id="1048657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64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642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643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644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645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646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647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648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0A65F79-3AF9-4B2A-A133-39BFBC8FBA2A}" type="slidenum">
              <a:t>‹#›</a:t>
            </a:fld>
            <a:endParaRPr/>
          </a:p>
        </p:txBody>
      </p:sp>
      <p:sp>
        <p:nvSpPr>
          <p:cNvPr id="1048649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ru-RU" sz="6000" b="0" strike="noStrike" spc="-1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lang="ru-RU" sz="6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577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8578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1048579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DCE407-2FFA-4820-9A8F-4DBBB5E01994}" type="slidenum"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858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strike="noStrike" spc="-1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solidFill>
                  <a:schemeClr val="dk1"/>
                </a:solidFill>
                <a:latin typeface="Calibri"/>
              </a:rPr>
              <a:t>Второй уровень структуры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chemeClr val="dk1"/>
                </a:solidFill>
                <a:latin typeface="Calibri"/>
              </a:rPr>
              <a:t>Третий уровень структуры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chemeClr val="dk1"/>
                </a:solidFill>
                <a:latin typeface="Calibri"/>
              </a:rPr>
              <a:t>Пятый уровень структуры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chemeClr val="dk1"/>
                </a:solidFill>
                <a:latin typeface="Calibri"/>
              </a:rPr>
              <a:t>Шестой уровень структуры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chemeClr val="dk1"/>
                </a:solidFill>
                <a:latin typeface="Calibri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4400" b="0" strike="noStrike" spc="-1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lang="ru-RU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6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chemeClr val="dk1"/>
                </a:solidFill>
                <a:latin typeface="Calibri"/>
              </a:rPr>
              <a:t>Образец текста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chemeClr val="dk1"/>
                </a:solidFill>
                <a:latin typeface="Calibri"/>
              </a:rPr>
              <a:t>Второй уровень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strike="noStrike" spc="-1">
                <a:solidFill>
                  <a:schemeClr val="dk1"/>
                </a:solidFill>
                <a:latin typeface="Calibri"/>
              </a:rPr>
              <a:t>Третий уровень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chemeClr val="dk1"/>
                </a:solidFill>
                <a:latin typeface="Calibri"/>
              </a:rPr>
              <a:t>Четвертый уровень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chemeClr val="dk1"/>
                </a:solidFill>
                <a:latin typeface="Calibri"/>
              </a:rPr>
              <a:t>Пятый уровень</a:t>
            </a:r>
          </a:p>
        </p:txBody>
      </p:sp>
      <p:sp>
        <p:nvSpPr>
          <p:cNvPr id="104862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863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104863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79DCC3-94EC-4B1C-AFD0-9135E0213353}" type="slidenum"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Прямоугольник 78"/>
          <p:cNvSpPr/>
          <p:nvPr/>
        </p:nvSpPr>
        <p:spPr>
          <a:xfrm>
            <a:off x="2718133" y="160919"/>
            <a:ext cx="2084400" cy="73188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marL="171360" indent="-171360" algn="ctr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000" b="0" strike="noStrike" spc="-1">
                <a:solidFill>
                  <a:schemeClr val="lt1"/>
                </a:solidFill>
                <a:latin typeface="Calibri"/>
              </a:rPr>
              <a:t>Показанные псиихологи и их труды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87" name="Прямоугольник 83"/>
          <p:cNvSpPr/>
          <p:nvPr/>
        </p:nvSpPr>
        <p:spPr>
          <a:xfrm>
            <a:off x="2711160" y="1575000"/>
            <a:ext cx="2084400" cy="74844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marL="171360" indent="-171360" algn="ctr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000" b="0" strike="noStrike" spc="-1">
                <a:solidFill>
                  <a:schemeClr val="lt1"/>
                </a:solidFill>
                <a:latin typeface="Calibri"/>
              </a:rPr>
              <a:t>Темпераменты человека и как он себя ведет при каждом из них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88" name="Прямоугольник 84"/>
          <p:cNvSpPr/>
          <p:nvPr/>
        </p:nvSpPr>
        <p:spPr>
          <a:xfrm>
            <a:off x="2707560" y="3161880"/>
            <a:ext cx="2084400" cy="73188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marL="171360" indent="-171360" algn="ctr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000" b="0" strike="noStrike" spc="-1">
                <a:solidFill>
                  <a:schemeClr val="lt1"/>
                </a:solidFill>
                <a:latin typeface="Calibri"/>
              </a:rPr>
              <a:t>Невербальное общение, речь при немоте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89" name="Прямоугольник 85"/>
          <p:cNvSpPr/>
          <p:nvPr/>
        </p:nvSpPr>
        <p:spPr>
          <a:xfrm>
            <a:off x="2711160" y="4798440"/>
            <a:ext cx="2084400" cy="7254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marL="171360" indent="-171360" algn="ctr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000" b="0" strike="noStrike" spc="-1">
                <a:solidFill>
                  <a:schemeClr val="lt1"/>
                </a:solidFill>
                <a:latin typeface="Calibri"/>
              </a:rPr>
              <a:t>Общение в больших команиях, воздействия толпы, понятие лидер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0" name="Прямоугольник 88"/>
          <p:cNvSpPr/>
          <p:nvPr/>
        </p:nvSpPr>
        <p:spPr>
          <a:xfrm>
            <a:off x="7399800" y="189720"/>
            <a:ext cx="2084400" cy="73188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marL="171360" indent="-171360" algn="ctr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000" b="0" strike="noStrike" spc="-1">
                <a:solidFill>
                  <a:schemeClr val="lt1"/>
                </a:solidFill>
                <a:latin typeface="Calibri"/>
              </a:rPr>
              <a:t>Особенности процесса воспитания, стили воспитания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1" name="Прямоугольник 89"/>
          <p:cNvSpPr/>
          <p:nvPr/>
        </p:nvSpPr>
        <p:spPr>
          <a:xfrm>
            <a:off x="7399800" y="1531800"/>
            <a:ext cx="2084400" cy="73188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marL="171360" indent="-171360" algn="ctr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000" b="0" strike="noStrike" spc="-1">
                <a:solidFill>
                  <a:schemeClr val="lt1"/>
                </a:solidFill>
                <a:latin typeface="Calibri"/>
              </a:rPr>
              <a:t>Как словесные, так и наглядные методы обучения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2" name="Прямоугольник 90"/>
          <p:cNvSpPr/>
          <p:nvPr/>
        </p:nvSpPr>
        <p:spPr>
          <a:xfrm>
            <a:off x="7390080" y="3156120"/>
            <a:ext cx="2084400" cy="73188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marL="171360" indent="-171360" algn="ctr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000" b="0" strike="noStrike" spc="-1">
                <a:solidFill>
                  <a:schemeClr val="lt1"/>
                </a:solidFill>
                <a:latin typeface="Calibri"/>
              </a:rPr>
              <a:t>Последствия от определенного вида воспитания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3" name="Прямоугольник 91"/>
          <p:cNvSpPr/>
          <p:nvPr/>
        </p:nvSpPr>
        <p:spPr>
          <a:xfrm>
            <a:off x="7399800" y="4791600"/>
            <a:ext cx="2084400" cy="73188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marL="171360" indent="-171360" algn="ctr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000" b="0" strike="noStrike" spc="-1" dirty="0">
                <a:solidFill>
                  <a:schemeClr val="lt1"/>
                </a:solidFill>
                <a:latin typeface="Calibri"/>
              </a:rPr>
              <a:t>Образовательные </a:t>
            </a:r>
            <a:r>
              <a:rPr lang="ru-RU" sz="1000" b="0" strike="noStrike" spc="-1" dirty="0" err="1">
                <a:solidFill>
                  <a:schemeClr val="lt1"/>
                </a:solidFill>
                <a:latin typeface="Calibri"/>
              </a:rPr>
              <a:t>учереждения</a:t>
            </a:r>
            <a:r>
              <a:rPr lang="ru-RU" sz="1000" b="0" strike="noStrike" spc="-1" dirty="0">
                <a:solidFill>
                  <a:schemeClr val="lt1"/>
                </a:solidFill>
                <a:latin typeface="Calibri"/>
              </a:rPr>
              <a:t> высшего </a:t>
            </a:r>
            <a:r>
              <a:rPr lang="ru-RU" sz="1000" b="0" strike="noStrike" spc="-1" dirty="0" err="1">
                <a:solidFill>
                  <a:schemeClr val="lt1"/>
                </a:solidFill>
                <a:latin typeface="Calibri"/>
              </a:rPr>
              <a:t>проффесионального</a:t>
            </a:r>
            <a:r>
              <a:rPr lang="ru-RU" sz="1000" b="0" strike="noStrike" spc="-1" dirty="0">
                <a:solidFill>
                  <a:schemeClr val="lt1"/>
                </a:solidFill>
                <a:latin typeface="Calibri"/>
              </a:rPr>
              <a:t> образования</a:t>
            </a:r>
            <a:endParaRPr lang="ru-RU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4" name="Овал 4"/>
          <p:cNvSpPr/>
          <p:nvPr/>
        </p:nvSpPr>
        <p:spPr>
          <a:xfrm>
            <a:off x="4967640" y="3107160"/>
            <a:ext cx="2256120" cy="642960"/>
          </a:xfrm>
          <a:prstGeom prst="ellipse">
            <a:avLst/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1000" b="1" strike="noStrike" spc="-1">
                <a:solidFill>
                  <a:schemeClr val="lt1"/>
                </a:solidFill>
                <a:latin typeface="Times New Roman"/>
              </a:rPr>
              <a:t>Социальная психология и педагогика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5" name="Прямоугольник 5"/>
          <p:cNvSpPr/>
          <p:nvPr/>
        </p:nvSpPr>
        <p:spPr>
          <a:xfrm>
            <a:off x="693360" y="167400"/>
            <a:ext cx="1934280" cy="53172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1000" b="1" strike="noStrike" spc="-1">
                <a:solidFill>
                  <a:schemeClr val="lt1"/>
                </a:solidFill>
                <a:latin typeface="Times New Roman"/>
              </a:rPr>
              <a:t>История и предмет соц. психологии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6" name="Прямоугольник 51"/>
          <p:cNvSpPr/>
          <p:nvPr/>
        </p:nvSpPr>
        <p:spPr>
          <a:xfrm>
            <a:off x="693360" y="1575000"/>
            <a:ext cx="1934280" cy="53172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1000" b="1" strike="noStrike" spc="-1">
                <a:solidFill>
                  <a:schemeClr val="lt1"/>
                </a:solidFill>
                <a:latin typeface="Times New Roman"/>
                <a:ea typeface="Times New Roman"/>
              </a:rPr>
              <a:t>Социальная психология личности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7" name="Прямоугольник 52"/>
          <p:cNvSpPr/>
          <p:nvPr/>
        </p:nvSpPr>
        <p:spPr>
          <a:xfrm>
            <a:off x="698760" y="3156120"/>
            <a:ext cx="1928520" cy="53172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1000" b="1" strike="noStrike" spc="-1">
                <a:solidFill>
                  <a:schemeClr val="lt1"/>
                </a:solidFill>
                <a:latin typeface="Times New Roman"/>
                <a:ea typeface="Times New Roman"/>
              </a:rPr>
              <a:t>Социальная психология отношений и общения 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8" name="Прямоугольник 53"/>
          <p:cNvSpPr/>
          <p:nvPr/>
        </p:nvSpPr>
        <p:spPr>
          <a:xfrm>
            <a:off x="676440" y="4791600"/>
            <a:ext cx="1934280" cy="53172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1000" b="1" strike="noStrike" spc="-1">
                <a:solidFill>
                  <a:schemeClr val="lt1"/>
                </a:solidFill>
                <a:latin typeface="Times New Roman"/>
                <a:ea typeface="Times New Roman"/>
              </a:rPr>
              <a:t>Социальная психология общностей и социальных институтов 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9" name="Прямоугольник 54"/>
          <p:cNvSpPr/>
          <p:nvPr/>
        </p:nvSpPr>
        <p:spPr>
          <a:xfrm>
            <a:off x="9640440" y="189720"/>
            <a:ext cx="1934280" cy="43452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1000" b="1" strike="noStrike" spc="-1">
                <a:solidFill>
                  <a:schemeClr val="lt1"/>
                </a:solidFill>
                <a:latin typeface="Times New Roman"/>
                <a:ea typeface="Times New Roman"/>
              </a:rPr>
              <a:t>Педагогика, ее специфика и категории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0" name="Прямоугольник 55"/>
          <p:cNvSpPr/>
          <p:nvPr/>
        </p:nvSpPr>
        <p:spPr>
          <a:xfrm>
            <a:off x="9640440" y="1485000"/>
            <a:ext cx="1931040" cy="52308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1000" b="1" strike="noStrike" spc="-1">
                <a:solidFill>
                  <a:schemeClr val="lt1"/>
                </a:solidFill>
                <a:latin typeface="Times New Roman"/>
                <a:ea typeface="Times New Roman"/>
              </a:rPr>
              <a:t>Теоретические и методические основы обучения. Дидактика.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1" name="Прямоугольник 56"/>
          <p:cNvSpPr/>
          <p:nvPr/>
        </p:nvSpPr>
        <p:spPr>
          <a:xfrm>
            <a:off x="9658800" y="3157200"/>
            <a:ext cx="1934280" cy="58896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1000" b="1" strike="noStrike" spc="-1">
                <a:solidFill>
                  <a:schemeClr val="lt1"/>
                </a:solidFill>
                <a:latin typeface="Times New Roman"/>
                <a:ea typeface="Times New Roman"/>
              </a:rPr>
              <a:t>Теория и методика воспитания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2" name="Прямоугольник 57"/>
          <p:cNvSpPr/>
          <p:nvPr/>
        </p:nvSpPr>
        <p:spPr>
          <a:xfrm>
            <a:off x="9658800" y="4798440"/>
            <a:ext cx="1934280" cy="58896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1000" b="1" strike="noStrike" spc="-1">
                <a:solidFill>
                  <a:schemeClr val="lt1"/>
                </a:solidFill>
                <a:latin typeface="Times New Roman"/>
                <a:ea typeface="Times New Roman"/>
              </a:rPr>
              <a:t>Система высшего образования в Российской Федерации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3" name="Прямоугольник 79"/>
          <p:cNvSpPr/>
          <p:nvPr/>
        </p:nvSpPr>
        <p:spPr>
          <a:xfrm>
            <a:off x="2761560" y="6189840"/>
            <a:ext cx="236880" cy="21960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1800" b="0" strike="noStrike" spc="-1" dirty="0">
                <a:solidFill>
                  <a:schemeClr val="lt1"/>
                </a:solidFill>
                <a:latin typeface="Calibri"/>
              </a:rPr>
              <a:t>1</a:t>
            </a:r>
          </a:p>
        </p:txBody>
      </p:sp>
      <p:sp>
        <p:nvSpPr>
          <p:cNvPr id="1048604" name="Прямоугольник 80"/>
          <p:cNvSpPr/>
          <p:nvPr/>
        </p:nvSpPr>
        <p:spPr>
          <a:xfrm>
            <a:off x="6100200" y="6203160"/>
            <a:ext cx="236880" cy="2196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1800" b="0" strike="noStrike" spc="-1" dirty="0">
                <a:solidFill>
                  <a:schemeClr val="lt1"/>
                </a:solidFill>
                <a:latin typeface="Calibri"/>
              </a:rPr>
              <a:t>3</a:t>
            </a:r>
          </a:p>
        </p:txBody>
      </p:sp>
      <p:sp>
        <p:nvSpPr>
          <p:cNvPr id="1048605" name="TextBox 81"/>
          <p:cNvSpPr/>
          <p:nvPr/>
        </p:nvSpPr>
        <p:spPr>
          <a:xfrm>
            <a:off x="3165840" y="6170760"/>
            <a:ext cx="577440" cy="445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ru-RU" sz="1200" b="0" strike="noStrike" spc="-1">
                <a:solidFill>
                  <a:schemeClr val="dk1"/>
                </a:solidFill>
                <a:latin typeface="Calibri"/>
              </a:rPr>
              <a:t>- Тема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6" name="TextBox 82"/>
          <p:cNvSpPr/>
          <p:nvPr/>
        </p:nvSpPr>
        <p:spPr>
          <a:xfrm>
            <a:off x="6547320" y="6174720"/>
            <a:ext cx="1431720" cy="445599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ru-RU" sz="1200" b="0" strike="noStrike" spc="-1">
                <a:solidFill>
                  <a:schemeClr val="dk1"/>
                </a:solidFill>
                <a:latin typeface="Calibri"/>
              </a:rPr>
              <a:t>- Что понравилось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145728" name="Соединитель: уступ 95"/>
          <p:cNvCxnSpPr>
            <a:cxnSpLocks/>
            <a:stCxn id="1048594" idx="0"/>
            <a:endCxn id="1048614" idx="2"/>
          </p:cNvCxnSpPr>
          <p:nvPr/>
        </p:nvCxnSpPr>
        <p:spPr>
          <a:xfrm rot="16200000" flipV="1">
            <a:off x="3776400" y="787320"/>
            <a:ext cx="201600" cy="4438080"/>
          </a:xfrm>
          <a:prstGeom prst="bentConnector3">
            <a:avLst>
              <a:gd name="adj1" fmla="val 40429"/>
            </a:avLst>
          </a:prstGeom>
          <a:ln>
            <a:solidFill>
              <a:srgbClr val="4472C4"/>
            </a:solidFill>
            <a:tailEnd type="triangle" w="med" len="med"/>
          </a:ln>
        </p:spPr>
      </p:cxnSp>
      <p:cxnSp>
        <p:nvCxnSpPr>
          <p:cNvPr id="3145729" name="Соединитель: уступ 97"/>
          <p:cNvCxnSpPr>
            <a:cxnSpLocks/>
            <a:stCxn id="1048594" idx="0"/>
            <a:endCxn id="1048613" idx="3"/>
          </p:cNvCxnSpPr>
          <p:nvPr/>
        </p:nvCxnSpPr>
        <p:spPr>
          <a:xfrm rot="16200000" flipV="1">
            <a:off x="3340440" y="351360"/>
            <a:ext cx="2040480" cy="3471120"/>
          </a:xfrm>
          <a:prstGeom prst="bentConnector2">
            <a:avLst/>
          </a:prstGeom>
          <a:ln>
            <a:solidFill>
              <a:srgbClr val="4472C4"/>
            </a:solidFill>
            <a:tailEnd type="triangle" w="med" len="med"/>
          </a:ln>
        </p:spPr>
      </p:cxnSp>
      <p:cxnSp>
        <p:nvCxnSpPr>
          <p:cNvPr id="3145730" name="Соединитель: уступ 109"/>
          <p:cNvCxnSpPr>
            <a:cxnSpLocks/>
            <a:stCxn id="1048594" idx="0"/>
            <a:endCxn id="1048610" idx="2"/>
          </p:cNvCxnSpPr>
          <p:nvPr/>
        </p:nvCxnSpPr>
        <p:spPr>
          <a:xfrm rot="5400000" flipH="1" flipV="1">
            <a:off x="8224200" y="722520"/>
            <a:ext cx="256320" cy="4513680"/>
          </a:xfrm>
          <a:prstGeom prst="bentConnector3">
            <a:avLst>
              <a:gd name="adj1" fmla="val 27566"/>
            </a:avLst>
          </a:prstGeom>
          <a:ln>
            <a:solidFill>
              <a:srgbClr val="4472C4"/>
            </a:solidFill>
            <a:tailEnd type="triangle" w="med" len="med"/>
          </a:ln>
        </p:spPr>
      </p:cxnSp>
      <p:cxnSp>
        <p:nvCxnSpPr>
          <p:cNvPr id="3145731" name="Соединитель: уступ 112"/>
          <p:cNvCxnSpPr>
            <a:cxnSpLocks/>
          </p:cNvCxnSpPr>
          <p:nvPr/>
        </p:nvCxnSpPr>
        <p:spPr>
          <a:xfrm flipV="1">
            <a:off x="6094080" y="1063080"/>
            <a:ext cx="3551040" cy="2152440"/>
          </a:xfrm>
          <a:prstGeom prst="bentConnector3">
            <a:avLst>
              <a:gd name="adj1" fmla="val 10"/>
            </a:avLst>
          </a:prstGeom>
          <a:ln>
            <a:solidFill>
              <a:srgbClr val="4472C4"/>
            </a:solidFill>
            <a:tailEnd type="triangle" w="med" len="med"/>
          </a:ln>
        </p:spPr>
      </p:cxnSp>
      <p:sp>
        <p:nvSpPr>
          <p:cNvPr id="1048607" name="Прямоугольник 144"/>
          <p:cNvSpPr/>
          <p:nvPr/>
        </p:nvSpPr>
        <p:spPr>
          <a:xfrm>
            <a:off x="4381920" y="6188400"/>
            <a:ext cx="236880" cy="219600"/>
          </a:xfrm>
          <a:prstGeom prst="rect">
            <a:avLst/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1800" b="0" strike="noStrike" spc="-1" dirty="0">
                <a:solidFill>
                  <a:schemeClr val="bg1"/>
                </a:solidFill>
                <a:latin typeface="Calibri"/>
              </a:rPr>
              <a:t>2</a:t>
            </a:r>
          </a:p>
        </p:txBody>
      </p:sp>
      <p:sp>
        <p:nvSpPr>
          <p:cNvPr id="1048608" name="TextBox 146"/>
          <p:cNvSpPr/>
          <p:nvPr/>
        </p:nvSpPr>
        <p:spPr>
          <a:xfrm>
            <a:off x="4742280" y="6169320"/>
            <a:ext cx="116640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ru-RU" sz="1200" b="0" strike="noStrike" spc="-1">
                <a:solidFill>
                  <a:schemeClr val="dk1"/>
                </a:solidFill>
                <a:latin typeface="Calibri"/>
              </a:rPr>
              <a:t>- Что узнали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9" name="Прямоугольник 186"/>
          <p:cNvSpPr/>
          <p:nvPr/>
        </p:nvSpPr>
        <p:spPr>
          <a:xfrm>
            <a:off x="9646560" y="624600"/>
            <a:ext cx="1931040" cy="660960"/>
          </a:xfrm>
          <a:prstGeom prst="rect">
            <a:avLst/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marL="171360" indent="-171360" algn="r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000" b="0" strike="noStrike" spc="-1">
                <a:solidFill>
                  <a:schemeClr val="lt1"/>
                </a:solidFill>
                <a:latin typeface="Calibri"/>
              </a:rPr>
              <a:t>Понятие педагогика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  <a:p>
            <a:pPr marL="171360" indent="-171360" algn="r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000" b="0" strike="noStrike" spc="-1">
                <a:solidFill>
                  <a:schemeClr val="lt1"/>
                </a:solidFill>
                <a:latin typeface="Calibri"/>
              </a:rPr>
              <a:t>Категории и задачи педагаг.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  <a:p>
            <a:pPr marL="171360" indent="-171360" algn="r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000" b="0" strike="noStrike" spc="-1">
                <a:solidFill>
                  <a:schemeClr val="lt1"/>
                </a:solidFill>
                <a:latin typeface="Calibri"/>
              </a:rPr>
              <a:t>Понятие обучение. воспитания и виды обучения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0" name="Прямоугольник 187"/>
          <p:cNvSpPr/>
          <p:nvPr/>
        </p:nvSpPr>
        <p:spPr>
          <a:xfrm>
            <a:off x="9643680" y="2008440"/>
            <a:ext cx="1931040" cy="842760"/>
          </a:xfrm>
          <a:prstGeom prst="rect">
            <a:avLst/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marL="171360" indent="-171360" algn="r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000" b="0" strike="noStrike" spc="-1">
                <a:solidFill>
                  <a:schemeClr val="lt1"/>
                </a:solidFill>
                <a:latin typeface="Calibri"/>
              </a:rPr>
              <a:t>Как, чему, с помощью чего учить, как оценить результат?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  <a:p>
            <a:pPr marL="171360" indent="-171360" algn="r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000" b="0" strike="noStrike" spc="-1">
                <a:solidFill>
                  <a:schemeClr val="lt1"/>
                </a:solidFill>
                <a:latin typeface="Calibri"/>
              </a:rPr>
              <a:t>Принципы обучения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1" name="Прямоугольник 190"/>
          <p:cNvSpPr/>
          <p:nvPr/>
        </p:nvSpPr>
        <p:spPr>
          <a:xfrm>
            <a:off x="9660240" y="3702240"/>
            <a:ext cx="1934280" cy="883800"/>
          </a:xfrm>
          <a:prstGeom prst="rect">
            <a:avLst/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marL="171360" indent="-171360" algn="r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000" b="0" strike="noStrike" spc="-1">
                <a:solidFill>
                  <a:schemeClr val="lt1"/>
                </a:solidFill>
                <a:latin typeface="Calibri"/>
              </a:rPr>
              <a:t>Воспитание как педагогическая категория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  <a:p>
            <a:pPr marL="171360" indent="-171360" algn="r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000" b="0" strike="noStrike" spc="-1">
                <a:solidFill>
                  <a:schemeClr val="lt1"/>
                </a:solidFill>
                <a:latin typeface="Calibri"/>
              </a:rPr>
              <a:t>Содержание воспитательного процесса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  <a:p>
            <a:pPr marL="171360" indent="-171360" algn="r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000" b="0" strike="noStrike" spc="-1">
                <a:solidFill>
                  <a:schemeClr val="lt1"/>
                </a:solidFill>
                <a:latin typeface="Calibri"/>
              </a:rPr>
              <a:t>Способы воспитательного воздействия на человека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2" name="Прямоугольник 191"/>
          <p:cNvSpPr/>
          <p:nvPr/>
        </p:nvSpPr>
        <p:spPr>
          <a:xfrm>
            <a:off x="9658800" y="5402880"/>
            <a:ext cx="1931040" cy="622440"/>
          </a:xfrm>
          <a:prstGeom prst="rect">
            <a:avLst/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marL="171360" indent="-171360" algn="r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000" b="0" strike="noStrike" spc="-1">
                <a:solidFill>
                  <a:schemeClr val="lt1"/>
                </a:solidFill>
                <a:latin typeface="Calibri"/>
              </a:rPr>
              <a:t>Система высшего образования РФ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3" name="Прямоугольник 192"/>
          <p:cNvSpPr/>
          <p:nvPr/>
        </p:nvSpPr>
        <p:spPr>
          <a:xfrm>
            <a:off x="688320" y="661320"/>
            <a:ext cx="1936800" cy="811800"/>
          </a:xfrm>
          <a:prstGeom prst="rect">
            <a:avLst/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000" b="0" strike="noStrike" spc="-1" dirty="0">
                <a:solidFill>
                  <a:schemeClr val="lt1"/>
                </a:solidFill>
                <a:latin typeface="Calibri"/>
              </a:rPr>
              <a:t>Историю становление соц. Психологии как науки</a:t>
            </a:r>
            <a:endParaRPr lang="ru-RU" sz="10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000" b="0" strike="noStrike" spc="-1" dirty="0">
                <a:solidFill>
                  <a:schemeClr val="lt1"/>
                </a:solidFill>
                <a:latin typeface="Calibri"/>
              </a:rPr>
              <a:t>Множество психологов, которые внесли развитие в психологию</a:t>
            </a:r>
            <a:endParaRPr lang="ru-RU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4" name="Прямоугольник 193"/>
          <p:cNvSpPr/>
          <p:nvPr/>
        </p:nvSpPr>
        <p:spPr>
          <a:xfrm>
            <a:off x="687960" y="2067840"/>
            <a:ext cx="1940760" cy="838080"/>
          </a:xfrm>
          <a:prstGeom prst="rect">
            <a:avLst/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marL="171360" indent="-17136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000" b="0" strike="noStrike" spc="-1">
                <a:solidFill>
                  <a:schemeClr val="lt1"/>
                </a:solidFill>
                <a:latin typeface="Calibri"/>
              </a:rPr>
              <a:t>Понятие личность, направленность личности, характер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000" b="0" strike="noStrike" spc="-1">
                <a:solidFill>
                  <a:schemeClr val="lt1"/>
                </a:solidFill>
                <a:latin typeface="Calibri"/>
              </a:rPr>
              <a:t>Темпераменты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000" b="0" strike="noStrike" spc="-1">
                <a:solidFill>
                  <a:schemeClr val="lt1"/>
                </a:solidFill>
                <a:latin typeface="Calibri"/>
              </a:rPr>
              <a:t>Потребности человека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5" name="Прямоугольник 194"/>
          <p:cNvSpPr/>
          <p:nvPr/>
        </p:nvSpPr>
        <p:spPr>
          <a:xfrm>
            <a:off x="700200" y="3688560"/>
            <a:ext cx="1916280" cy="838080"/>
          </a:xfrm>
          <a:prstGeom prst="rect">
            <a:avLst/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marL="171360" indent="-17136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000" b="0" strike="noStrike" spc="-1">
                <a:solidFill>
                  <a:schemeClr val="lt1"/>
                </a:solidFill>
                <a:latin typeface="Calibri"/>
              </a:rPr>
              <a:t>Понятие коммуникации, ком. барьеры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000" b="0" strike="noStrike" spc="-1">
                <a:solidFill>
                  <a:schemeClr val="lt1"/>
                </a:solidFill>
                <a:latin typeface="Calibri"/>
              </a:rPr>
              <a:t>Стороны общения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000" b="0" strike="noStrike" spc="-1">
                <a:solidFill>
                  <a:schemeClr val="lt1"/>
                </a:solidFill>
                <a:latin typeface="Calibri"/>
              </a:rPr>
              <a:t>Функции и виды коммуникации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6" name="Прямоугольник 195"/>
          <p:cNvSpPr/>
          <p:nvPr/>
        </p:nvSpPr>
        <p:spPr>
          <a:xfrm>
            <a:off x="674640" y="5328360"/>
            <a:ext cx="1928520" cy="622440"/>
          </a:xfrm>
          <a:prstGeom prst="rect">
            <a:avLst/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marL="171360" indent="-17136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000" b="0" strike="noStrike" spc="-1">
                <a:solidFill>
                  <a:schemeClr val="lt1"/>
                </a:solidFill>
                <a:latin typeface="Calibri"/>
              </a:rPr>
              <a:t>Понятие и классификация соц. Институтов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000" b="0" strike="noStrike" spc="-1">
                <a:solidFill>
                  <a:schemeClr val="lt1"/>
                </a:solidFill>
                <a:latin typeface="Calibri"/>
              </a:rPr>
              <a:t>Классификация общностей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000" b="0" strike="noStrike" spc="-1">
                <a:solidFill>
                  <a:schemeClr val="lt1"/>
                </a:solidFill>
                <a:latin typeface="Calibri"/>
              </a:rPr>
              <a:t>Лидер, аутсайдер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145732" name="Соединитель: уступ 58"/>
          <p:cNvCxnSpPr>
            <a:cxnSpLocks/>
            <a:stCxn id="1048594" idx="0"/>
            <a:endCxn id="1048601" idx="0"/>
          </p:cNvCxnSpPr>
          <p:nvPr/>
        </p:nvCxnSpPr>
        <p:spPr>
          <a:xfrm rot="16200000" flipH="1">
            <a:off x="8335800" y="866880"/>
            <a:ext cx="50400" cy="4530240"/>
          </a:xfrm>
          <a:prstGeom prst="bentConnector3">
            <a:avLst>
              <a:gd name="adj1" fmla="val -132374"/>
            </a:avLst>
          </a:prstGeom>
          <a:ln>
            <a:solidFill>
              <a:srgbClr val="4472C4"/>
            </a:solidFill>
            <a:tailEnd type="triangle" w="med" len="med"/>
          </a:ln>
        </p:spPr>
      </p:cxnSp>
      <p:cxnSp>
        <p:nvCxnSpPr>
          <p:cNvPr id="3145733" name="Соединитель: уступ 59"/>
          <p:cNvCxnSpPr>
            <a:cxnSpLocks/>
            <a:stCxn id="1048594" idx="0"/>
            <a:endCxn id="1048597" idx="0"/>
          </p:cNvCxnSpPr>
          <p:nvPr/>
        </p:nvCxnSpPr>
        <p:spPr>
          <a:xfrm rot="5400000">
            <a:off x="3854880" y="915120"/>
            <a:ext cx="49320" cy="4433400"/>
          </a:xfrm>
          <a:prstGeom prst="bentConnector3">
            <a:avLst>
              <a:gd name="adj1" fmla="val -162423"/>
            </a:avLst>
          </a:prstGeom>
          <a:ln>
            <a:solidFill>
              <a:srgbClr val="4472C4"/>
            </a:solidFill>
            <a:tailEnd type="triangle" w="med" len="med"/>
          </a:ln>
        </p:spPr>
      </p:cxnSp>
      <p:cxnSp>
        <p:nvCxnSpPr>
          <p:cNvPr id="3145734" name="Соединитель: уступ 60"/>
          <p:cNvCxnSpPr>
            <a:cxnSpLocks/>
            <a:stCxn id="1048594" idx="4"/>
          </p:cNvCxnSpPr>
          <p:nvPr/>
        </p:nvCxnSpPr>
        <p:spPr>
          <a:xfrm rot="5400000">
            <a:off x="3368012" y="2977412"/>
            <a:ext cx="1954981" cy="3500397"/>
          </a:xfrm>
          <a:prstGeom prst="bentConnector2">
            <a:avLst/>
          </a:prstGeom>
          <a:ln>
            <a:solidFill>
              <a:srgbClr val="4472C4"/>
            </a:solidFill>
            <a:tailEnd type="triangle" w="med" len="med"/>
          </a:ln>
        </p:spPr>
      </p:cxnSp>
      <p:cxnSp>
        <p:nvCxnSpPr>
          <p:cNvPr id="3145735" name="Соединитель: уступ 62"/>
          <p:cNvCxnSpPr>
            <a:cxnSpLocks/>
            <a:endCxn id="1048612" idx="1"/>
          </p:cNvCxnSpPr>
          <p:nvPr/>
        </p:nvCxnSpPr>
        <p:spPr>
          <a:xfrm>
            <a:off x="6103620" y="3720420"/>
            <a:ext cx="3555180" cy="1993680"/>
          </a:xfrm>
          <a:prstGeom prst="bentConnector3">
            <a:avLst>
              <a:gd name="adj1" fmla="val -12"/>
            </a:avLst>
          </a:prstGeom>
          <a:ln>
            <a:solidFill>
              <a:srgbClr val="4472C4"/>
            </a:solidFill>
            <a:tailEnd type="triangle" w="med" len="med"/>
          </a:ln>
        </p:spPr>
      </p:cxnSp>
      <p:sp>
        <p:nvSpPr>
          <p:cNvPr id="1048617" name="Прямоугольник 1"/>
          <p:cNvSpPr/>
          <p:nvPr/>
        </p:nvSpPr>
        <p:spPr>
          <a:xfrm>
            <a:off x="8135640" y="6212160"/>
            <a:ext cx="236880" cy="219600"/>
          </a:xfrm>
          <a:prstGeom prst="rect">
            <a:avLst/>
          </a:prstGeom>
          <a:solidFill>
            <a:srgbClr val="81D41A"/>
          </a:solidFill>
          <a:ln>
            <a:solidFill>
              <a:srgbClr val="81D4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r>
              <a:rPr lang="ru-RU" sz="1800" b="0" strike="noStrike" spc="-1" dirty="0">
                <a:solidFill>
                  <a:schemeClr val="lt1"/>
                </a:solidFill>
                <a:latin typeface="Calibri"/>
              </a:rPr>
              <a:t>4</a:t>
            </a:r>
          </a:p>
        </p:txBody>
      </p:sp>
      <p:sp>
        <p:nvSpPr>
          <p:cNvPr id="1048618" name="TextBox 1"/>
          <p:cNvSpPr/>
          <p:nvPr/>
        </p:nvSpPr>
        <p:spPr>
          <a:xfrm>
            <a:off x="8582760" y="6183720"/>
            <a:ext cx="1431720" cy="445599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ru-RU" sz="1200" b="0" strike="noStrike" spc="-1">
                <a:solidFill>
                  <a:schemeClr val="dk1"/>
                </a:solidFill>
                <a:latin typeface="Calibri"/>
              </a:rPr>
              <a:t>- Ключевые слова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9" name="Прямоугольник 2"/>
          <p:cNvSpPr/>
          <p:nvPr/>
        </p:nvSpPr>
        <p:spPr>
          <a:xfrm>
            <a:off x="2718132" y="892799"/>
            <a:ext cx="2084399" cy="592920"/>
          </a:xfrm>
          <a:prstGeom prst="rect">
            <a:avLst/>
          </a:prstGeom>
          <a:solidFill>
            <a:srgbClr val="81D41A"/>
          </a:solidFill>
          <a:ln>
            <a:solidFill>
              <a:srgbClr val="81D4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1000" b="0" strike="noStrike" spc="-1" dirty="0">
                <a:solidFill>
                  <a:schemeClr val="lt1"/>
                </a:solidFill>
                <a:latin typeface="Calibri"/>
              </a:rPr>
              <a:t>Эмиль Дюкргейм, психоанализ, Габриель  Тард </a:t>
            </a:r>
            <a:endParaRPr lang="ru-RU" sz="1000" b="0" strike="noStrike" spc="-1" dirty="0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8620" name="Прямоугольник 3"/>
          <p:cNvSpPr/>
          <p:nvPr/>
        </p:nvSpPr>
        <p:spPr>
          <a:xfrm>
            <a:off x="2709333" y="2323440"/>
            <a:ext cx="2086227" cy="588240"/>
          </a:xfrm>
          <a:prstGeom prst="rect">
            <a:avLst/>
          </a:prstGeom>
          <a:solidFill>
            <a:srgbClr val="81D41A"/>
          </a:solidFill>
          <a:ln>
            <a:solidFill>
              <a:srgbClr val="81D4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r>
              <a:rPr lang="en-US" sz="1000" b="0" strike="noStrike" spc="-1" dirty="0">
                <a:solidFill>
                  <a:schemeClr val="lt1"/>
                </a:solidFill>
                <a:latin typeface="Calibri"/>
              </a:rPr>
              <a:t>Личность, материальное и духовное, темперамент</a:t>
            </a:r>
            <a:endParaRPr lang="ru-RU" sz="1000" b="0" strike="noStrike" spc="-1" dirty="0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8621" name="Прямоугольник 4"/>
          <p:cNvSpPr/>
          <p:nvPr/>
        </p:nvSpPr>
        <p:spPr>
          <a:xfrm>
            <a:off x="2707560" y="3893760"/>
            <a:ext cx="2084400" cy="671760"/>
          </a:xfrm>
          <a:prstGeom prst="rect">
            <a:avLst/>
          </a:prstGeom>
          <a:solidFill>
            <a:srgbClr val="81D41A"/>
          </a:solidFill>
          <a:ln>
            <a:solidFill>
              <a:srgbClr val="81D4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r>
              <a:rPr lang="en-US" sz="1000" b="0" strike="noStrike" spc="-1" dirty="0">
                <a:solidFill>
                  <a:schemeClr val="lt1"/>
                </a:solidFill>
                <a:latin typeface="Calibri"/>
              </a:rPr>
              <a:t>Коммуникация, общение, язык, речь </a:t>
            </a:r>
            <a:endParaRPr lang="ru-RU" sz="1000" b="0" strike="noStrike" spc="-1" dirty="0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8622" name="Прямоугольник 6"/>
          <p:cNvSpPr/>
          <p:nvPr/>
        </p:nvSpPr>
        <p:spPr>
          <a:xfrm>
            <a:off x="2709333" y="5523840"/>
            <a:ext cx="2086227" cy="471600"/>
          </a:xfrm>
          <a:prstGeom prst="rect">
            <a:avLst/>
          </a:prstGeom>
          <a:solidFill>
            <a:srgbClr val="81D41A"/>
          </a:solidFill>
          <a:ln>
            <a:solidFill>
              <a:srgbClr val="81D4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r>
              <a:rPr lang="en-US" sz="1000" b="0" strike="noStrike" spc="-1" dirty="0">
                <a:solidFill>
                  <a:schemeClr val="lt1"/>
                </a:solidFill>
                <a:latin typeface="Calibri"/>
              </a:rPr>
              <a:t>Экономический, политический, социальный, духовный </a:t>
            </a:r>
            <a:r>
              <a:rPr lang="en-US" sz="1000" b="0" strike="noStrike" spc="-1" dirty="0" err="1">
                <a:solidFill>
                  <a:schemeClr val="lt1"/>
                </a:solidFill>
                <a:latin typeface="Calibri"/>
              </a:rPr>
              <a:t>институт</a:t>
            </a:r>
            <a:r>
              <a:rPr lang="en-US" sz="1000" spc="-1" dirty="0" err="1">
                <a:solidFill>
                  <a:schemeClr val="lt1"/>
                </a:solidFill>
                <a:latin typeface="Calibri"/>
              </a:rPr>
              <a:t>ы</a:t>
            </a:r>
            <a:r>
              <a:rPr lang="en-US" sz="1000" spc="-1" dirty="0">
                <a:solidFill>
                  <a:schemeClr val="lt1"/>
                </a:solidFill>
                <a:latin typeface="Calibri"/>
              </a:rPr>
              <a:t>. Большая и малая </a:t>
            </a:r>
            <a:r>
              <a:rPr lang="en-US" sz="1000" spc="-1" dirty="0" err="1">
                <a:solidFill>
                  <a:schemeClr val="lt1"/>
                </a:solidFill>
                <a:latin typeface="Calibri"/>
              </a:rPr>
              <a:t>группы</a:t>
            </a:r>
            <a:endParaRPr lang="ru-RU" sz="1000" b="0" strike="noStrike" spc="-1" dirty="0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8623" name="Прямоугольник 7"/>
          <p:cNvSpPr/>
          <p:nvPr/>
        </p:nvSpPr>
        <p:spPr>
          <a:xfrm>
            <a:off x="7399800" y="921600"/>
            <a:ext cx="2084400" cy="363960"/>
          </a:xfrm>
          <a:prstGeom prst="rect">
            <a:avLst/>
          </a:prstGeom>
          <a:solidFill>
            <a:srgbClr val="81D41A"/>
          </a:solidFill>
          <a:ln>
            <a:solidFill>
              <a:srgbClr val="81D4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algn="ctr">
              <a:buClr>
                <a:srgbClr val="000000"/>
              </a:buClr>
              <a:buSzPct val="45000"/>
            </a:pPr>
            <a:r>
              <a:rPr lang="ru-RU" sz="1000" spc="-1" dirty="0">
                <a:solidFill>
                  <a:schemeClr val="lt1"/>
                </a:solidFill>
                <a:latin typeface="Calibri"/>
              </a:rPr>
              <a:t>Педа</a:t>
            </a:r>
            <a:r>
              <a:rPr lang="en-US" sz="1000" b="0" strike="noStrike" spc="-1" dirty="0">
                <a:solidFill>
                  <a:schemeClr val="lt1"/>
                </a:solidFill>
                <a:latin typeface="Calibri"/>
              </a:rPr>
              <a:t>гогика</a:t>
            </a:r>
            <a:r>
              <a:rPr lang="en-US" sz="1000" spc="-1" dirty="0">
                <a:solidFill>
                  <a:schemeClr val="lt1"/>
                </a:solidFill>
                <a:latin typeface="Calibri"/>
              </a:rPr>
              <a:t>, воспитание,</a:t>
            </a:r>
            <a:r>
              <a:rPr lang="ru-RU" sz="1000" spc="-1" dirty="0">
                <a:solidFill>
                  <a:schemeClr val="lt1"/>
                </a:solidFill>
                <a:latin typeface="Calibri"/>
              </a:rPr>
              <a:t> </a:t>
            </a:r>
            <a:r>
              <a:rPr lang="en-US" sz="1000" spc="-1" dirty="0">
                <a:solidFill>
                  <a:schemeClr val="lt1"/>
                </a:solidFill>
                <a:latin typeface="Calibri"/>
              </a:rPr>
              <a:t>обучение</a:t>
            </a:r>
            <a:endParaRPr lang="ru-RU" sz="1000" b="0" strike="noStrike" spc="-1" dirty="0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8624" name="Прямоугольник 8"/>
          <p:cNvSpPr/>
          <p:nvPr/>
        </p:nvSpPr>
        <p:spPr>
          <a:xfrm>
            <a:off x="7399800" y="2263680"/>
            <a:ext cx="2069280" cy="587520"/>
          </a:xfrm>
          <a:prstGeom prst="rect">
            <a:avLst/>
          </a:prstGeom>
          <a:solidFill>
            <a:srgbClr val="81D41A"/>
          </a:solidFill>
          <a:ln>
            <a:solidFill>
              <a:srgbClr val="81D4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r>
              <a:rPr lang="en-US" sz="1000" b="0" strike="noStrike" spc="-1" dirty="0">
                <a:solidFill>
                  <a:schemeClr val="lt1"/>
                </a:solidFill>
                <a:latin typeface="Calibri"/>
              </a:rPr>
              <a:t>Дидактики</a:t>
            </a:r>
            <a:r>
              <a:rPr lang="en-US" sz="1000" spc="-1" dirty="0">
                <a:solidFill>
                  <a:schemeClr val="lt1"/>
                </a:solidFill>
                <a:latin typeface="Calibri"/>
              </a:rPr>
              <a:t>а, Принципы, виды обучения </a:t>
            </a:r>
            <a:endParaRPr lang="en-US" sz="1000" b="0" strike="noStrike" spc="-1" dirty="0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8625" name="Прямоугольник 9"/>
          <p:cNvSpPr/>
          <p:nvPr/>
        </p:nvSpPr>
        <p:spPr>
          <a:xfrm>
            <a:off x="7405200" y="3888000"/>
            <a:ext cx="2069280" cy="677520"/>
          </a:xfrm>
          <a:prstGeom prst="rect">
            <a:avLst/>
          </a:prstGeom>
          <a:solidFill>
            <a:srgbClr val="81D41A"/>
          </a:solidFill>
          <a:ln>
            <a:solidFill>
              <a:srgbClr val="81D4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r>
              <a:rPr lang="az-Cyrl-AZ" sz="1000" b="0" strike="noStrike" spc="-1" dirty="0">
                <a:solidFill>
                  <a:schemeClr val="lt1"/>
                </a:solidFill>
                <a:latin typeface="Calibri"/>
              </a:rPr>
              <a:t>Р</a:t>
            </a:r>
            <a:r>
              <a:rPr lang="en-US" sz="1000" b="0" strike="noStrike" spc="-1" dirty="0">
                <a:solidFill>
                  <a:schemeClr val="lt1"/>
                </a:solidFill>
                <a:latin typeface="Calibri"/>
              </a:rPr>
              <a:t>асписание, воспитательный </a:t>
            </a:r>
            <a:r>
              <a:rPr lang="en-US" sz="1000" spc="-1" dirty="0">
                <a:solidFill>
                  <a:schemeClr val="lt1"/>
                </a:solidFill>
                <a:latin typeface="Calibri"/>
              </a:rPr>
              <a:t> процесс, Методы </a:t>
            </a:r>
            <a:r>
              <a:rPr lang="ru-RU" sz="1000" spc="-1" dirty="0">
                <a:solidFill>
                  <a:schemeClr val="lt1"/>
                </a:solidFill>
                <a:latin typeface="Calibri"/>
              </a:rPr>
              <a:t>пе</a:t>
            </a:r>
            <a:r>
              <a:rPr lang="en-US" sz="1000" spc="-1" dirty="0">
                <a:solidFill>
                  <a:schemeClr val="lt1"/>
                </a:solidFill>
                <a:latin typeface="Calibri"/>
              </a:rPr>
              <a:t>дагоги</a:t>
            </a:r>
            <a:r>
              <a:rPr lang="ru-RU" sz="1000" spc="-1" dirty="0">
                <a:solidFill>
                  <a:schemeClr val="lt1"/>
                </a:solidFill>
                <a:latin typeface="Calibri"/>
              </a:rPr>
              <a:t>ч</a:t>
            </a:r>
            <a:r>
              <a:rPr lang="en-US" sz="1000" spc="-1" dirty="0">
                <a:solidFill>
                  <a:schemeClr val="lt1"/>
                </a:solidFill>
                <a:latin typeface="Calibri"/>
              </a:rPr>
              <a:t>еской деятельной и формирование создания</a:t>
            </a:r>
            <a:endParaRPr lang="ru-RU" sz="1000" b="0" strike="noStrike" spc="-1" dirty="0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8626" name="Прямоугольник 10"/>
          <p:cNvSpPr/>
          <p:nvPr/>
        </p:nvSpPr>
        <p:spPr>
          <a:xfrm>
            <a:off x="7390080" y="5523480"/>
            <a:ext cx="2094120" cy="501840"/>
          </a:xfrm>
          <a:prstGeom prst="rect">
            <a:avLst/>
          </a:prstGeom>
          <a:solidFill>
            <a:srgbClr val="81D41A"/>
          </a:solidFill>
          <a:ln>
            <a:solidFill>
              <a:srgbClr val="81D4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r>
              <a:rPr lang="en-US" sz="1000" b="0" strike="noStrike" spc="-1" dirty="0">
                <a:solidFill>
                  <a:schemeClr val="lt1"/>
                </a:solidFill>
                <a:latin typeface="Calibri"/>
              </a:rPr>
              <a:t>Вузы</a:t>
            </a:r>
            <a:r>
              <a:rPr lang="en-US" sz="1000" spc="-1" dirty="0">
                <a:solidFill>
                  <a:schemeClr val="lt1"/>
                </a:solidFill>
                <a:latin typeface="Calibri"/>
              </a:rPr>
              <a:t>, уровни опорных вузов, типы высших учебных учреждений </a:t>
            </a:r>
            <a:endParaRPr lang="ru-RU" sz="1000" b="0" strike="noStrike" spc="-1" dirty="0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E1C809-D804-4749-8248-E56AC45A5247}"/>
              </a:ext>
            </a:extLst>
          </p:cNvPr>
          <p:cNvSpPr txBox="1"/>
          <p:nvPr/>
        </p:nvSpPr>
        <p:spPr>
          <a:xfrm>
            <a:off x="4497613" y="207467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1437D1B-46DA-4218-8677-AF0B3B7F695B}"/>
              </a:ext>
            </a:extLst>
          </p:cNvPr>
          <p:cNvSpPr txBox="1"/>
          <p:nvPr/>
        </p:nvSpPr>
        <p:spPr>
          <a:xfrm>
            <a:off x="7387787" y="209412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60F1B23-5706-4AEC-A282-22E00B097A07}"/>
              </a:ext>
            </a:extLst>
          </p:cNvPr>
          <p:cNvSpPr txBox="1"/>
          <p:nvPr/>
        </p:nvSpPr>
        <p:spPr>
          <a:xfrm>
            <a:off x="7387787" y="1531800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7900B68-99EA-4BA9-8D66-250C3B30A6CC}"/>
              </a:ext>
            </a:extLst>
          </p:cNvPr>
          <p:cNvSpPr txBox="1"/>
          <p:nvPr/>
        </p:nvSpPr>
        <p:spPr>
          <a:xfrm>
            <a:off x="7387787" y="3206047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112F8BC-094C-49FB-B3C1-D77E1A1A109A}"/>
              </a:ext>
            </a:extLst>
          </p:cNvPr>
          <p:cNvSpPr txBox="1"/>
          <p:nvPr/>
        </p:nvSpPr>
        <p:spPr>
          <a:xfrm>
            <a:off x="7387787" y="4781160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596BDDD-D0A8-4560-A638-59ACAD1B4849}"/>
              </a:ext>
            </a:extLst>
          </p:cNvPr>
          <p:cNvSpPr txBox="1"/>
          <p:nvPr/>
        </p:nvSpPr>
        <p:spPr>
          <a:xfrm>
            <a:off x="4496267" y="1527977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39491C3-52A1-4FAB-98E4-5D8A11FEE8A2}"/>
              </a:ext>
            </a:extLst>
          </p:cNvPr>
          <p:cNvSpPr txBox="1"/>
          <p:nvPr/>
        </p:nvSpPr>
        <p:spPr>
          <a:xfrm>
            <a:off x="4381920" y="3154183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769ED19-9C83-4451-B068-1A2227B31F5E}"/>
              </a:ext>
            </a:extLst>
          </p:cNvPr>
          <p:cNvSpPr txBox="1"/>
          <p:nvPr/>
        </p:nvSpPr>
        <p:spPr>
          <a:xfrm>
            <a:off x="4384120" y="4781160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E6D249F-13A7-42DF-A0F4-019D8E192951}"/>
              </a:ext>
            </a:extLst>
          </p:cNvPr>
          <p:cNvSpPr txBox="1"/>
          <p:nvPr/>
        </p:nvSpPr>
        <p:spPr>
          <a:xfrm>
            <a:off x="2369545" y="159690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7307FEC-36F0-446F-93DD-9C6D2EF1B0E0}"/>
              </a:ext>
            </a:extLst>
          </p:cNvPr>
          <p:cNvSpPr txBox="1"/>
          <p:nvPr/>
        </p:nvSpPr>
        <p:spPr>
          <a:xfrm>
            <a:off x="2369545" y="1567071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80B9630-DEEE-440F-911E-392479D45FDE}"/>
              </a:ext>
            </a:extLst>
          </p:cNvPr>
          <p:cNvSpPr txBox="1"/>
          <p:nvPr/>
        </p:nvSpPr>
        <p:spPr>
          <a:xfrm>
            <a:off x="2369545" y="3141288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C274ECD-6E96-4EE9-B4FC-6D68A2A67EF1}"/>
              </a:ext>
            </a:extLst>
          </p:cNvPr>
          <p:cNvSpPr txBox="1"/>
          <p:nvPr/>
        </p:nvSpPr>
        <p:spPr>
          <a:xfrm>
            <a:off x="2369545" y="4807189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CF2E6CE-15D3-4C0C-8A87-702905F541E1}"/>
              </a:ext>
            </a:extLst>
          </p:cNvPr>
          <p:cNvSpPr txBox="1"/>
          <p:nvPr/>
        </p:nvSpPr>
        <p:spPr>
          <a:xfrm>
            <a:off x="9632080" y="295272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BDD9E90-8A9D-4D10-A60D-D9F925806B04}"/>
              </a:ext>
            </a:extLst>
          </p:cNvPr>
          <p:cNvSpPr txBox="1"/>
          <p:nvPr/>
        </p:nvSpPr>
        <p:spPr>
          <a:xfrm>
            <a:off x="9634947" y="1616839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2DD3E5A-8E5A-4A32-85BC-836EFB6F4322}"/>
              </a:ext>
            </a:extLst>
          </p:cNvPr>
          <p:cNvSpPr txBox="1"/>
          <p:nvPr/>
        </p:nvSpPr>
        <p:spPr>
          <a:xfrm>
            <a:off x="9657360" y="3265331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EE9780F-5EF1-4EDB-847F-6824E52A2683}"/>
              </a:ext>
            </a:extLst>
          </p:cNvPr>
          <p:cNvSpPr txBox="1"/>
          <p:nvPr/>
        </p:nvSpPr>
        <p:spPr>
          <a:xfrm>
            <a:off x="9660347" y="4900938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D43EAF9-173E-4838-A0E5-538F7BF2B754}"/>
              </a:ext>
            </a:extLst>
          </p:cNvPr>
          <p:cNvSpPr txBox="1"/>
          <p:nvPr/>
        </p:nvSpPr>
        <p:spPr>
          <a:xfrm>
            <a:off x="9712213" y="5589685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1952F93-9BE8-4BA7-98E7-7A3F3C89ADCB}"/>
              </a:ext>
            </a:extLst>
          </p:cNvPr>
          <p:cNvSpPr txBox="1"/>
          <p:nvPr/>
        </p:nvSpPr>
        <p:spPr>
          <a:xfrm>
            <a:off x="2370105" y="5514984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59A6D73-94DF-4A9D-811C-C3F2121A0D46}"/>
              </a:ext>
            </a:extLst>
          </p:cNvPr>
          <p:cNvSpPr txBox="1"/>
          <p:nvPr/>
        </p:nvSpPr>
        <p:spPr>
          <a:xfrm>
            <a:off x="2361238" y="3991608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C61E857-AFD1-44A7-80DF-3475228C7CA8}"/>
              </a:ext>
            </a:extLst>
          </p:cNvPr>
          <p:cNvSpPr txBox="1"/>
          <p:nvPr/>
        </p:nvSpPr>
        <p:spPr>
          <a:xfrm>
            <a:off x="9657360" y="4020228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3A88E16-AACF-484F-AE6B-4886567B4943}"/>
              </a:ext>
            </a:extLst>
          </p:cNvPr>
          <p:cNvSpPr txBox="1"/>
          <p:nvPr/>
        </p:nvSpPr>
        <p:spPr>
          <a:xfrm>
            <a:off x="9657360" y="2338333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DD7FFA9-5519-4F3B-A594-4F09678A3622}"/>
              </a:ext>
            </a:extLst>
          </p:cNvPr>
          <p:cNvSpPr txBox="1"/>
          <p:nvPr/>
        </p:nvSpPr>
        <p:spPr>
          <a:xfrm>
            <a:off x="9666227" y="899843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7ED8EE-A428-4E4C-8089-3A78C3044B5D}"/>
              </a:ext>
            </a:extLst>
          </p:cNvPr>
          <p:cNvSpPr txBox="1"/>
          <p:nvPr/>
        </p:nvSpPr>
        <p:spPr>
          <a:xfrm>
            <a:off x="2394759" y="865809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4B1ECBE-2A9B-4142-A66B-A138C8DF156A}"/>
              </a:ext>
            </a:extLst>
          </p:cNvPr>
          <p:cNvSpPr txBox="1"/>
          <p:nvPr/>
        </p:nvSpPr>
        <p:spPr>
          <a:xfrm>
            <a:off x="2381260" y="2365428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AC2E34D-C89C-4303-AEA1-08F1311112CB}"/>
              </a:ext>
            </a:extLst>
          </p:cNvPr>
          <p:cNvSpPr txBox="1"/>
          <p:nvPr/>
        </p:nvSpPr>
        <p:spPr>
          <a:xfrm>
            <a:off x="9263346" y="5469120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B13BEAD-D031-4CB5-8986-9316C6D0E7A6}"/>
              </a:ext>
            </a:extLst>
          </p:cNvPr>
          <p:cNvSpPr txBox="1"/>
          <p:nvPr/>
        </p:nvSpPr>
        <p:spPr>
          <a:xfrm>
            <a:off x="4519299" y="5513804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57AE0BC-DF1F-49FC-B141-0B2D802A2AA1}"/>
              </a:ext>
            </a:extLst>
          </p:cNvPr>
          <p:cNvSpPr txBox="1"/>
          <p:nvPr/>
        </p:nvSpPr>
        <p:spPr>
          <a:xfrm>
            <a:off x="9239666" y="3895704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DF147E4-589A-42EB-AD89-B951113B4144}"/>
              </a:ext>
            </a:extLst>
          </p:cNvPr>
          <p:cNvSpPr txBox="1"/>
          <p:nvPr/>
        </p:nvSpPr>
        <p:spPr>
          <a:xfrm>
            <a:off x="9229946" y="2250012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954B957-F5EE-49E7-B1E7-5978FECFB643}"/>
              </a:ext>
            </a:extLst>
          </p:cNvPr>
          <p:cNvSpPr txBox="1"/>
          <p:nvPr/>
        </p:nvSpPr>
        <p:spPr>
          <a:xfrm>
            <a:off x="9273166" y="905807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D9C1DC0-11BA-4218-B927-084F3F151D6D}"/>
              </a:ext>
            </a:extLst>
          </p:cNvPr>
          <p:cNvSpPr txBox="1"/>
          <p:nvPr/>
        </p:nvSpPr>
        <p:spPr>
          <a:xfrm>
            <a:off x="4563320" y="905687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84735AE-A16B-416B-8963-2CA308D429D4}"/>
              </a:ext>
            </a:extLst>
          </p:cNvPr>
          <p:cNvSpPr txBox="1"/>
          <p:nvPr/>
        </p:nvSpPr>
        <p:spPr>
          <a:xfrm>
            <a:off x="4519486" y="2381904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E08EED7-81BC-4E87-8C89-2DCF710D0C5D}"/>
              </a:ext>
            </a:extLst>
          </p:cNvPr>
          <p:cNvSpPr txBox="1"/>
          <p:nvPr/>
        </p:nvSpPr>
        <p:spPr>
          <a:xfrm>
            <a:off x="4520559" y="3876192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PlaceHolder 1"/>
          <p:cNvSpPr>
            <a:spLocks noGrp="1"/>
          </p:cNvSpPr>
          <p:nvPr>
            <p:ph/>
          </p:nvPr>
        </p:nvSpPr>
        <p:spPr>
          <a:xfrm>
            <a:off x="838080" y="321840"/>
            <a:ext cx="10515240" cy="5855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800" b="0" strike="noStrike" spc="-1">
                <a:solidFill>
                  <a:schemeClr val="dk1"/>
                </a:solidFill>
                <a:latin typeface="Calibri"/>
              </a:rPr>
              <a:t>Вывод: данная дисциплина дала базовые понятия педагогики и учебной психологии, которые помогут как мне, так и окружающим мне людям в будущем. Она дала как мотивацию самому углубиться в тему, так и темы для общения в компаниях насчет сфер учебы и психологии.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</Words>
  <Application>Microsoft Office PowerPoint</Application>
  <PresentationFormat>Широкоэкранный</PresentationFormat>
  <Paragraphs>86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Symbol</vt:lpstr>
      <vt:lpstr>Times New Roman</vt:lpstr>
      <vt:lpstr>Wingdings</vt:lpstr>
      <vt:lpstr>Тема Office</vt:lpstr>
      <vt:lpstr>Тема Office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Сергей Астахов</dc:creator>
  <cp:lastModifiedBy>Сергей Астахов</cp:lastModifiedBy>
  <cp:revision>2</cp:revision>
  <cp:lastPrinted>2025-06-03T11:13:38Z</cp:lastPrinted>
  <dcterms:created xsi:type="dcterms:W3CDTF">2025-06-02T14:41:48Z</dcterms:created>
  <dcterms:modified xsi:type="dcterms:W3CDTF">2025-06-03T11:14:26Z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2</vt:i4>
  </property>
  <property fmtid="{D5CDD505-2E9C-101B-9397-08002B2CF9AE}" pid="4" name="ICV">
    <vt:lpwstr>3c866246d04c418abac074284e0a5eed</vt:lpwstr>
  </property>
</Properties>
</file>