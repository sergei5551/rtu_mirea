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2"/>
  </p:notesMasterIdLst>
  <p:sldIdLst>
    <p:sldId id="328" r:id="rId2"/>
    <p:sldId id="305" r:id="rId3"/>
    <p:sldId id="308" r:id="rId4"/>
    <p:sldId id="309" r:id="rId5"/>
    <p:sldId id="307" r:id="rId6"/>
    <p:sldId id="311" r:id="rId7"/>
    <p:sldId id="310" r:id="rId8"/>
    <p:sldId id="313" r:id="rId9"/>
    <p:sldId id="314" r:id="rId10"/>
    <p:sldId id="315" r:id="rId11"/>
    <p:sldId id="316" r:id="rId12"/>
    <p:sldId id="312" r:id="rId13"/>
    <p:sldId id="318" r:id="rId14"/>
    <p:sldId id="319" r:id="rId15"/>
    <p:sldId id="320" r:id="rId16"/>
    <p:sldId id="321" r:id="rId17"/>
    <p:sldId id="317" r:id="rId18"/>
    <p:sldId id="323" r:id="rId19"/>
    <p:sldId id="322" r:id="rId20"/>
    <p:sldId id="324" r:id="rId21"/>
    <p:sldId id="325" r:id="rId22"/>
    <p:sldId id="326" r:id="rId23"/>
    <p:sldId id="330" r:id="rId24"/>
    <p:sldId id="332" r:id="rId25"/>
    <p:sldId id="333" r:id="rId26"/>
    <p:sldId id="334" r:id="rId27"/>
    <p:sldId id="335" r:id="rId28"/>
    <p:sldId id="336" r:id="rId29"/>
    <p:sldId id="337" r:id="rId30"/>
    <p:sldId id="338" r:id="rId31"/>
    <p:sldId id="759" r:id="rId32"/>
    <p:sldId id="340" r:id="rId33"/>
    <p:sldId id="341" r:id="rId34"/>
    <p:sldId id="342" r:id="rId35"/>
    <p:sldId id="344" r:id="rId36"/>
    <p:sldId id="343" r:id="rId37"/>
    <p:sldId id="345" r:id="rId38"/>
    <p:sldId id="346" r:id="rId39"/>
    <p:sldId id="347" r:id="rId40"/>
    <p:sldId id="742" r:id="rId41"/>
    <p:sldId id="743" r:id="rId42"/>
    <p:sldId id="758" r:id="rId43"/>
    <p:sldId id="746" r:id="rId44"/>
    <p:sldId id="745" r:id="rId45"/>
    <p:sldId id="747" r:id="rId46"/>
    <p:sldId id="749" r:id="rId47"/>
    <p:sldId id="750" r:id="rId48"/>
    <p:sldId id="751" r:id="rId49"/>
    <p:sldId id="752" r:id="rId50"/>
    <p:sldId id="753" r:id="rId51"/>
    <p:sldId id="748" r:id="rId52"/>
    <p:sldId id="757" r:id="rId53"/>
    <p:sldId id="756" r:id="rId54"/>
    <p:sldId id="755" r:id="rId55"/>
    <p:sldId id="761" r:id="rId56"/>
    <p:sldId id="760" r:id="rId57"/>
    <p:sldId id="762" r:id="rId58"/>
    <p:sldId id="763" r:id="rId59"/>
    <p:sldId id="764" r:id="rId60"/>
    <p:sldId id="766" r:id="rId61"/>
    <p:sldId id="765" r:id="rId62"/>
    <p:sldId id="767" r:id="rId63"/>
    <p:sldId id="768" r:id="rId64"/>
    <p:sldId id="769" r:id="rId65"/>
    <p:sldId id="771" r:id="rId66"/>
    <p:sldId id="772" r:id="rId67"/>
    <p:sldId id="773" r:id="rId68"/>
    <p:sldId id="774" r:id="rId69"/>
    <p:sldId id="770" r:id="rId70"/>
    <p:sldId id="775" r:id="rId71"/>
    <p:sldId id="776" r:id="rId72"/>
    <p:sldId id="777" r:id="rId73"/>
    <p:sldId id="779" r:id="rId74"/>
    <p:sldId id="778" r:id="rId75"/>
    <p:sldId id="780" r:id="rId76"/>
    <p:sldId id="781" r:id="rId77"/>
    <p:sldId id="782" r:id="rId78"/>
    <p:sldId id="784" r:id="rId79"/>
    <p:sldId id="785" r:id="rId80"/>
    <p:sldId id="783" r:id="rId81"/>
    <p:sldId id="786" r:id="rId82"/>
    <p:sldId id="788" r:id="rId83"/>
    <p:sldId id="789" r:id="rId84"/>
    <p:sldId id="791" r:id="rId85"/>
    <p:sldId id="792" r:id="rId86"/>
    <p:sldId id="793" r:id="rId87"/>
    <p:sldId id="794" r:id="rId88"/>
    <p:sldId id="795" r:id="rId89"/>
    <p:sldId id="790" r:id="rId90"/>
    <p:sldId id="327" r:id="rId91"/>
  </p:sldIdLst>
  <p:sldSz cx="12192000" cy="6858000"/>
  <p:notesSz cx="6858000" cy="9144000"/>
  <p:embeddedFontLst>
    <p:embeddedFont>
      <p:font typeface="맑은 고딕" panose="020B0503020000020004" pitchFamily="34" charset="-127"/>
      <p:regular r:id="rId93"/>
      <p:bold r:id="rId94"/>
    </p:embeddedFont>
    <p:embeddedFont>
      <p:font typeface="Cambria" panose="02040503050406030204" pitchFamily="18" charset="0"/>
      <p:regular r:id="rId95"/>
      <p:bold r:id="rId96"/>
      <p:italic r:id="rId97"/>
      <p:boldItalic r:id="rId98"/>
    </p:embeddedFont>
    <p:embeddedFont>
      <p:font typeface="Consolas" panose="020B0609020204030204" pitchFamily="49" charset="0"/>
      <p:regular r:id="rId99"/>
      <p:bold r:id="rId100"/>
      <p:italic r:id="rId101"/>
      <p:boldItalic r:id="rId102"/>
    </p:embeddedFont>
    <p:embeddedFont>
      <p:font typeface="IBM Plex Mono" panose="020B0509050203000203" pitchFamily="49" charset="-52"/>
      <p:regular r:id="rId103"/>
      <p:bold r:id="rId104"/>
      <p:italic r:id="rId105"/>
      <p:boldItalic r:id="rId106"/>
    </p:embeddedFont>
    <p:embeddedFont>
      <p:font typeface="JetBrains Mono" panose="020B0604020202020204" charset="0"/>
      <p:regular r:id="rId107"/>
      <p:bold r:id="rId108"/>
      <p:italic r:id="rId109"/>
      <p:boldItalic r:id="rId110"/>
    </p:embeddedFont>
    <p:embeddedFont>
      <p:font typeface="Press Start 2P" panose="020B0604020202020204" charset="0"/>
      <p:regular r:id="rId111"/>
      <p:bold r:id="rId112"/>
      <p:italic r:id="rId113"/>
      <p:boldItalic r:id="rId114"/>
    </p:embeddedFont>
    <p:embeddedFont>
      <p:font typeface="VT323" panose="020B0604020202020204" charset="0"/>
      <p:regular r:id="rId115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E38A"/>
    <a:srgbClr val="ED395F"/>
    <a:srgbClr val="F1F1F1"/>
    <a:srgbClr val="303938"/>
    <a:srgbClr val="F9824C"/>
    <a:srgbClr val="F1F2F3"/>
    <a:srgbClr val="303638"/>
    <a:srgbClr val="45C3FC"/>
    <a:srgbClr val="1F68F8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48" autoAdjust="0"/>
    <p:restoredTop sz="96283" autoAdjust="0"/>
  </p:normalViewPr>
  <p:slideViewPr>
    <p:cSldViewPr snapToGrid="0">
      <p:cViewPr varScale="1">
        <p:scale>
          <a:sx n="142" d="100"/>
          <a:sy n="142" d="100"/>
        </p:scale>
        <p:origin x="88" y="3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viewProps" Target="viewProp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font" Target="fonts/font20.fntdata"/><Relationship Id="rId16" Type="http://schemas.openxmlformats.org/officeDocument/2006/relationships/slide" Target="slides/slide15.xml"/><Relationship Id="rId107" Type="http://schemas.openxmlformats.org/officeDocument/2006/relationships/font" Target="fonts/font15.fntdata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font" Target="fonts/font10.fntdata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font" Target="fonts/font3.fntdata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font" Target="fonts/font21.fntdata"/><Relationship Id="rId118" Type="http://schemas.openxmlformats.org/officeDocument/2006/relationships/theme" Target="theme/theme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font" Target="fonts/font11.fntdata"/><Relationship Id="rId108" Type="http://schemas.openxmlformats.org/officeDocument/2006/relationships/font" Target="fonts/font16.fntdata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font" Target="fonts/font22.fntdata"/><Relationship Id="rId119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font" Target="fonts/font2.fntdata"/><Relationship Id="rId99" Type="http://schemas.openxmlformats.org/officeDocument/2006/relationships/font" Target="fonts/font7.fntdata"/><Relationship Id="rId10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font" Target="fonts/font17.fntdata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font" Target="fonts/font5.fntdata"/><Relationship Id="rId104" Type="http://schemas.openxmlformats.org/officeDocument/2006/relationships/font" Target="fonts/font12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font" Target="fonts/font18.fntdata"/><Relationship Id="rId115" Type="http://schemas.openxmlformats.org/officeDocument/2006/relationships/font" Target="fonts/font23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font" Target="fonts/font8.fntdata"/><Relationship Id="rId105" Type="http://schemas.openxmlformats.org/officeDocument/2006/relationships/font" Target="fonts/font13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font" Target="fonts/font1.fntdata"/><Relationship Id="rId98" Type="http://schemas.openxmlformats.org/officeDocument/2006/relationships/font" Target="fonts/font6.fnt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font" Target="fonts/font19.fntdata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font" Target="fonts/font1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A49F08-9100-4AF5-BC0A-FC6A093BE3CC}" type="datetimeFigureOut">
              <a:rPr lang="ko-KR" altLang="en-US" smtClean="0"/>
              <a:t>2024-12-07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8FC7D2-309F-4B1D-AF63-DB3D4B5448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7933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8FC7D2-309F-4B1D-AF63-DB3D4B54485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7327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1953D15-BC79-C72B-B33A-7A2290C182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3C697622-B3A2-44EB-9C38-BCDA5E8962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72780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electronics, computer&#10;&#10;Description automatically generated">
            <a:extLst>
              <a:ext uri="{FF2B5EF4-FFF2-40B4-BE49-F238E27FC236}">
                <a16:creationId xmlns:a16="http://schemas.microsoft.com/office/drawing/2014/main" id="{4722C839-68EF-5059-6B96-D84613B89C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8155" y="0"/>
            <a:ext cx="12748306" cy="6858000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0068481-7918-932A-2F65-3D1FA8EE9A9E}"/>
              </a:ext>
            </a:extLst>
          </p:cNvPr>
          <p:cNvSpPr/>
          <p:nvPr userDrawn="1"/>
        </p:nvSpPr>
        <p:spPr>
          <a:xfrm>
            <a:off x="1491916" y="0"/>
            <a:ext cx="9153626" cy="5909912"/>
          </a:xfrm>
          <a:prstGeom prst="roundRect">
            <a:avLst>
              <a:gd name="adj" fmla="val 1253"/>
            </a:avLst>
          </a:prstGeom>
          <a:solidFill>
            <a:srgbClr val="303638"/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chemeClr val="bg1"/>
              </a:solidFill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BA305F0-B8AC-2320-D0FF-D0A0A182B9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38415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PTMON custom">
    <p:bg>
      <p:bgPr>
        <a:solidFill>
          <a:srgbClr val="F1F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9D60C29-A5E4-227F-FE0A-BEA765A687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58062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PTMON custom">
    <p:bg>
      <p:bgPr>
        <a:solidFill>
          <a:srgbClr val="F1F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text, electronics, computer&#10;&#10;Description automatically generated">
            <a:extLst>
              <a:ext uri="{FF2B5EF4-FFF2-40B4-BE49-F238E27FC236}">
                <a16:creationId xmlns:a16="http://schemas.microsoft.com/office/drawing/2014/main" id="{04020E97-69B5-58E8-43AD-76C21EDDCB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8155" y="0"/>
            <a:ext cx="12748306" cy="6858000"/>
          </a:xfrm>
          <a:prstGeom prst="rect">
            <a:avLst/>
          </a:prstGeom>
          <a:noFill/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34A3B69-C05B-86F4-4BEC-ED4F1316C127}"/>
              </a:ext>
            </a:extLst>
          </p:cNvPr>
          <p:cNvSpPr/>
          <p:nvPr userDrawn="1"/>
        </p:nvSpPr>
        <p:spPr>
          <a:xfrm>
            <a:off x="1491916" y="0"/>
            <a:ext cx="9153626" cy="5909912"/>
          </a:xfrm>
          <a:prstGeom prst="roundRect">
            <a:avLst>
              <a:gd name="adj" fmla="val 1253"/>
            </a:avLst>
          </a:prstGeom>
          <a:solidFill>
            <a:srgbClr val="F1F1F1"/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chemeClr val="bg1"/>
              </a:solidFill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F1A0345-6AFA-291B-7192-3332B4DBC1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52187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PTM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그림 43">
            <a:extLst>
              <a:ext uri="{FF2B5EF4-FFF2-40B4-BE49-F238E27FC236}">
                <a16:creationId xmlns:a16="http://schemas.microsoft.com/office/drawing/2014/main" id="{1FDEA265-14D8-4995-9D8D-004C2B9791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074"/>
          <a:stretch/>
        </p:blipFill>
        <p:spPr>
          <a:xfrm>
            <a:off x="8813520" y="3957553"/>
            <a:ext cx="3378480" cy="2105771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B5E6FDB3-1010-4384-BAA0-5AC772DDA2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317" y="4543442"/>
            <a:ext cx="4449694" cy="210577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3592535-1E59-4225-8FAB-BA55DA8CBF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41" y="3957553"/>
            <a:ext cx="4449694" cy="210577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C2C1714-8D11-40C8-B56B-D858EA66390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6240" y="4543442"/>
            <a:ext cx="977924" cy="151988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4E68922-A464-40C2-8559-0556AFF3C5E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6334" y="4980408"/>
            <a:ext cx="825380" cy="108291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B082778-F784-45A1-A273-DBD5111A650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24" y="3509490"/>
            <a:ext cx="1073175" cy="2553834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4BC80F5-75C8-450A-B0F9-BC45DE059E6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8636" y="3158489"/>
            <a:ext cx="964782" cy="290483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86873A5-CEBD-4A3D-816C-D8F7459698AD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98" y="630440"/>
            <a:ext cx="2093236" cy="107168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BC3D2A6-8D14-4185-BCDF-D3486D874C2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63324"/>
            <a:ext cx="2438400" cy="794676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E6825-E60A-4DC3-AD7E-6868544A91B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6063324"/>
            <a:ext cx="2438400" cy="794676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83CADD07-6BE4-4440-9D75-23FA585A9F2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6063324"/>
            <a:ext cx="2438400" cy="794676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8D82072D-5CF0-417B-BB35-355B0609E64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063324"/>
            <a:ext cx="2438400" cy="794676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D6E14643-868B-40FB-8914-6508AB669EE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600" y="6063324"/>
            <a:ext cx="2438400" cy="794676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62F47FCE-FD71-49B8-946C-1674A0B0984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0182" y="1292126"/>
            <a:ext cx="2093236" cy="1071687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AACC28A-7220-B972-A9F3-B5769BB007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90282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6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76260D0-DAF1-E4E8-B508-5E9206A953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697622-B3A2-44EB-9C38-BCDA5E8962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3197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4" r:id="rId1"/>
    <p:sldLayoutId id="2147483649" r:id="rId2"/>
    <p:sldLayoutId id="2147483681" r:id="rId3"/>
    <p:sldLayoutId id="2147483682" r:id="rId4"/>
    <p:sldLayoutId id="2147483683" r:id="rId5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JetBrains Mono" panose="02000009000000000000" pitchFamily="49" charset="0"/>
          <a:ea typeface="JetBrains Mono" panose="02000009000000000000" pitchFamily="49" charset="0"/>
          <a:cs typeface="JetBrains Mono" panose="02000009000000000000" pitchFamily="49" charset="0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hyperlink" Target="mailto:xo3yin@yandex.r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gif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xo3yin@yandex.ru" TargetMode="External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A911BE7E-B35D-B6A9-153A-F6613271C4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32647" y="144898"/>
            <a:ext cx="278787" cy="427474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1041720C-A067-C895-4C62-C7755613C4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4910" y="500826"/>
            <a:ext cx="1656321" cy="192201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AB5019C-F879-0EBA-B6B6-B61CCB09D360}"/>
              </a:ext>
            </a:extLst>
          </p:cNvPr>
          <p:cNvSpPr txBox="1"/>
          <p:nvPr/>
        </p:nvSpPr>
        <p:spPr>
          <a:xfrm>
            <a:off x="3696923" y="766274"/>
            <a:ext cx="3297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U" sz="4000" dirty="0">
                <a:solidFill>
                  <a:srgbClr val="F1F1F1"/>
                </a:solidFill>
                <a:latin typeface="Press Start 2P" pitchFamily="2" charset="0"/>
              </a:rPr>
              <a:t>Python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A4AE85-615B-E334-FC18-00AF5B552C8F}"/>
              </a:ext>
            </a:extLst>
          </p:cNvPr>
          <p:cNvSpPr txBox="1"/>
          <p:nvPr/>
        </p:nvSpPr>
        <p:spPr>
          <a:xfrm>
            <a:off x="3696923" y="1792951"/>
            <a:ext cx="449353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rgbClr val="F1F1F1"/>
                </a:solidFill>
                <a:latin typeface="Press Start 2P" pitchFamily="2" charset="0"/>
              </a:rPr>
              <a:t>Декораторы</a:t>
            </a:r>
          </a:p>
          <a:p>
            <a:r>
              <a:rPr lang="en-US" sz="2400" dirty="0">
                <a:solidFill>
                  <a:srgbClr val="F1F1F1"/>
                </a:solidFill>
                <a:latin typeface="Press Start 2P" pitchFamily="2" charset="0"/>
              </a:rPr>
              <a:t> </a:t>
            </a:r>
            <a:r>
              <a:rPr lang="ru-RU" sz="2400" dirty="0">
                <a:solidFill>
                  <a:srgbClr val="F1F1F1"/>
                </a:solidFill>
                <a:latin typeface="Press Start 2P" pitchFamily="2" charset="0"/>
              </a:rPr>
              <a:t>Разработка</a:t>
            </a:r>
            <a:endParaRPr lang="en-US" sz="2400" dirty="0">
              <a:solidFill>
                <a:srgbClr val="F1F1F1"/>
              </a:solidFill>
              <a:latin typeface="Press Start 2P" pitchFamily="2" charset="0"/>
            </a:endParaRPr>
          </a:p>
          <a:p>
            <a:r>
              <a:rPr lang="en-US" sz="2400" dirty="0">
                <a:solidFill>
                  <a:srgbClr val="F1F1F1"/>
                </a:solidFill>
                <a:latin typeface="Press Start 2P" pitchFamily="2" charset="0"/>
              </a:rPr>
              <a:t>  </a:t>
            </a:r>
            <a:r>
              <a:rPr lang="ru-RU" sz="2400" dirty="0">
                <a:solidFill>
                  <a:srgbClr val="F1F1F1"/>
                </a:solidFill>
                <a:latin typeface="Press Start 2P" pitchFamily="2" charset="0"/>
              </a:rPr>
              <a:t>Тестирование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F85290-9DCD-4663-A722-FC6BC73E2117}"/>
              </a:ext>
            </a:extLst>
          </p:cNvPr>
          <p:cNvSpPr txBox="1"/>
          <p:nvPr/>
        </p:nvSpPr>
        <p:spPr>
          <a:xfrm>
            <a:off x="497342" y="4260569"/>
            <a:ext cx="65912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rgbClr val="F1F1F1"/>
                </a:solidFill>
                <a:latin typeface="Press Start 2P" pitchFamily="2" charset="0"/>
              </a:rPr>
              <a:t>Баранов Кирилл Евгеньевич</a:t>
            </a:r>
            <a:endParaRPr lang="en-RU" sz="2000" dirty="0">
              <a:solidFill>
                <a:srgbClr val="F1F1F1"/>
              </a:solidFill>
              <a:latin typeface="Press Start 2P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6C8626-8134-6160-7652-869807BA046D}"/>
              </a:ext>
            </a:extLst>
          </p:cNvPr>
          <p:cNvSpPr txBox="1"/>
          <p:nvPr/>
        </p:nvSpPr>
        <p:spPr>
          <a:xfrm>
            <a:off x="497342" y="4735171"/>
            <a:ext cx="44732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1F1F1"/>
                </a:solidFill>
                <a:latin typeface="Press Start 2P" pitchFamily="2" charset="0"/>
                <a:hlinkClick r:id="rId7"/>
              </a:rPr>
              <a:t>xo3yin@yandex.ru</a:t>
            </a:r>
            <a:endParaRPr lang="en-US" sz="2000" dirty="0">
              <a:solidFill>
                <a:srgbClr val="F1F1F1"/>
              </a:solidFill>
              <a:latin typeface="Press Start 2P" pitchFamily="2" charset="0"/>
            </a:endParaRPr>
          </a:p>
          <a:p>
            <a:r>
              <a:rPr lang="en-US" sz="2000" dirty="0">
                <a:solidFill>
                  <a:srgbClr val="F1F1F1"/>
                </a:solidFill>
                <a:latin typeface="Press Start 2P" pitchFamily="2" charset="0"/>
              </a:rPr>
              <a:t>Telegram: @xo3yin</a:t>
            </a:r>
            <a:endParaRPr lang="en-GB" sz="2000" dirty="0">
              <a:solidFill>
                <a:srgbClr val="F1F1F1"/>
              </a:solidFill>
              <a:latin typeface="Press Start 2P" pitchFamily="2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A270540-3BF0-0C50-70AD-5331C55ABCE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17298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5E437F-DC95-12D7-6A00-A0FBFE427099}"/>
              </a:ext>
            </a:extLst>
          </p:cNvPr>
          <p:cNvSpPr txBox="1"/>
          <p:nvPr/>
        </p:nvSpPr>
        <p:spPr>
          <a:xfrm>
            <a:off x="1899976" y="2767280"/>
            <a:ext cx="839204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>
                <a:latin typeface="Press Start 2P" pitchFamily="2" charset="0"/>
              </a:rPr>
              <a:t>Переопределение </a:t>
            </a:r>
          </a:p>
          <a:p>
            <a:pPr algn="ctr"/>
            <a:r>
              <a:rPr lang="ru-RU" sz="4000" dirty="0">
                <a:latin typeface="Press Start 2P" pitchFamily="2" charset="0"/>
              </a:rPr>
              <a:t>функций</a:t>
            </a:r>
            <a:endParaRPr lang="en-RU" sz="4000" dirty="0">
              <a:latin typeface="Press Start 2P" pitchFamily="2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5C02F85-7C23-0D3C-CA83-CB9D3ADB76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43050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832092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61425E8-830A-BCE6-867A-E252780BA4C6}"/>
              </a:ext>
            </a:extLst>
          </p:cNvPr>
          <p:cNvSpPr txBox="1"/>
          <p:nvPr/>
        </p:nvSpPr>
        <p:spPr>
          <a:xfrm>
            <a:off x="1497841" y="0"/>
            <a:ext cx="638148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main_answer_in_the_universe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42</a:t>
            </a: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input =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main_answer_in_the_universe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 = input()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(x)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1570D7-8685-CAA5-91B9-BD91641D1CA8}"/>
              </a:ext>
            </a:extLst>
          </p:cNvPr>
          <p:cNvSpPr txBox="1"/>
          <p:nvPr/>
        </p:nvSpPr>
        <p:spPr>
          <a:xfrm>
            <a:off x="1497841" y="4832092"/>
            <a:ext cx="6381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42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0AD1261-2478-50FE-A988-DBB08FFF9C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7524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5E437F-DC95-12D7-6A00-A0FBFE427099}"/>
              </a:ext>
            </a:extLst>
          </p:cNvPr>
          <p:cNvSpPr txBox="1"/>
          <p:nvPr/>
        </p:nvSpPr>
        <p:spPr>
          <a:xfrm>
            <a:off x="1643499" y="2459504"/>
            <a:ext cx="890500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>
                <a:latin typeface="Press Start 2P" pitchFamily="2" charset="0"/>
              </a:rPr>
              <a:t>Инструкция </a:t>
            </a:r>
            <a:r>
              <a:rPr lang="en-GB" sz="4000" dirty="0">
                <a:latin typeface="Press Start 2P" pitchFamily="2" charset="0"/>
              </a:rPr>
              <a:t>pass. </a:t>
            </a:r>
            <a:endParaRPr lang="ru-RU" sz="4000" dirty="0">
              <a:latin typeface="Press Start 2P" pitchFamily="2" charset="0"/>
            </a:endParaRPr>
          </a:p>
          <a:p>
            <a:pPr algn="ctr"/>
            <a:r>
              <a:rPr lang="ru-RU" sz="4000" dirty="0">
                <a:latin typeface="Press Start 2P" pitchFamily="2" charset="0"/>
              </a:rPr>
              <a:t>Согласованность </a:t>
            </a:r>
          </a:p>
          <a:p>
            <a:pPr algn="ctr"/>
            <a:r>
              <a:rPr lang="ru-RU" sz="4000" dirty="0">
                <a:latin typeface="Press Start 2P" pitchFamily="2" charset="0"/>
              </a:rPr>
              <a:t>аргументов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1BA6B97-71E8-B1EB-C167-9FD08BD783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1349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832092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224869D-D130-F026-4B66-E930B3DE44B0}"/>
              </a:ext>
            </a:extLst>
          </p:cNvPr>
          <p:cNvSpPr txBox="1"/>
          <p:nvPr/>
        </p:nvSpPr>
        <p:spPr>
          <a:xfrm>
            <a:off x="1497841" y="0"/>
            <a:ext cx="63814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nop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72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*rest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72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**</a:t>
            </a:r>
            <a:r>
              <a:rPr lang="en-GB" sz="1600" dirty="0" err="1">
                <a:solidFill>
                  <a:srgbClr val="72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kwargs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pass</a:t>
            </a:r>
            <a:b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 =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nop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"(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шепотом) Потише, пожалуйста!"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AA492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end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''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4055AA0-DD06-8BF0-EFAE-C7658911F7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8243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5E437F-DC95-12D7-6A00-A0FBFE427099}"/>
              </a:ext>
            </a:extLst>
          </p:cNvPr>
          <p:cNvSpPr txBox="1"/>
          <p:nvPr/>
        </p:nvSpPr>
        <p:spPr>
          <a:xfrm>
            <a:off x="2412940" y="2897386"/>
            <a:ext cx="73661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>
                <a:latin typeface="Press Start 2P" pitchFamily="2" charset="0"/>
              </a:rPr>
              <a:t>Инструкция </a:t>
            </a:r>
            <a:r>
              <a:rPr lang="en-GB" sz="4000" dirty="0">
                <a:latin typeface="Press Start 2P" pitchFamily="2" charset="0"/>
              </a:rPr>
              <a:t>def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8827406-1A6B-8E4D-FE7F-B447115FB2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2989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832092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EA4A5E4-4E0A-98D4-66EF-58C2273F6CA4}"/>
              </a:ext>
            </a:extLst>
          </p:cNvPr>
          <p:cNvSpPr txBox="1"/>
          <p:nvPr/>
        </p:nvSpPr>
        <p:spPr>
          <a:xfrm>
            <a:off x="1497841" y="0"/>
            <a:ext cx="638148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language =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 err="1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fr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b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language ==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 err="1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ru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hello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(name):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Привет, 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name)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else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hello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(name):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'Hi, '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name)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hello(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'Joe'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ED0C9F-E3D6-74B8-6474-C21712DC5166}"/>
              </a:ext>
            </a:extLst>
          </p:cNvPr>
          <p:cNvSpPr txBox="1"/>
          <p:nvPr/>
        </p:nvSpPr>
        <p:spPr>
          <a:xfrm>
            <a:off x="1497841" y="4832092"/>
            <a:ext cx="6381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Hi,  Joe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8C3C10F-400E-E1C5-02D2-92EA6880F2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5656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15712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Важно</a:t>
            </a:r>
            <a:endParaRPr lang="en-RU" sz="3600" b="1" dirty="0">
              <a:solidFill>
                <a:srgbClr val="303938"/>
              </a:solidFill>
              <a:latin typeface="IBM Plex Mono" panose="020B0509050203000203" pitchFamily="49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3CC7-5FD2-71A9-D14C-B3C1EC612428}"/>
              </a:ext>
            </a:extLst>
          </p:cNvPr>
          <p:cNvSpPr txBox="1"/>
          <p:nvPr/>
        </p:nvSpPr>
        <p:spPr>
          <a:xfrm>
            <a:off x="749300" y="1455484"/>
            <a:ext cx="10921999" cy="2333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Стоит понимать, что </a:t>
            </a:r>
            <a:r>
              <a:rPr lang="ru-RU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изменять существующие функции очень опасно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.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ru-RU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Почти всегда есть способ обойтись без этого, и этот способ стоит предпочесть. Переопределение функций делает программу плохо предсказуемой.</a:t>
            </a:r>
            <a:endParaRPr lang="en-GB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9F1D14A-9C03-783C-EFEC-A2C4BD0951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976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5E437F-DC95-12D7-6A00-A0FBFE427099}"/>
              </a:ext>
            </a:extLst>
          </p:cNvPr>
          <p:cNvSpPr txBox="1"/>
          <p:nvPr/>
        </p:nvSpPr>
        <p:spPr>
          <a:xfrm>
            <a:off x="361096" y="2897386"/>
            <a:ext cx="114698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>
                <a:latin typeface="Press Start 2P" pitchFamily="2" charset="0"/>
              </a:rPr>
              <a:t>Функция внутри функции</a:t>
            </a:r>
            <a:endParaRPr lang="en-GB" sz="4000" dirty="0">
              <a:latin typeface="Press Start 2P" pitchFamily="2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9632FB6-1F1E-80A6-E10D-870ABE882C6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5386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7D24CA-2C3D-7CBC-2C54-267DB50E956F}"/>
              </a:ext>
            </a:extLst>
          </p:cNvPr>
          <p:cNvSpPr txBox="1"/>
          <p:nvPr/>
        </p:nvSpPr>
        <p:spPr>
          <a:xfrm>
            <a:off x="1490730" y="0"/>
            <a:ext cx="9121462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400" dirty="0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answer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400" dirty="0">
                <a:solidFill>
                  <a:srgbClr val="72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question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):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lang="en-GB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В разработке'</a:t>
            </a:r>
            <a:br>
              <a:rPr lang="ru-RU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400" dirty="0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dialog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():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400" dirty="0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answer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(question):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lang="en-GB" sz="14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question.lower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().</a:t>
            </a:r>
            <a:r>
              <a:rPr lang="en-GB" sz="14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startswith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когда'</a:t>
            </a:r>
            <a:r>
              <a:rPr lang="ru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):</a:t>
            </a:r>
            <a:br>
              <a:rPr lang="ru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lang="en-GB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Никогда!'</a:t>
            </a:r>
            <a:br>
              <a:rPr lang="ru-RU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else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lang="en-GB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Разоблачили.'</a:t>
            </a:r>
            <a:br>
              <a:rPr lang="ru-RU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question = </a:t>
            </a:r>
            <a:r>
              <a:rPr lang="en-GB" sz="14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input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while 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question != </a:t>
            </a:r>
            <a:r>
              <a:rPr lang="en-GB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''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4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(answer(question))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question = </a:t>
            </a:r>
            <a:r>
              <a:rPr lang="en-GB" sz="14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input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dialog()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&lt;= </a:t>
            </a:r>
            <a:r>
              <a:rPr lang="ru-RU" sz="14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Когда станет тепло?</a:t>
            </a:r>
            <a:br>
              <a:rPr lang="ru-RU" sz="14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4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Никогда!</a:t>
            </a:r>
            <a:br>
              <a:rPr lang="ru-RU" sz="14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4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&lt;= Когда смогу найти богатство?</a:t>
            </a:r>
            <a:br>
              <a:rPr lang="ru-RU" sz="14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4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Никогда!</a:t>
            </a:r>
            <a:br>
              <a:rPr lang="ru-RU" sz="14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4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&lt;= Какие в Чили существуют города?</a:t>
            </a:r>
            <a:br>
              <a:rPr lang="ru-RU" sz="14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4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Разоблачили</a:t>
            </a:r>
            <a:endParaRPr lang="en-RU" sz="14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9173AAC-0F61-B4A1-C5BB-10F45E7509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6452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5E437F-DC95-12D7-6A00-A0FBFE427099}"/>
              </a:ext>
            </a:extLst>
          </p:cNvPr>
          <p:cNvSpPr txBox="1"/>
          <p:nvPr/>
        </p:nvSpPr>
        <p:spPr>
          <a:xfrm>
            <a:off x="3438862" y="2897386"/>
            <a:ext cx="53142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>
                <a:latin typeface="Press Start 2P" pitchFamily="2" charset="0"/>
              </a:rPr>
              <a:t>Декораторы</a:t>
            </a:r>
            <a:endParaRPr lang="en-GB" sz="4000" dirty="0">
              <a:latin typeface="Press Start 2P" pitchFamily="2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F2902A8-9014-1456-E56F-36215A8653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24942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832092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08FF0B6-C4AF-2564-085C-8E93F3754B88}"/>
              </a:ext>
            </a:extLst>
          </p:cNvPr>
          <p:cNvSpPr txBox="1"/>
          <p:nvPr/>
        </p:nvSpPr>
        <p:spPr>
          <a:xfrm>
            <a:off x="1497841" y="29683"/>
            <a:ext cx="919631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old_print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b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print_upper_case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(*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args_upcased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[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).upper()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old_print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(*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args_upcased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 =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print_upper_case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Нельзя ли потише?'</a:t>
            </a:r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00A5F7-39B9-4C4E-7F16-E809DA3B1E3F}"/>
              </a:ext>
            </a:extLst>
          </p:cNvPr>
          <p:cNvSpPr txBox="1"/>
          <p:nvPr/>
        </p:nvSpPr>
        <p:spPr>
          <a:xfrm>
            <a:off x="1497841" y="4872807"/>
            <a:ext cx="6381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НЕЛЬЗЯ ЛИ ПОТИШЕ?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E663E88-5E8A-5BE1-24A6-6122026309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14932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832092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000A5F7-39B9-4C4E-7F16-E809DA3B1E3F}"/>
              </a:ext>
            </a:extLst>
          </p:cNvPr>
          <p:cNvSpPr txBox="1"/>
          <p:nvPr/>
        </p:nvSpPr>
        <p:spPr>
          <a:xfrm>
            <a:off x="1497841" y="4872807"/>
            <a:ext cx="6381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НЕЛЬЗЯ ЛИ ПОТИШЕ?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0154F2-411E-142B-E08B-9174A86541BC}"/>
              </a:ext>
            </a:extLst>
          </p:cNvPr>
          <p:cNvSpPr txBox="1"/>
          <p:nvPr/>
        </p:nvSpPr>
        <p:spPr>
          <a:xfrm>
            <a:off x="1497841" y="1847"/>
            <a:ext cx="919631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use_uppercased_arguments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old_func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new_func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(*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**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kwargs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args_upcased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[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).upper()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old_func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(*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args_upcased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**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kwargs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new_func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 =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use_uppercased_arguments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Нельзя ли потише?'</a:t>
            </a:r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BA31200-F697-C06B-F3FD-D405054F3B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70660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29578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  <a:cs typeface="Trebuchet MS"/>
              </a:rPr>
              <a:t>Декораторы</a:t>
            </a:r>
            <a:endParaRPr lang="en-RU" sz="3600" b="1" dirty="0">
              <a:solidFill>
                <a:srgbClr val="303938"/>
              </a:solidFill>
              <a:latin typeface="IBM Plex Mono" panose="020B0509050203000203" pitchFamily="49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3CC7-5FD2-71A9-D14C-B3C1EC612428}"/>
              </a:ext>
            </a:extLst>
          </p:cNvPr>
          <p:cNvSpPr txBox="1"/>
          <p:nvPr/>
        </p:nvSpPr>
        <p:spPr>
          <a:xfrm>
            <a:off x="749300" y="2644170"/>
            <a:ext cx="109219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Декораторами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 такие функции как </a:t>
            </a:r>
            <a:r>
              <a:rPr lang="en-GB" sz="2400" b="1" dirty="0" err="1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use_uppercased_arguments</a:t>
            </a:r>
            <a:r>
              <a:rPr lang="en-GB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()</a:t>
            </a:r>
            <a:r>
              <a:rPr lang="en-GB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 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называются потому, что обычно они добавляют какие-то штрихи (декор) к уже существующему поведению, не изменяя её код.</a:t>
            </a:r>
            <a:endParaRPr lang="en-GB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706BCFC-E8CA-B84B-C2DC-C173440525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0982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60083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</a:rPr>
              <a:t>Примеры использования</a:t>
            </a:r>
            <a:endParaRPr lang="en-RU" sz="3600" b="1" dirty="0">
              <a:solidFill>
                <a:srgbClr val="303938"/>
              </a:solidFill>
              <a:latin typeface="IBM Plex Mono" panose="020B0509050203000203" pitchFamily="49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3CC7-5FD2-71A9-D14C-B3C1EC612428}"/>
              </a:ext>
            </a:extLst>
          </p:cNvPr>
          <p:cNvSpPr txBox="1"/>
          <p:nvPr/>
        </p:nvSpPr>
        <p:spPr>
          <a:xfrm>
            <a:off x="749300" y="1279009"/>
            <a:ext cx="10921999" cy="4575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marR="269875" lvl="0" indent="-342900" algn="just" latinLnBrk="0">
              <a:spcBef>
                <a:spcPts val="95"/>
              </a:spcBef>
              <a:buFont typeface="Wingdings" pitchFamily="2" charset="2"/>
              <a:buChar char="§"/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Когда каждый вызов функции нужно </a:t>
            </a:r>
            <a:r>
              <a:rPr lang="ru-RU" sz="2400" dirty="0" err="1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залоггировать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, т.е. вывести при вызове сообщение о том, как и когда функция была вызвана.</a:t>
            </a:r>
          </a:p>
          <a:p>
            <a:pPr marL="355600" marR="269875" lvl="0" indent="-342900" algn="just" latinLnBrk="0">
              <a:spcBef>
                <a:spcPts val="95"/>
              </a:spcBef>
              <a:buFont typeface="Wingdings" pitchFamily="2" charset="2"/>
              <a:buChar char="§"/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Когда результат функции должен быть </a:t>
            </a:r>
            <a:r>
              <a:rPr lang="ru-RU" sz="2400" dirty="0" err="1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закэширован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 (т.е. после вычисления сохранен на будущее, чтобы не считать его повторно).</a:t>
            </a:r>
          </a:p>
          <a:p>
            <a:pPr marL="355600" marR="269875" lvl="0" indent="-342900" algn="just" latinLnBrk="0">
              <a:spcBef>
                <a:spcPts val="95"/>
              </a:spcBef>
              <a:buFont typeface="Wingdings" pitchFamily="2" charset="2"/>
              <a:buChar char="§"/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Чтобы функция использовалась для ответа на запросы к веб-серверу.</a:t>
            </a:r>
          </a:p>
          <a:p>
            <a:pPr marL="355600" marR="269875" lvl="0" indent="-342900" algn="just" latinLnBrk="0">
              <a:spcBef>
                <a:spcPts val="95"/>
              </a:spcBef>
              <a:buFont typeface="Wingdings" pitchFamily="2" charset="2"/>
              <a:buChar char="§"/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Чтобы перед запуском проверялось какое-то условие (например, что пользователь имеет право доступа к выполнению функции).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ru-RU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C501B69-55DD-68EA-392C-2436028009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32996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1E7612-5162-A516-5031-FCF9593EF512}"/>
              </a:ext>
            </a:extLst>
          </p:cNvPr>
          <p:cNvSpPr txBox="1"/>
          <p:nvPr/>
        </p:nvSpPr>
        <p:spPr>
          <a:xfrm>
            <a:off x="1490730" y="0"/>
            <a:ext cx="9134340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400" dirty="0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logged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4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func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):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count = </a:t>
            </a:r>
            <a:r>
              <a:rPr lang="en-GB" sz="14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br>
              <a:rPr lang="en-GB" sz="14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4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4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decorated_func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(*</a:t>
            </a:r>
            <a:r>
              <a:rPr lang="en-GB" sz="14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**</a:t>
            </a:r>
            <a:r>
              <a:rPr lang="en-GB" sz="14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kwargs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):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nonlocal 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count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count += </a:t>
            </a:r>
            <a:r>
              <a:rPr lang="en-GB" sz="14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br>
              <a:rPr lang="en-GB" sz="14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4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(count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'&gt;&gt;'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'Arguments:'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4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b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</a:t>
            </a:r>
            <a:r>
              <a:rPr lang="en-GB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'Named arguments:'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4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kwargs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result = </a:t>
            </a:r>
            <a:r>
              <a:rPr lang="en-GB" sz="14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func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(*</a:t>
            </a:r>
            <a:r>
              <a:rPr lang="en-GB" sz="14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**</a:t>
            </a:r>
            <a:r>
              <a:rPr lang="en-GB" sz="14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kwargs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4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'--'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'Result:'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result)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result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lang="en-GB" sz="14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decorated_func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solidFill>
                  <a:srgbClr val="BBB52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@logged</a:t>
            </a:r>
            <a:br>
              <a:rPr lang="en-GB" sz="1400" dirty="0">
                <a:solidFill>
                  <a:srgbClr val="BBB52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4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make_burger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4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typeOfMeat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4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withOnion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False, </a:t>
            </a:r>
            <a:r>
              <a:rPr lang="en-GB" sz="14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withTomato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True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):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4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Булочка'</a:t>
            </a:r>
            <a:r>
              <a:rPr lang="ru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ru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lang="en-GB" sz="14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withOnion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4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Луковые колечки'</a:t>
            </a:r>
            <a:r>
              <a:rPr lang="ru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ru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lang="en-GB" sz="14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withTomato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4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Ломтик помидора'</a:t>
            </a:r>
            <a:r>
              <a:rPr lang="ru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ru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4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Котлета из'</a:t>
            </a:r>
            <a:r>
              <a:rPr lang="ru-RU" sz="14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4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typeOfMeat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4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4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Булочка'</a:t>
            </a:r>
            <a:r>
              <a:rPr lang="ru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ru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endParaRPr lang="en-RU" sz="14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3801ABF-0AA3-B642-98EE-113EB949E3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88100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2191923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1399F3A-8A78-6BE5-01A1-A6197E495264}"/>
              </a:ext>
            </a:extLst>
          </p:cNvPr>
          <p:cNvSpPr txBox="1"/>
          <p:nvPr/>
        </p:nvSpPr>
        <p:spPr>
          <a:xfrm>
            <a:off x="1497841" y="2191923"/>
            <a:ext cx="638148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 &gt;&gt; Arguments: ('Курица',) Named arguments: {}</a:t>
            </a:r>
          </a:p>
          <a:p>
            <a:r>
              <a:rPr lang="en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Булочка</a:t>
            </a:r>
          </a:p>
          <a:p>
            <a:r>
              <a:rPr lang="en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Ломтик помидора</a:t>
            </a:r>
          </a:p>
          <a:p>
            <a:r>
              <a:rPr lang="en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Котлета из Курица</a:t>
            </a:r>
          </a:p>
          <a:p>
            <a:r>
              <a:rPr lang="en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Булочка</a:t>
            </a:r>
          </a:p>
          <a:p>
            <a:r>
              <a:rPr lang="en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-- Result: None</a:t>
            </a:r>
          </a:p>
          <a:p>
            <a:r>
              <a:rPr lang="en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 &gt;&gt; Arguments: ('Рыба',) Named arguments: {}</a:t>
            </a:r>
          </a:p>
          <a:p>
            <a:r>
              <a:rPr lang="en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Булочка</a:t>
            </a:r>
          </a:p>
          <a:p>
            <a:r>
              <a:rPr lang="en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Ломтик помидора</a:t>
            </a:r>
          </a:p>
          <a:p>
            <a:r>
              <a:rPr lang="en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Котлета из Рыба</a:t>
            </a:r>
          </a:p>
          <a:p>
            <a:r>
              <a:rPr lang="en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Булочка</a:t>
            </a:r>
          </a:p>
          <a:p>
            <a:r>
              <a:rPr lang="en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-- Result: None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4AF29D-F2BB-0399-B3F7-7BE64BDCA673}"/>
              </a:ext>
            </a:extLst>
          </p:cNvPr>
          <p:cNvSpPr txBox="1"/>
          <p:nvPr/>
        </p:nvSpPr>
        <p:spPr>
          <a:xfrm>
            <a:off x="1497841" y="0"/>
            <a:ext cx="6381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make_burger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Курица'</a:t>
            </a:r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make_burger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Рыба'</a:t>
            </a:r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1411583-C413-C47A-FA1D-F4DBBFE104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13418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CDA94F-7B68-274F-C551-432FC826B23F}"/>
              </a:ext>
            </a:extLst>
          </p:cNvPr>
          <p:cNvSpPr txBox="1"/>
          <p:nvPr/>
        </p:nvSpPr>
        <p:spPr>
          <a:xfrm>
            <a:off x="1516488" y="0"/>
            <a:ext cx="638148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200" dirty="0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logged</a:t>
            </a: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2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func</a:t>
            </a: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):</a:t>
            </a:r>
            <a:b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count = </a:t>
            </a:r>
            <a:r>
              <a:rPr lang="en-GB" sz="12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br>
              <a:rPr lang="en-GB" sz="12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2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2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2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2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decorated_func</a:t>
            </a: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(*</a:t>
            </a:r>
            <a:r>
              <a:rPr lang="en-GB" sz="12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lang="en-GB" sz="12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**</a:t>
            </a:r>
            <a:r>
              <a:rPr lang="en-GB" sz="12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kwargs</a:t>
            </a: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):</a:t>
            </a:r>
            <a:b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2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nonlocal </a:t>
            </a: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count</a:t>
            </a:r>
            <a:b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count += </a:t>
            </a:r>
            <a:r>
              <a:rPr lang="en-GB" sz="12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br>
              <a:rPr lang="en-GB" sz="12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2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2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current_index</a:t>
            </a: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count</a:t>
            </a:r>
            <a:b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2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2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current_index</a:t>
            </a:r>
            <a:r>
              <a:rPr lang="en-GB" sz="12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2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'&gt;&gt;'</a:t>
            </a:r>
            <a:r>
              <a:rPr lang="en-GB" sz="12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2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'Arguments:'</a:t>
            </a:r>
            <a:r>
              <a:rPr lang="en-GB" sz="12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2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result = </a:t>
            </a:r>
            <a:r>
              <a:rPr lang="en-GB" sz="12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func</a:t>
            </a: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(*</a:t>
            </a:r>
            <a:r>
              <a:rPr lang="en-GB" sz="12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lang="en-GB" sz="12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**</a:t>
            </a:r>
            <a:r>
              <a:rPr lang="en-GB" sz="12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kwargs</a:t>
            </a: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2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2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current_index</a:t>
            </a:r>
            <a:r>
              <a:rPr lang="en-GB" sz="12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2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'--'</a:t>
            </a:r>
            <a:r>
              <a:rPr lang="en-GB" sz="12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2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'Result:'</a:t>
            </a:r>
            <a:r>
              <a:rPr lang="en-GB" sz="12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result)</a:t>
            </a:r>
            <a:b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2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result</a:t>
            </a:r>
            <a:b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2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lang="en-GB" sz="12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decorated_func</a:t>
            </a:r>
            <a:b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200" dirty="0">
                <a:solidFill>
                  <a:srgbClr val="BBB52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@logged</a:t>
            </a:r>
            <a:br>
              <a:rPr lang="en-GB" sz="1200" dirty="0">
                <a:solidFill>
                  <a:srgbClr val="BBB52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2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200" dirty="0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fib</a:t>
            </a: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(n):</a:t>
            </a:r>
            <a:b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2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 &lt;= </a:t>
            </a:r>
            <a:r>
              <a:rPr lang="en-GB" sz="12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2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lang="en-GB" sz="12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br>
              <a:rPr lang="en-GB" sz="12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2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2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else</a:t>
            </a: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2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fib(n - </a:t>
            </a:r>
            <a:r>
              <a:rPr lang="en-GB" sz="12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+ fib(n - </a:t>
            </a:r>
            <a:r>
              <a:rPr lang="en-GB" sz="12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fib(</a:t>
            </a:r>
            <a:r>
              <a:rPr lang="en-GB" sz="12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</a:t>
            </a:r>
            <a:r>
              <a:rPr lang="en-GB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endParaRPr lang="en-RU" sz="12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3948AAA-FD8D-CEED-B1AB-DCE69CEB0E07}"/>
              </a:ext>
            </a:extLst>
          </p:cNvPr>
          <p:cNvCxnSpPr/>
          <p:nvPr/>
        </p:nvCxnSpPr>
        <p:spPr>
          <a:xfrm>
            <a:off x="6774287" y="0"/>
            <a:ext cx="0" cy="591140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079DD01-BC50-020D-8CE6-91B0171F05E9}"/>
              </a:ext>
            </a:extLst>
          </p:cNvPr>
          <p:cNvSpPr txBox="1"/>
          <p:nvPr/>
        </p:nvSpPr>
        <p:spPr>
          <a:xfrm>
            <a:off x="6774287" y="0"/>
            <a:ext cx="303834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 &gt;&gt; Arguments: (5,)</a:t>
            </a:r>
          </a:p>
          <a:p>
            <a:r>
              <a:rPr lang="en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 &gt;&gt; Arguments: (4,)</a:t>
            </a:r>
          </a:p>
          <a:p>
            <a:r>
              <a:rPr lang="en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 &gt;&gt; Arguments: (3,)</a:t>
            </a:r>
          </a:p>
          <a:p>
            <a:r>
              <a:rPr lang="en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 &gt;&gt; Arguments: (2,)</a:t>
            </a:r>
          </a:p>
          <a:p>
            <a:r>
              <a:rPr lang="en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4 -- Result: 1</a:t>
            </a:r>
          </a:p>
          <a:p>
            <a:r>
              <a:rPr lang="en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 &gt;&gt; Arguments: (1,)</a:t>
            </a:r>
          </a:p>
          <a:p>
            <a:r>
              <a:rPr lang="en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5 -- Result: 1</a:t>
            </a:r>
          </a:p>
          <a:p>
            <a:r>
              <a:rPr lang="en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3 -- Result: 2</a:t>
            </a:r>
          </a:p>
          <a:p>
            <a:r>
              <a:rPr lang="en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6 &gt;&gt; Arguments: (2,)</a:t>
            </a:r>
          </a:p>
          <a:p>
            <a:r>
              <a:rPr lang="en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6 -- Result: 1</a:t>
            </a:r>
          </a:p>
          <a:p>
            <a:r>
              <a:rPr lang="en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2 -- Result: 3</a:t>
            </a:r>
          </a:p>
          <a:p>
            <a:r>
              <a:rPr lang="en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7 &gt;&gt; Arguments: (3,)</a:t>
            </a:r>
          </a:p>
          <a:p>
            <a:r>
              <a:rPr lang="en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8 &gt;&gt; Arguments: (2,)</a:t>
            </a:r>
          </a:p>
          <a:p>
            <a:r>
              <a:rPr lang="en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8 -- Result: 1</a:t>
            </a:r>
          </a:p>
          <a:p>
            <a:r>
              <a:rPr lang="en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9 &gt;&gt; Arguments: (1,)</a:t>
            </a:r>
          </a:p>
          <a:p>
            <a:r>
              <a:rPr lang="en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9 -- Result: 1</a:t>
            </a:r>
          </a:p>
          <a:p>
            <a:r>
              <a:rPr lang="en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7 -- Result: 2</a:t>
            </a:r>
          </a:p>
          <a:p>
            <a:r>
              <a:rPr lang="en-RU" sz="1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1 -- Result: 5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351B050-28B3-7384-7F38-ECD933F01C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09832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C95065-77FC-18AC-97C1-1386EE434DCC}"/>
              </a:ext>
            </a:extLst>
          </p:cNvPr>
          <p:cNvCxnSpPr>
            <a:cxnSpLocks/>
          </p:cNvCxnSpPr>
          <p:nvPr/>
        </p:nvCxnSpPr>
        <p:spPr>
          <a:xfrm>
            <a:off x="1497841" y="4832092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7AD3D66-EA73-9F69-4021-978B42934EC1}"/>
              </a:ext>
            </a:extLst>
          </p:cNvPr>
          <p:cNvSpPr txBox="1"/>
          <p:nvPr/>
        </p:nvSpPr>
        <p:spPr>
          <a:xfrm>
            <a:off x="1497841" y="0"/>
            <a:ext cx="638148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Захват значения из аргумента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power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(degree):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func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(x):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 ** degree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func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square = power(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cube = power(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(square(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C86D8D-5C15-495F-E6BF-917879FDACE9}"/>
              </a:ext>
            </a:extLst>
          </p:cNvPr>
          <p:cNvSpPr txBox="1"/>
          <p:nvPr/>
        </p:nvSpPr>
        <p:spPr>
          <a:xfrm>
            <a:off x="1497841" y="4832092"/>
            <a:ext cx="6381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25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436A183-7790-3F6C-4B4D-EC84C724E7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72149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0883F17-15C2-EFD1-6176-39B795B766CB}"/>
              </a:ext>
            </a:extLst>
          </p:cNvPr>
          <p:cNvSpPr txBox="1"/>
          <p:nvPr/>
        </p:nvSpPr>
        <p:spPr>
          <a:xfrm>
            <a:off x="1490730" y="0"/>
            <a:ext cx="913434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Захват значения из аргумента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invitation_sender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(city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date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text):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sender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(email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name):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send_invitation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(email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name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text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date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city)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sender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sendmail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invitation_sender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Москва'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'1 апреля 20</a:t>
            </a:r>
            <a:r>
              <a:rPr lang="en-US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22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г'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b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            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'Приглашаем вас на встречу'</a:t>
            </a:r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sendmail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 err="1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vasiliy-petrov@yandex.ru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Василий Петров'</a:t>
            </a:r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sendmail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 err="1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petr-alekseev@yandex.ru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Петр Алексеев'</a:t>
            </a:r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sendmail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 err="1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vasiliy-vasilyev@yandex.ru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Василий Васильев'</a:t>
            </a:r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C081E67-B784-9C41-2F9D-6736127351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84632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62856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</a:rPr>
              <a:t>Немного о терминологии</a:t>
            </a:r>
            <a:endParaRPr lang="en-RU" sz="3600" b="1" dirty="0">
              <a:solidFill>
                <a:srgbClr val="303938"/>
              </a:solidFill>
              <a:latin typeface="IBM Plex Mono" panose="020B0509050203000203" pitchFamily="49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3CC7-5FD2-71A9-D14C-B3C1EC612428}"/>
              </a:ext>
            </a:extLst>
          </p:cNvPr>
          <p:cNvSpPr txBox="1"/>
          <p:nvPr/>
        </p:nvSpPr>
        <p:spPr>
          <a:xfrm>
            <a:off x="749300" y="1279009"/>
            <a:ext cx="1092199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Функция, которая использует внешние переменные, не являющиеся её аргументами, называется </a:t>
            </a:r>
            <a:r>
              <a:rPr lang="ru-RU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замыканием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. Если использует нелокальные переменные — она является замыканием (независимо от того, были ли они определены во внешней функции или пришли из аргументов внешней функции). Если функция использует глобальные переменные — это тоже замыкание. Но чаще всего замыканием называют все-таки функцию, которая использует нелокальные переменные. Такая функция как бы «таскает за собой» свои внешние переменные, но никому их не показывает.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DD7244A-873C-0EF1-759B-4C9E5D375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0521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10EDC-F620-EE4E-E435-977196A5F4AF}"/>
              </a:ext>
            </a:extLst>
          </p:cNvPr>
          <p:cNvSpPr txBox="1"/>
          <p:nvPr/>
        </p:nvSpPr>
        <p:spPr>
          <a:xfrm>
            <a:off x="749300" y="419100"/>
            <a:ext cx="62856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</a:rPr>
              <a:t>Немного о терминологии</a:t>
            </a:r>
            <a:endParaRPr lang="en-RU" sz="3600" b="1" dirty="0">
              <a:solidFill>
                <a:srgbClr val="303938"/>
              </a:solidFill>
              <a:latin typeface="IBM Plex Mono" panose="020B0509050203000203" pitchFamily="49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3CC7-5FD2-71A9-D14C-B3C1EC612428}"/>
              </a:ext>
            </a:extLst>
          </p:cNvPr>
          <p:cNvSpPr txBox="1"/>
          <p:nvPr/>
        </p:nvSpPr>
        <p:spPr>
          <a:xfrm>
            <a:off x="749300" y="1279009"/>
            <a:ext cx="10921999" cy="307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Функция, которая принимает функцию в качестве аргумента или же возвращает функцию, называется </a:t>
            </a:r>
            <a:r>
              <a:rPr lang="ru-RU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функцией высшего порядка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.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ru-RU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Функция, которая принимает функцию и возвращает функцию называется </a:t>
            </a:r>
            <a:r>
              <a:rPr lang="ru-RU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декоратором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. Но при этом предполагается, что возвращенная функция должна быть обёрткой над переданной функцией.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37F24FA-517A-048C-705D-B57CA8CAA3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99038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69EE54-ED63-5E9C-BBE3-69F8F8BDC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Rectangle 1035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ADBA3C1C-D1D6-EB8A-1F20-0DBEA917F3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F750BB1-93E0-2BAE-1B3D-243F4FF480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>
              <a:spcAft>
                <a:spcPts val="600"/>
              </a:spcAft>
            </a:pPr>
            <a:fld id="{3C697622-B3A2-44EB-9C38-BCDA5E89629C}" type="slidenum">
              <a:rPr lang="en-US">
                <a:solidFill>
                  <a:srgbClr val="FFFFFF"/>
                </a:solidFill>
              </a:rPr>
              <a:pPr latinLnBrk="0">
                <a:spcAft>
                  <a:spcPts val="600"/>
                </a:spcAft>
              </a:pPr>
              <a:t>23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04911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E9627-B679-D8FD-766D-2A18ABC5B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49A82C7-6372-7076-AD85-4066760505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24</a:t>
            </a:fld>
            <a:endParaRPr lang="ru-RU"/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9C96B177-C9B2-10B4-78C9-F2A2C15048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58043"/>
            <a:ext cx="12192000" cy="5141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63146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5F7EC-B0FF-9AB4-4709-5DE83FF69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EC310E9-48FB-7D9D-F5AC-699EED5042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25</a:t>
            </a:fld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4B5EF8-A05D-C0B7-6691-A0F550E0708E}"/>
              </a:ext>
            </a:extLst>
          </p:cNvPr>
          <p:cNvSpPr txBox="1"/>
          <p:nvPr/>
        </p:nvSpPr>
        <p:spPr>
          <a:xfrm>
            <a:off x="749300" y="419100"/>
            <a:ext cx="62856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</a:rPr>
              <a:t>Немного о терминологии</a:t>
            </a:r>
            <a:endParaRPr lang="en-RU" sz="3600" b="1" dirty="0">
              <a:solidFill>
                <a:srgbClr val="303938"/>
              </a:solidFill>
              <a:latin typeface="IBM Plex Mono" panose="020B0509050203000203" pitchFamily="49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F8DF1-F9B9-D300-2476-FF1A7587904F}"/>
              </a:ext>
            </a:extLst>
          </p:cNvPr>
          <p:cNvSpPr txBox="1"/>
          <p:nvPr/>
        </p:nvSpPr>
        <p:spPr>
          <a:xfrm>
            <a:off x="749300" y="1279009"/>
            <a:ext cx="10921999" cy="42062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CI / CD 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— Непрерывная интеграция / Непрерывная доставка — основа современной культуры </a:t>
            </a:r>
            <a:r>
              <a:rPr lang="ru-RU" sz="2400" dirty="0" err="1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DevOps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.</a:t>
            </a:r>
            <a:endParaRPr lang="en-US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 </a:t>
            </a:r>
            <a:endParaRPr lang="en-US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CI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 гарантирует, что новый код передается в централизованное хранилище кода, чтобы пройти автоматические модульные тесты и ускорить сборку нового программного обеспечения. </a:t>
            </a:r>
            <a:endParaRPr lang="en-US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en-US" sz="2400" b="1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CD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 гарантирует, что новая версия приложения будет автоматически отправлена в промежуточную и производственную среды</a:t>
            </a:r>
            <a:r>
              <a:rPr lang="en-US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.</a:t>
            </a:r>
            <a:endParaRPr lang="ru-RU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40744342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10506-6364-FFF7-4507-A37B2A05D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1AE148A-2EE1-9D0D-C462-58BBE1A490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26</a:t>
            </a:fld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F74843-9169-ECDC-19AA-C8AD6C769467}"/>
              </a:ext>
            </a:extLst>
          </p:cNvPr>
          <p:cNvSpPr txBox="1"/>
          <p:nvPr/>
        </p:nvSpPr>
        <p:spPr>
          <a:xfrm>
            <a:off x="749300" y="419100"/>
            <a:ext cx="62856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</a:rPr>
              <a:t>Немного о терминологии</a:t>
            </a:r>
            <a:endParaRPr lang="en-RU" sz="3600" b="1" dirty="0">
              <a:solidFill>
                <a:srgbClr val="303938"/>
              </a:solidFill>
              <a:latin typeface="IBM Plex Mono" panose="020B0509050203000203" pitchFamily="49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3D426E-C91C-4EC6-4086-15E42699CF1E}"/>
              </a:ext>
            </a:extLst>
          </p:cNvPr>
          <p:cNvSpPr txBox="1"/>
          <p:nvPr/>
        </p:nvSpPr>
        <p:spPr>
          <a:xfrm>
            <a:off x="749300" y="1279009"/>
            <a:ext cx="10921999" cy="4219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b="1" dirty="0" err="1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Пайплайн</a:t>
            </a:r>
            <a:r>
              <a:rPr lang="ru-RU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 (</a:t>
            </a:r>
            <a:r>
              <a:rPr lang="en-US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Pipeline)</a:t>
            </a:r>
            <a:r>
              <a:rPr lang="ru-RU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 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-</a:t>
            </a:r>
            <a:r>
              <a:rPr lang="ru-RU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 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набор шагов, который выполняется автоматически, начиная от проверки кода до развертывания приложения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ru-RU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b="1" dirty="0" err="1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Оркестрация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 - процесс управления разными сервисами и контейнерами, чтобы они работали вместе (например, Ф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US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Ansible 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или </a:t>
            </a:r>
            <a:r>
              <a:rPr lang="ru-RU" sz="2400" dirty="0" err="1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Kubernetes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)</a:t>
            </a:r>
            <a:endParaRPr lang="ru-RU" sz="2400" b="1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ru-RU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Контейнеризация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 - технология, которая позволяет упаковать приложение вместе со всеми зависимостями в контейнер (например, </a:t>
            </a:r>
            <a:r>
              <a:rPr lang="ru-RU" sz="2400" dirty="0" err="1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Docker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755989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7" name="Rectangle 307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0450B56E-AC34-7BF1-9B71-724EABBA40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44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F2902A8-9014-1456-E56F-36215A8653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>
              <a:spcAft>
                <a:spcPts val="600"/>
              </a:spcAft>
            </a:pPr>
            <a:fld id="{3C697622-B3A2-44EB-9C38-BCDA5E89629C}" type="slidenum">
              <a:rPr lang="en-US">
                <a:solidFill>
                  <a:srgbClr val="FFFFFF"/>
                </a:solidFill>
              </a:rPr>
              <a:pPr latinLnBrk="0">
                <a:spcAft>
                  <a:spcPts val="600"/>
                </a:spcAft>
              </a:pPr>
              <a:t>27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47033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FF9E5A-48B1-F72A-3BB9-B5D76A30C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9" name="Rectangle 819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8194" name="Picture 2" descr="Picture background">
            <a:extLst>
              <a:ext uri="{FF2B5EF4-FFF2-40B4-BE49-F238E27FC236}">
                <a16:creationId xmlns:a16="http://schemas.microsoft.com/office/drawing/2014/main" id="{730E8AC5-F1A2-7E5B-1C31-959DC1F06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43740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3" name="Rectangle 922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218" name="Picture 2" descr="Picture background">
            <a:extLst>
              <a:ext uri="{FF2B5EF4-FFF2-40B4-BE49-F238E27FC236}">
                <a16:creationId xmlns:a16="http://schemas.microsoft.com/office/drawing/2014/main" id="{1BA55C1F-65EB-1CF5-2603-FBC0D5029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F2902A8-9014-1456-E56F-36215A8653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>
              <a:spcAft>
                <a:spcPts val="600"/>
              </a:spcAft>
            </a:pPr>
            <a:fld id="{3C697622-B3A2-44EB-9C38-BCDA5E89629C}" type="slidenum">
              <a:rPr lang="en-US">
                <a:solidFill>
                  <a:srgbClr val="FFFFFF"/>
                </a:solidFill>
              </a:rPr>
              <a:pPr latinLnBrk="0">
                <a:spcAft>
                  <a:spcPts val="600"/>
                </a:spcAft>
              </a:pPr>
              <a:t>29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96060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9B42E-96EB-85F6-7AC8-D36A58269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9BC032-04C1-0B9C-1910-AE011D1CF71E}"/>
              </a:ext>
            </a:extLst>
          </p:cNvPr>
          <p:cNvSpPr txBox="1"/>
          <p:nvPr/>
        </p:nvSpPr>
        <p:spPr>
          <a:xfrm>
            <a:off x="749300" y="419100"/>
            <a:ext cx="57310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</a:rPr>
              <a:t>Требования к знаниям</a:t>
            </a:r>
            <a:endParaRPr lang="en-RU" sz="3600" b="1" dirty="0">
              <a:solidFill>
                <a:srgbClr val="303938"/>
              </a:solidFill>
              <a:latin typeface="IBM Plex Mono" panose="020B0509050203000203" pitchFamily="49" charset="77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08CC0C8-1F48-EA44-324F-A585A31E87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30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3E7DE8-FA11-8E7B-EF11-EB1F4E7D4CC6}"/>
              </a:ext>
            </a:extLst>
          </p:cNvPr>
          <p:cNvSpPr txBox="1"/>
          <p:nvPr/>
        </p:nvSpPr>
        <p:spPr>
          <a:xfrm>
            <a:off x="749300" y="1279009"/>
            <a:ext cx="10921999" cy="5009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marR="269875" lvl="0" indent="-342900" algn="just" latinLnBrk="0">
              <a:spcBef>
                <a:spcPts val="95"/>
              </a:spcBef>
              <a:buFont typeface="Arial" panose="020B0604020202020204" pitchFamily="34" charset="0"/>
              <a:buChar char="•"/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Переменными, типами и структурами данных (</a:t>
            </a:r>
            <a:r>
              <a:rPr lang="ru-RU" sz="2400" b="1" dirty="0" err="1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list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, </a:t>
            </a:r>
            <a:r>
              <a:rPr lang="ru-RU" sz="2400" b="1" dirty="0" err="1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dict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, </a:t>
            </a:r>
            <a:r>
              <a:rPr lang="ru-RU" sz="2400" b="1" dirty="0" err="1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set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)</a:t>
            </a:r>
          </a:p>
          <a:p>
            <a:pPr marL="355600" marR="269875" lvl="0" indent="-342900" algn="just" latinLnBrk="0">
              <a:spcBef>
                <a:spcPts val="95"/>
              </a:spcBef>
              <a:buFont typeface="Arial" panose="020B0604020202020204" pitchFamily="34" charset="0"/>
              <a:buChar char="•"/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Стандартными конструкциями, к которым относится </a:t>
            </a:r>
            <a:r>
              <a:rPr lang="ru-RU" sz="2400" b="1" dirty="0" err="1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if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 и циклы</a:t>
            </a:r>
          </a:p>
          <a:p>
            <a:pPr marL="355600" marR="269875" lvl="0" indent="-342900" algn="just" latinLnBrk="0">
              <a:spcBef>
                <a:spcPts val="95"/>
              </a:spcBef>
              <a:buFont typeface="Arial" panose="020B0604020202020204" pitchFamily="34" charset="0"/>
              <a:buChar char="•"/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Функции, декораторы функций и области видимости</a:t>
            </a:r>
          </a:p>
          <a:p>
            <a:pPr marL="355600" marR="269875" lvl="0" indent="-342900" algn="just" latinLnBrk="0">
              <a:spcBef>
                <a:spcPts val="95"/>
              </a:spcBef>
              <a:buFont typeface="Arial" panose="020B0604020202020204" pitchFamily="34" charset="0"/>
              <a:buChar char="•"/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Ввод/вывод данных</a:t>
            </a:r>
          </a:p>
          <a:p>
            <a:pPr marL="355600" marR="269875" lvl="0" indent="-342900" algn="just" latinLnBrk="0">
              <a:spcBef>
                <a:spcPts val="95"/>
              </a:spcBef>
              <a:buFont typeface="Arial" panose="020B0604020202020204" pitchFamily="34" charset="0"/>
              <a:buChar char="•"/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Работа с файлами</a:t>
            </a:r>
          </a:p>
          <a:p>
            <a:pPr marL="355600" marR="269875" lvl="0" indent="-342900" algn="just" latinLnBrk="0">
              <a:spcBef>
                <a:spcPts val="95"/>
              </a:spcBef>
              <a:buFont typeface="Arial" panose="020B0604020202020204" pitchFamily="34" charset="0"/>
              <a:buChar char="•"/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Пакеты, модули, импорты</a:t>
            </a:r>
          </a:p>
          <a:p>
            <a:pPr marL="355600" marR="269875" lvl="0" indent="-342900" algn="just" latinLnBrk="0">
              <a:spcBef>
                <a:spcPts val="95"/>
              </a:spcBef>
              <a:buFont typeface="Arial" panose="020B0604020202020204" pitchFamily="34" charset="0"/>
              <a:buChar char="•"/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Исключения</a:t>
            </a:r>
          </a:p>
          <a:p>
            <a:pPr marL="355600" marR="269875" lvl="0" indent="-342900" algn="just" latinLnBrk="0">
              <a:spcBef>
                <a:spcPts val="95"/>
              </a:spcBef>
              <a:buFont typeface="Arial" panose="020B0604020202020204" pitchFamily="34" charset="0"/>
              <a:buChar char="•"/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ООП и классы на базовом уровне</a:t>
            </a:r>
          </a:p>
          <a:p>
            <a:pPr marL="355600" marR="269875" lvl="0" indent="-342900" algn="just" latinLnBrk="0">
              <a:spcBef>
                <a:spcPts val="95"/>
              </a:spcBef>
              <a:buFont typeface="Arial" panose="020B0604020202020204" pitchFamily="34" charset="0"/>
              <a:buChar char="•"/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пакетный менеджер </a:t>
            </a:r>
            <a:r>
              <a:rPr lang="ru-RU" sz="2400" b="1" dirty="0" err="1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pip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 и модулю для работы с виртуальным окружением </a:t>
            </a:r>
            <a:r>
              <a:rPr lang="ru-RU" sz="2400" b="1" dirty="0" err="1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venv</a:t>
            </a:r>
            <a:endParaRPr lang="ru-RU" sz="2400" b="1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  <a:p>
            <a:pPr marL="355600" marR="269875" lvl="0" indent="-342900" algn="just" latinLnBrk="0">
              <a:spcBef>
                <a:spcPts val="95"/>
              </a:spcBef>
              <a:buFont typeface="Arial" panose="020B0604020202020204" pitchFamily="34" charset="0"/>
              <a:buChar char="•"/>
              <a:defRPr/>
            </a:pPr>
            <a:endParaRPr lang="ru-RU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424999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8086E-2520-CFD1-7741-371F847F8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04F688-1B41-4381-5F06-A4777F7FC5F6}"/>
              </a:ext>
            </a:extLst>
          </p:cNvPr>
          <p:cNvSpPr txBox="1"/>
          <p:nvPr/>
        </p:nvSpPr>
        <p:spPr>
          <a:xfrm>
            <a:off x="749300" y="419100"/>
            <a:ext cx="4344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</a:rPr>
              <a:t>Полезные модули</a:t>
            </a:r>
            <a:endParaRPr lang="en-RU" sz="3600" b="1" dirty="0">
              <a:solidFill>
                <a:srgbClr val="303938"/>
              </a:solidFill>
              <a:latin typeface="IBM Plex Mono" panose="020B0509050203000203" pitchFamily="49" charset="77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4B276D6-8D4F-CC2B-01B6-AB1CC97037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31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9DA827-3DB5-9EB7-FC1D-A6D2B7BBFEE8}"/>
              </a:ext>
            </a:extLst>
          </p:cNvPr>
          <p:cNvSpPr txBox="1"/>
          <p:nvPr/>
        </p:nvSpPr>
        <p:spPr>
          <a:xfrm>
            <a:off x="749300" y="1279009"/>
            <a:ext cx="10921999" cy="349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marR="269875" lvl="0" indent="-342900" algn="just" latinLnBrk="0">
              <a:spcBef>
                <a:spcPts val="95"/>
              </a:spcBef>
              <a:buFont typeface="Arial" panose="020B0604020202020204" pitchFamily="34" charset="0"/>
              <a:buChar char="•"/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Для работы с командной строкой: </a:t>
            </a:r>
            <a:r>
              <a:rPr lang="ru-RU" sz="2400" b="1" dirty="0" err="1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sys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 и </a:t>
            </a:r>
            <a:r>
              <a:rPr lang="ru-RU" sz="2400" b="1" dirty="0" err="1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subprocess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 </a:t>
            </a:r>
          </a:p>
          <a:p>
            <a:pPr marL="355600" marR="269875" lvl="0" indent="-342900" algn="just" latinLnBrk="0">
              <a:spcBef>
                <a:spcPts val="95"/>
              </a:spcBef>
              <a:buFont typeface="Arial" panose="020B0604020202020204" pitchFamily="34" charset="0"/>
              <a:buChar char="•"/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Модули, которые позволяют работать с операционной системой: </a:t>
            </a:r>
            <a:r>
              <a:rPr lang="ru-RU" sz="2400" b="1" dirty="0" err="1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os</a:t>
            </a:r>
            <a:endParaRPr lang="ru-RU" sz="2400" b="1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  <a:p>
            <a:pPr marL="355600" marR="269875" lvl="0" indent="-342900" algn="just" latinLnBrk="0">
              <a:spcBef>
                <a:spcPts val="95"/>
              </a:spcBef>
              <a:buFont typeface="Arial" panose="020B0604020202020204" pitchFamily="34" charset="0"/>
              <a:buChar char="•"/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Часто приходится работать с датой и временем поэтому </a:t>
            </a:r>
            <a:r>
              <a:rPr lang="ru-RU" sz="2400" b="1" dirty="0" err="1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datetime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 и </a:t>
            </a:r>
            <a:r>
              <a:rPr lang="ru-RU" sz="2400" b="1" dirty="0" err="1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time</a:t>
            </a:r>
            <a:endParaRPr lang="ru-RU" sz="2400" b="1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  <a:p>
            <a:pPr marL="355600" marR="269875" lvl="0" indent="-342900" algn="just" latinLnBrk="0">
              <a:spcBef>
                <a:spcPts val="95"/>
              </a:spcBef>
              <a:buFont typeface="Arial" panose="020B0604020202020204" pitchFamily="34" charset="0"/>
              <a:buChar char="•"/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Регулярные выражения мощный подручный инструмент – </a:t>
            </a:r>
            <a:r>
              <a:rPr lang="ru-RU" sz="2400" b="1" dirty="0" err="1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re</a:t>
            </a:r>
            <a:endParaRPr lang="ru-RU" sz="2400" b="1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  <a:p>
            <a:pPr marL="355600" marR="269875" lvl="0" indent="-342900" algn="just" latinLnBrk="0">
              <a:spcBef>
                <a:spcPts val="95"/>
              </a:spcBef>
              <a:buFont typeface="Arial" panose="020B0604020202020204" pitchFamily="34" charset="0"/>
              <a:buChar char="•"/>
              <a:defRPr/>
            </a:pPr>
            <a:r>
              <a:rPr lang="ru-RU" sz="2400" b="1" dirty="0" err="1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Selenium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, </a:t>
            </a:r>
            <a:r>
              <a:rPr lang="ru-RU" sz="2400" b="1" dirty="0" err="1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requests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, </a:t>
            </a:r>
            <a:r>
              <a:rPr lang="ru-RU" sz="2400" b="1" dirty="0" err="1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lxml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 для тестирования</a:t>
            </a:r>
          </a:p>
          <a:p>
            <a:pPr marL="355600" marR="269875" lvl="0" indent="-342900" algn="just" latinLnBrk="0">
              <a:spcBef>
                <a:spcPts val="95"/>
              </a:spcBef>
              <a:buFont typeface="Arial" panose="020B0604020202020204" pitchFamily="34" charset="0"/>
              <a:buChar char="•"/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Библиотека для написания юнит-тестов </a:t>
            </a:r>
            <a:r>
              <a:rPr lang="ru-RU" sz="2400" b="1" dirty="0" err="1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pytest</a:t>
            </a:r>
            <a:endParaRPr lang="ru-RU" sz="2400" b="1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  <a:p>
            <a:pPr marL="355600" marR="269875" lvl="0" indent="-342900" algn="just" latinLnBrk="0">
              <a:spcBef>
                <a:spcPts val="95"/>
              </a:spcBef>
              <a:buFont typeface="Arial" panose="020B0604020202020204" pitchFamily="34" charset="0"/>
              <a:buChar char="•"/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Ну и </a:t>
            </a:r>
            <a:r>
              <a:rPr lang="ru-RU" sz="2400" b="1" dirty="0" err="1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logging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 или </a:t>
            </a:r>
            <a:r>
              <a:rPr lang="ru-RU" sz="2400" b="1" dirty="0" err="1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Loguru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 для ведения логов.</a:t>
            </a:r>
          </a:p>
        </p:txBody>
      </p:sp>
    </p:spTree>
    <p:extLst>
      <p:ext uri="{BB962C8B-B14F-4D97-AF65-F5344CB8AC3E}">
        <p14:creationId xmlns:p14="http://schemas.microsoft.com/office/powerpoint/2010/main" val="1839335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6B7AA-47A3-4965-F93A-509998C66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EF9E593-290E-FF6C-34BF-1861B8042C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32</a:t>
            </a:fld>
            <a:endParaRPr lang="ru-RU"/>
          </a:p>
        </p:txBody>
      </p:sp>
      <p:pic>
        <p:nvPicPr>
          <p:cNvPr id="10242" name="Picture 2" descr="Python for DevOps: Learn Ruthlessly Effective Automation">
            <a:extLst>
              <a:ext uri="{FF2B5EF4-FFF2-40B4-BE49-F238E27FC236}">
                <a16:creationId xmlns:a16="http://schemas.microsoft.com/office/drawing/2014/main" id="{29726A51-4940-DBBA-17F3-B1B5F8AF1E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710" y="1044795"/>
            <a:ext cx="3629025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Picture background">
            <a:extLst>
              <a:ext uri="{FF2B5EF4-FFF2-40B4-BE49-F238E27FC236}">
                <a16:creationId xmlns:a16="http://schemas.microsoft.com/office/drawing/2014/main" id="{92FB3862-C4A0-0C59-863A-3C9653554E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4005" y="1044795"/>
            <a:ext cx="3346717" cy="4768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 descr="Picture background">
            <a:extLst>
              <a:ext uri="{FF2B5EF4-FFF2-40B4-BE49-F238E27FC236}">
                <a16:creationId xmlns:a16="http://schemas.microsoft.com/office/drawing/2014/main" id="{E5DCC8FA-7029-A04D-D6A2-143E712F6D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1993" y="1044795"/>
            <a:ext cx="3140824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72272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F7DACF-5DAF-D4E5-49E6-DEAB5E2D3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71" name="Rectangle 11270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EC58AD-A59A-4C61-6CC7-2AA8CD0785D3}"/>
              </a:ext>
            </a:extLst>
          </p:cNvPr>
          <p:cNvSpPr txBox="1"/>
          <p:nvPr/>
        </p:nvSpPr>
        <p:spPr>
          <a:xfrm>
            <a:off x="838200" y="184805"/>
            <a:ext cx="10515600" cy="15058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atinLnBrk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Требования к знаниям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531A330E-4D8E-722F-6941-07ED5F4906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03170" y="1845426"/>
            <a:ext cx="7982606" cy="4450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B6E37DA-522A-1053-62A7-5F4D305467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>
              <a:spcAft>
                <a:spcPts val="600"/>
              </a:spcAft>
            </a:pPr>
            <a:fld id="{3C697622-B3A2-44EB-9C38-BCDA5E89629C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 latinLnBrk="0">
                <a:spcAft>
                  <a:spcPts val="600"/>
                </a:spcAft>
              </a:pPr>
              <a:t>33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24295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E4539-C039-8DB0-DBA6-7D6D99595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C53509-B1C9-1FF6-A124-0C68FDC4C2AF}"/>
              </a:ext>
            </a:extLst>
          </p:cNvPr>
          <p:cNvSpPr txBox="1"/>
          <p:nvPr/>
        </p:nvSpPr>
        <p:spPr>
          <a:xfrm>
            <a:off x="531831" y="2897386"/>
            <a:ext cx="1112836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>
                <a:latin typeface="Press Start 2P" pitchFamily="2" charset="0"/>
              </a:rPr>
              <a:t>₳฿₿￠₡¢₢₵₫€￡£₤₣ƒ₲₭Ł₥₦</a:t>
            </a:r>
            <a:r>
              <a:rPr lang="en-GB" sz="4000" b="1" dirty="0">
                <a:latin typeface="Press Start 2P" pitchFamily="2" charset="0"/>
              </a:rPr>
              <a:t>₽</a:t>
            </a:r>
            <a:r>
              <a:rPr lang="en-GB" sz="4000" dirty="0">
                <a:latin typeface="Press Start 2P" pitchFamily="2" charset="0"/>
              </a:rPr>
              <a:t>₱</a:t>
            </a:r>
            <a:r>
              <a:rPr lang="en-GB" sz="4000" b="1" dirty="0">
                <a:latin typeface="Press Start 2P" pitchFamily="2" charset="0"/>
              </a:rPr>
              <a:t>＄</a:t>
            </a:r>
            <a:r>
              <a:rPr lang="en-GB" sz="4000" dirty="0">
                <a:latin typeface="Press Start 2P" pitchFamily="2" charset="0"/>
              </a:rPr>
              <a:t>$₮ℳ₶₩￦¥￥</a:t>
            </a:r>
            <a:endParaRPr lang="ru-RU" sz="4000" dirty="0">
              <a:latin typeface="Press Start 2P" pitchFamily="2" charset="0"/>
            </a:endParaRPr>
          </a:p>
          <a:p>
            <a:pPr algn="ctr"/>
            <a:r>
              <a:rPr lang="en-GB" sz="4000" dirty="0">
                <a:latin typeface="Press Start 2P" pitchFamily="2" charset="0"/>
              </a:rPr>
              <a:t>₴₸¤₰</a:t>
            </a:r>
            <a:r>
              <a:rPr lang="km-KH" sz="4000" dirty="0">
                <a:latin typeface="Press Start 2P" pitchFamily="2" charset="0"/>
              </a:rPr>
              <a:t>៛₪₯₠₧</a:t>
            </a:r>
            <a:r>
              <a:rPr lang="ar-AE" sz="4000" dirty="0">
                <a:latin typeface="Press Start 2P" pitchFamily="2" charset="0"/>
              </a:rPr>
              <a:t>﷼</a:t>
            </a:r>
            <a:r>
              <a:rPr lang="ja-JP" altLang="en-US" sz="4000" dirty="0">
                <a:latin typeface="Press Start 2P" pitchFamily="2" charset="0"/>
              </a:rPr>
              <a:t>円元圓㍐</a:t>
            </a:r>
            <a:r>
              <a:rPr lang="ko-KR" altLang="en-US" sz="4000" dirty="0">
                <a:latin typeface="Press Start 2P" pitchFamily="2" charset="0"/>
              </a:rPr>
              <a:t>원</a:t>
            </a:r>
            <a:r>
              <a:rPr lang="as-IN" sz="4000" dirty="0">
                <a:latin typeface="Press Start 2P" pitchFamily="2" charset="0"/>
              </a:rPr>
              <a:t>৳</a:t>
            </a:r>
            <a:r>
              <a:rPr lang="en-GB" sz="4000" dirty="0">
                <a:latin typeface="Press Start 2P" pitchFamily="2" charset="0"/>
              </a:rPr>
              <a:t>₹₨</a:t>
            </a:r>
            <a:r>
              <a:rPr lang="as-IN" sz="4000" dirty="0">
                <a:latin typeface="Press Start 2P" pitchFamily="2" charset="0"/>
              </a:rPr>
              <a:t>৲</a:t>
            </a:r>
            <a:r>
              <a:rPr lang="ta-IN" sz="4000" dirty="0">
                <a:latin typeface="Press Start 2P" pitchFamily="2" charset="0"/>
              </a:rPr>
              <a:t>௹</a:t>
            </a:r>
            <a:endParaRPr lang="en-GB" sz="4000" dirty="0">
              <a:latin typeface="Press Start 2P" pitchFamily="2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741EEB3-86D8-45F7-4F98-DC3ABA926B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02276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DE4539-C039-8DB0-DBA6-7D6D99595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5" name="Rectangle 12294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97" name="Rectangle 12296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636431CF-D3A5-E7A8-C71C-F74B4D907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702733"/>
            <a:ext cx="10905066" cy="5452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741EEB3-86D8-45F7-4F98-DC3ABA926B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>
              <a:spcAft>
                <a:spcPts val="600"/>
              </a:spcAft>
            </a:pPr>
            <a:fld id="{3C697622-B3A2-44EB-9C38-BCDA5E89629C}" type="slidenum">
              <a:rPr lang="en-US">
                <a:solidFill>
                  <a:srgbClr val="FFFFFF"/>
                </a:solidFill>
              </a:rPr>
              <a:pPr latinLnBrk="0">
                <a:spcAft>
                  <a:spcPts val="600"/>
                </a:spcAft>
              </a:pPr>
              <a:t>35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68457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DE4539-C039-8DB0-DBA6-7D6D99595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2" name="Rectangle 1230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569E2E7-B770-1159-9F97-04CC5EBE5E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37" r="2935" b="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741EEB3-86D8-45F7-4F98-DC3ABA926B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>
              <a:spcAft>
                <a:spcPts val="600"/>
              </a:spcAft>
            </a:pPr>
            <a:fld id="{3C697622-B3A2-44EB-9C38-BCDA5E89629C}" type="slidenum">
              <a:rPr lang="en-US">
                <a:solidFill>
                  <a:srgbClr val="FFFFFF"/>
                </a:solidFill>
              </a:rPr>
              <a:pPr latinLnBrk="0">
                <a:spcAft>
                  <a:spcPts val="600"/>
                </a:spcAft>
              </a:pPr>
              <a:t>36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00749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DF1E7-91EB-C6B2-0026-5E1EF1336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390A78D-A0D9-EF49-B47B-38C908B81DD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>
              <a:spcAft>
                <a:spcPts val="600"/>
              </a:spcAft>
            </a:pPr>
            <a:fld id="{3C697622-B3A2-44EB-9C38-BCDA5E89629C}" type="slidenum">
              <a:rPr lang="en-US">
                <a:solidFill>
                  <a:srgbClr val="FFFFFF"/>
                </a:solidFill>
              </a:rPr>
              <a:pPr latinLnBrk="0">
                <a:spcAft>
                  <a:spcPts val="600"/>
                </a:spcAft>
              </a:pPr>
              <a:t>37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758772-C751-31EA-A86D-4D9B09F50251}"/>
              </a:ext>
            </a:extLst>
          </p:cNvPr>
          <p:cNvSpPr txBox="1"/>
          <p:nvPr/>
        </p:nvSpPr>
        <p:spPr>
          <a:xfrm>
            <a:off x="3695358" y="2897386"/>
            <a:ext cx="48013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>
                <a:latin typeface="Press Start 2P" pitchFamily="2" charset="0"/>
              </a:rPr>
              <a:t>Модуль </a:t>
            </a:r>
            <a:r>
              <a:rPr lang="en-US" sz="4000" dirty="0" err="1">
                <a:latin typeface="Press Start 2P" pitchFamily="2" charset="0"/>
              </a:rPr>
              <a:t>os</a:t>
            </a:r>
            <a:endParaRPr lang="en-GB" sz="4000" dirty="0">
              <a:latin typeface="Press Start 2P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22435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85B3D-90B8-41EB-4C63-6D4D06EF2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35268CC-3C2A-6D6A-7248-1B7FA095A30A}"/>
              </a:ext>
            </a:extLst>
          </p:cNvPr>
          <p:cNvSpPr txBox="1"/>
          <p:nvPr/>
        </p:nvSpPr>
        <p:spPr>
          <a:xfrm>
            <a:off x="1490730" y="0"/>
            <a:ext cx="9134340" cy="2434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os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Возвращает имя системы, где запускается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endParaRPr lang="ru-RU" sz="1600" b="0" dirty="0">
              <a:solidFill>
                <a:srgbClr val="DCDCA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Возвращает словарь со всеми переменными окружения</a:t>
            </a:r>
            <a:endParaRPr lang="en-US" sz="1600" b="0" dirty="0">
              <a:solidFill>
                <a:srgbClr val="DCDCA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environ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endParaRPr lang="ru-RU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endParaRPr lang="ru-RU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Возвращает содержимое одной переменной окружения</a:t>
            </a:r>
            <a:endParaRPr lang="en-US" sz="1600" b="0" dirty="0">
              <a:solidFill>
                <a:srgbClr val="DCDCA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getenv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"PATH"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 </a:t>
            </a: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/</a:t>
            </a:r>
            <a:r>
              <a:rPr lang="en-US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usr</a:t>
            </a: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/local/bin:/</a:t>
            </a:r>
            <a:r>
              <a:rPr lang="en-US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usr</a:t>
            </a: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/bin:/bin:/</a:t>
            </a:r>
            <a:r>
              <a:rPr lang="en-US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usr</a:t>
            </a: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/local/games:/</a:t>
            </a:r>
            <a:r>
              <a:rPr lang="en-US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usr</a:t>
            </a: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/games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EA1B6EC-085A-505D-78A2-F79E738BAA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38</a:t>
            </a:fld>
            <a:endParaRPr lang="ru-RU"/>
          </a:p>
        </p:txBody>
      </p:sp>
      <p:cxnSp>
        <p:nvCxnSpPr>
          <p:cNvPr id="3" name="Straight Connector 4">
            <a:extLst>
              <a:ext uri="{FF2B5EF4-FFF2-40B4-BE49-F238E27FC236}">
                <a16:creationId xmlns:a16="http://schemas.microsoft.com/office/drawing/2014/main" id="{D1ABA6AA-769B-CAF1-BDEA-0F3CF294550E}"/>
              </a:ext>
            </a:extLst>
          </p:cNvPr>
          <p:cNvCxnSpPr>
            <a:cxnSpLocks/>
          </p:cNvCxnSpPr>
          <p:nvPr/>
        </p:nvCxnSpPr>
        <p:spPr>
          <a:xfrm>
            <a:off x="1497841" y="4064037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ACE8087-1ACC-9750-B557-D735FAD30F23}"/>
              </a:ext>
            </a:extLst>
          </p:cNvPr>
          <p:cNvSpPr txBox="1"/>
          <p:nvPr/>
        </p:nvSpPr>
        <p:spPr>
          <a:xfrm>
            <a:off x="1497840" y="4064037"/>
            <a:ext cx="912722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posix</a:t>
            </a:r>
            <a:endParaRPr lang="en-US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r>
              <a:rPr lang="en-US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environ({'SHELL': '/bin/bash', 'COLORTERM': '</a:t>
            </a:r>
            <a:r>
              <a:rPr lang="en-US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truecolor</a:t>
            </a:r>
            <a:r>
              <a:rPr lang="en-US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', 'TERM_PROGRAM_VERSION': '1.94.2', 'CONDA_EXE': '/home/</a:t>
            </a:r>
            <a:r>
              <a:rPr lang="en-US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kirill</a:t>
            </a:r>
            <a:r>
              <a:rPr lang="en-US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/anaconda3/bin/</a:t>
            </a:r>
            <a:r>
              <a:rPr lang="en-US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conda</a:t>
            </a:r>
            <a:r>
              <a:rPr lang="en-US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’, ...</a:t>
            </a:r>
          </a:p>
          <a:p>
            <a:r>
              <a:rPr lang="de-DE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</a:t>
            </a:r>
            <a:r>
              <a:rPr lang="de-DE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usr</a:t>
            </a:r>
            <a:r>
              <a:rPr lang="de-DE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</a:t>
            </a:r>
            <a:r>
              <a:rPr lang="de-DE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local</a:t>
            </a:r>
            <a:r>
              <a:rPr lang="de-DE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/bin:/</a:t>
            </a:r>
            <a:r>
              <a:rPr lang="de-DE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usr</a:t>
            </a:r>
            <a:r>
              <a:rPr lang="de-DE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/bin:/bin:/</a:t>
            </a:r>
            <a:r>
              <a:rPr lang="de-DE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usr</a:t>
            </a:r>
            <a:r>
              <a:rPr lang="de-DE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</a:t>
            </a:r>
            <a:r>
              <a:rPr lang="de-DE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local</a:t>
            </a:r>
            <a:r>
              <a:rPr lang="de-DE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</a:t>
            </a:r>
            <a:r>
              <a:rPr lang="de-DE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games</a:t>
            </a:r>
            <a:r>
              <a:rPr lang="de-DE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:/</a:t>
            </a:r>
            <a:r>
              <a:rPr lang="de-DE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usr</a:t>
            </a:r>
            <a:r>
              <a:rPr lang="de-DE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</a:t>
            </a:r>
            <a:r>
              <a:rPr lang="de-DE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games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41503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134AC-BF28-22A3-9887-9BF1C3790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C3BAF38-5F50-F339-003D-B9C4F4ECE3A2}"/>
              </a:ext>
            </a:extLst>
          </p:cNvPr>
          <p:cNvSpPr txBox="1"/>
          <p:nvPr/>
        </p:nvSpPr>
        <p:spPr>
          <a:xfrm>
            <a:off x="1490730" y="0"/>
            <a:ext cx="9134340" cy="3511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os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path1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"folder1"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path2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"folder2"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path3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"file.txt"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dirname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"/home/</a:t>
            </a:r>
            <a:r>
              <a:rPr lang="en-US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kirill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/lect6"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full_path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path1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path2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path3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full_path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split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full_path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exists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full_path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"Path1 is directory:"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isdir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full_path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"Path1 is file:"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isfile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full_path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"Path2 is directory:"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isdir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full_path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"Path2 is file:"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isfile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full_path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32D616B-936D-8099-12AA-A5BD5A38A7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39</a:t>
            </a:fld>
            <a:endParaRPr lang="ru-RU"/>
          </a:p>
        </p:txBody>
      </p:sp>
      <p:cxnSp>
        <p:nvCxnSpPr>
          <p:cNvPr id="3" name="Straight Connector 4">
            <a:extLst>
              <a:ext uri="{FF2B5EF4-FFF2-40B4-BE49-F238E27FC236}">
                <a16:creationId xmlns:a16="http://schemas.microsoft.com/office/drawing/2014/main" id="{E591B81B-D4DE-9003-AC36-9D1F98D675EB}"/>
              </a:ext>
            </a:extLst>
          </p:cNvPr>
          <p:cNvCxnSpPr>
            <a:cxnSpLocks/>
          </p:cNvCxnSpPr>
          <p:nvPr/>
        </p:nvCxnSpPr>
        <p:spPr>
          <a:xfrm>
            <a:off x="1490731" y="3823406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DDEF194-9EB9-74E1-F8C4-E1AB1AD16172}"/>
              </a:ext>
            </a:extLst>
          </p:cNvPr>
          <p:cNvSpPr txBox="1"/>
          <p:nvPr/>
        </p:nvSpPr>
        <p:spPr>
          <a:xfrm>
            <a:off x="1490730" y="3823406"/>
            <a:ext cx="865681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/home/</a:t>
            </a:r>
            <a:r>
              <a:rPr lang="en-US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kirill</a:t>
            </a:r>
            <a:endParaRPr lang="en-US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r>
              <a:rPr lang="en-US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folder1/folder2/file.txt</a:t>
            </a:r>
          </a:p>
          <a:p>
            <a:r>
              <a:rPr lang="en-US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('folder1/folder2', 'file.txt')</a:t>
            </a:r>
          </a:p>
          <a:p>
            <a:r>
              <a:rPr lang="en-US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False</a:t>
            </a:r>
          </a:p>
          <a:p>
            <a:r>
              <a:rPr lang="en-US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Path1 is directory: False</a:t>
            </a:r>
          </a:p>
          <a:p>
            <a:r>
              <a:rPr lang="en-US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Path1 is file: False</a:t>
            </a:r>
          </a:p>
          <a:p>
            <a:r>
              <a:rPr lang="en-US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Path2 is directory: False</a:t>
            </a:r>
          </a:p>
          <a:p>
            <a:r>
              <a:rPr lang="en-US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Path2 is file: False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48214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C1B614F-3FD2-CD11-17B6-1079B58A79A4}"/>
              </a:ext>
            </a:extLst>
          </p:cNvPr>
          <p:cNvSpPr/>
          <p:nvPr/>
        </p:nvSpPr>
        <p:spPr>
          <a:xfrm>
            <a:off x="0" y="0"/>
            <a:ext cx="12274826" cy="6858000"/>
          </a:xfrm>
          <a:prstGeom prst="rect">
            <a:avLst/>
          </a:prstGeom>
          <a:solidFill>
            <a:srgbClr val="51B3BF"/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42F346-FC6A-493B-995E-DB2FC357CBE3}"/>
              </a:ext>
            </a:extLst>
          </p:cNvPr>
          <p:cNvSpPr txBox="1"/>
          <p:nvPr/>
        </p:nvSpPr>
        <p:spPr>
          <a:xfrm>
            <a:off x="3582712" y="3250197"/>
            <a:ext cx="46964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T323"/>
                <a:ea typeface="Arial Unicode MS"/>
                <a:cs typeface="Arial" panose="020B0604020202020204" pitchFamily="34" charset="0"/>
              </a:rPr>
              <a:t>Time to code</a:t>
            </a:r>
            <a:endParaRPr kumimoji="0" lang="ko-KR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T323"/>
              <a:ea typeface="Arial Unicode MS"/>
              <a:cs typeface="Arial" panose="020B0604020202020204" pitchFamily="34" charset="0"/>
            </a:endParaRPr>
          </a:p>
        </p:txBody>
      </p:sp>
      <p:pic>
        <p:nvPicPr>
          <p:cNvPr id="9" name="Picture 8" descr="Logo, icon&#10;&#10;Description automatically generated">
            <a:extLst>
              <a:ext uri="{FF2B5EF4-FFF2-40B4-BE49-F238E27FC236}">
                <a16:creationId xmlns:a16="http://schemas.microsoft.com/office/drawing/2014/main" id="{8036D483-EE8C-FE4B-A44F-1813496D27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1175" y="2170697"/>
            <a:ext cx="1079500" cy="10795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B7BFB18-3B1B-84ED-BAEE-BD0EB69314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2394" y="4375994"/>
            <a:ext cx="2657061" cy="2125649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3AEC212-E809-BF02-A012-836A7F1918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20264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98491C-FF35-21AC-8605-BA0BAF8A0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319" name="Rectangle 1331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314" name="Picture 2" descr="Picture background">
            <a:extLst>
              <a:ext uri="{FF2B5EF4-FFF2-40B4-BE49-F238E27FC236}">
                <a16:creationId xmlns:a16="http://schemas.microsoft.com/office/drawing/2014/main" id="{E90AFCAA-359E-B52C-06BE-7C15F4719C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00" b="24298"/>
          <a:stretch/>
        </p:blipFill>
        <p:spPr bwMode="auto">
          <a:xfrm>
            <a:off x="-3047" y="10"/>
            <a:ext cx="1219199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321" name="Rectangle 1332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D606FF-55AD-C4CE-E7AA-5097B81AA247}"/>
              </a:ext>
            </a:extLst>
          </p:cNvPr>
          <p:cNvSpPr txBox="1"/>
          <p:nvPr/>
        </p:nvSpPr>
        <p:spPr>
          <a:xfrm>
            <a:off x="1097280" y="325550"/>
            <a:ext cx="10058400" cy="357477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 latinLnBrk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Ansible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39D5AD5-F78A-07BA-1636-C1BCCD96954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>
              <a:spcAft>
                <a:spcPts val="600"/>
              </a:spcAft>
              <a:defRPr/>
            </a:pPr>
            <a:fld id="{3C697622-B3A2-44EB-9C38-BCDA5E89629C}" type="slidenum">
              <a:rPr lang="en-US">
                <a:solidFill>
                  <a:srgbClr val="FFFFFF"/>
                </a:solidFill>
                <a:latin typeface="Calibri" panose="020F0502020204030204"/>
              </a:rPr>
              <a:pPr latinLnBrk="0">
                <a:spcAft>
                  <a:spcPts val="600"/>
                </a:spcAft>
                <a:defRPr/>
              </a:pPr>
              <a:t>41</a:t>
            </a:fld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4407816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8776E-C22D-A7BB-B4F5-423860BA9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775D80-F246-784E-4495-C649E952ED39}"/>
              </a:ext>
            </a:extLst>
          </p:cNvPr>
          <p:cNvSpPr txBox="1"/>
          <p:nvPr/>
        </p:nvSpPr>
        <p:spPr>
          <a:xfrm>
            <a:off x="749300" y="419100"/>
            <a:ext cx="21259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303938"/>
                </a:solidFill>
                <a:latin typeface="IBM Plex Mono" panose="020B0509050203000203" pitchFamily="49" charset="77"/>
              </a:rPr>
              <a:t>ansible</a:t>
            </a:r>
            <a:endParaRPr lang="en-RU" sz="3600" b="1" dirty="0">
              <a:solidFill>
                <a:srgbClr val="303938"/>
              </a:solidFill>
              <a:latin typeface="IBM Plex Mono" panose="020B0509050203000203" pitchFamily="49" charset="77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384FAD6-0220-0F5B-7C97-68A58B16E2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42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6981E2-C907-773A-65F7-3EB8639CB975}"/>
              </a:ext>
            </a:extLst>
          </p:cNvPr>
          <p:cNvSpPr txBox="1"/>
          <p:nvPr/>
        </p:nvSpPr>
        <p:spPr>
          <a:xfrm>
            <a:off x="749300" y="1279009"/>
            <a:ext cx="10921999" cy="307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Это простой и удобный инструмент автоматизации, который помогает управлять серверами, развертывать приложения и настраивать инфраструктуру. 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ru-RU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Он позволяет выполнять задачи на удалённых машинах без установки на них дополнительного программного обеспечения — достаточно только доступа по </a:t>
            </a:r>
            <a:r>
              <a:rPr lang="ru-RU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SSH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 и </a:t>
            </a:r>
            <a:r>
              <a:rPr lang="ru-RU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Python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 на стороне сервера.</a:t>
            </a:r>
          </a:p>
        </p:txBody>
      </p:sp>
    </p:spTree>
    <p:extLst>
      <p:ext uri="{BB962C8B-B14F-4D97-AF65-F5344CB8AC3E}">
        <p14:creationId xmlns:p14="http://schemas.microsoft.com/office/powerpoint/2010/main" val="5357901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2C3D8-C41B-9EB5-01B9-8AC61D59C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62B8E75-1F15-4960-ACF8-BB1680FE54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>
              <a:spcAft>
                <a:spcPts val="600"/>
              </a:spcAft>
            </a:pPr>
            <a:fld id="{3C697622-B3A2-44EB-9C38-BCDA5E89629C}" type="slidenum">
              <a:rPr lang="en-US">
                <a:solidFill>
                  <a:srgbClr val="FFFFFF"/>
                </a:solidFill>
              </a:rPr>
              <a:pPr latinLnBrk="0">
                <a:spcAft>
                  <a:spcPts val="600"/>
                </a:spcAft>
              </a:pPr>
              <a:t>43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1580CE3-BA6D-8A67-4FEE-595EAA4F5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769" y="2011679"/>
            <a:ext cx="4457609" cy="290597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45D61CB-16CE-CFB7-6CBF-DAB9E9B95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9239" y="2011679"/>
            <a:ext cx="4518013" cy="29059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C559A7B-384A-FAB9-14CC-08AEEA25D4D4}"/>
              </a:ext>
            </a:extLst>
          </p:cNvPr>
          <p:cNvSpPr txBox="1"/>
          <p:nvPr/>
        </p:nvSpPr>
        <p:spPr>
          <a:xfrm>
            <a:off x="1387018" y="317815"/>
            <a:ext cx="94179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>
                <a:latin typeface="Press Start 2P" pitchFamily="2" charset="0"/>
              </a:rPr>
              <a:t>Scripts</a:t>
            </a:r>
            <a:r>
              <a:rPr lang="ru-RU" sz="4000" dirty="0">
                <a:latin typeface="Press Start 2P" pitchFamily="2" charset="0"/>
              </a:rPr>
              <a:t> </a:t>
            </a:r>
            <a:r>
              <a:rPr lang="en-US" sz="4000" dirty="0">
                <a:latin typeface="Press Start 2P" pitchFamily="2" charset="0"/>
              </a:rPr>
              <a:t>vs Ansible</a:t>
            </a:r>
            <a:endParaRPr lang="en-GB" sz="4000" dirty="0">
              <a:latin typeface="Press Start 2P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68865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260F7-62DE-B2B8-B6A7-16CD06DB7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0C0314-97B6-38D4-F4F4-35A5033B4D03}"/>
              </a:ext>
            </a:extLst>
          </p:cNvPr>
          <p:cNvSpPr txBox="1"/>
          <p:nvPr/>
        </p:nvSpPr>
        <p:spPr>
          <a:xfrm>
            <a:off x="749300" y="419100"/>
            <a:ext cx="48990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</a:rPr>
              <a:t>Установка </a:t>
            </a:r>
            <a:r>
              <a:rPr lang="en-US" sz="3600" b="1" dirty="0">
                <a:solidFill>
                  <a:srgbClr val="303938"/>
                </a:solidFill>
                <a:latin typeface="IBM Plex Mono" panose="020B0509050203000203" pitchFamily="49" charset="77"/>
              </a:rPr>
              <a:t>ansible</a:t>
            </a:r>
            <a:endParaRPr lang="en-RU" sz="3600" b="1" dirty="0">
              <a:solidFill>
                <a:srgbClr val="303938"/>
              </a:solidFill>
              <a:latin typeface="IBM Plex Mono" panose="020B0509050203000203" pitchFamily="49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27A5FF-4977-9CC7-1A23-067976AFADCC}"/>
              </a:ext>
            </a:extLst>
          </p:cNvPr>
          <p:cNvSpPr txBox="1"/>
          <p:nvPr/>
        </p:nvSpPr>
        <p:spPr>
          <a:xfrm>
            <a:off x="749300" y="1279009"/>
            <a:ext cx="10921999" cy="3054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2400"/>
              </a:spcBef>
              <a:spcAft>
                <a:spcPts val="450"/>
              </a:spcAft>
            </a:pPr>
            <a:r>
              <a:rPr lang="en-US" sz="2400" dirty="0">
                <a:solidFill>
                  <a:srgbClr val="333333"/>
                </a:solidFill>
                <a:latin typeface="IBM Plex Mono" panose="020B0509050203000203" pitchFamily="49" charset="-52"/>
              </a:rPr>
              <a:t>$ 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IBM Plex Mono" panose="020B0509050203000203" pitchFamily="49" charset="-52"/>
              </a:rPr>
              <a:t>pip install ansible</a:t>
            </a:r>
            <a:endParaRPr lang="ru-RU" sz="2400" b="0" i="0" dirty="0">
              <a:solidFill>
                <a:srgbClr val="333333"/>
              </a:solidFill>
              <a:effectLst/>
              <a:latin typeface="IBM Plex Mono" panose="020B0509050203000203" pitchFamily="49" charset="-52"/>
            </a:endParaRPr>
          </a:p>
          <a:p>
            <a:pPr algn="l">
              <a:spcBef>
                <a:spcPts val="2400"/>
              </a:spcBef>
              <a:spcAft>
                <a:spcPts val="450"/>
              </a:spcAft>
            </a:pPr>
            <a:r>
              <a:rPr lang="en-US" sz="2400" dirty="0">
                <a:solidFill>
                  <a:srgbClr val="333333"/>
                </a:solidFill>
                <a:latin typeface="IBM Plex Mono" panose="020B0509050203000203" pitchFamily="49" charset="-52"/>
                <a:cs typeface="Tahoma"/>
              </a:rPr>
              <a:t>$ ansible –version</a:t>
            </a:r>
          </a:p>
          <a:p>
            <a:pPr algn="l">
              <a:spcBef>
                <a:spcPts val="2400"/>
              </a:spcBef>
              <a:spcAft>
                <a:spcPts val="450"/>
              </a:spcAft>
            </a:pPr>
            <a:endParaRPr lang="en-US" sz="2400" dirty="0">
              <a:solidFill>
                <a:srgbClr val="333333"/>
              </a:solidFill>
              <a:latin typeface="IBM Plex Mono" panose="020B0509050203000203" pitchFamily="49" charset="-52"/>
              <a:cs typeface="Tahoma"/>
            </a:endParaRPr>
          </a:p>
          <a:p>
            <a:pPr algn="l">
              <a:spcBef>
                <a:spcPts val="2400"/>
              </a:spcBef>
              <a:spcAft>
                <a:spcPts val="450"/>
              </a:spcAft>
            </a:pPr>
            <a:r>
              <a:rPr lang="en-US" sz="2400" dirty="0">
                <a:solidFill>
                  <a:srgbClr val="303938"/>
                </a:solidFill>
                <a:latin typeface="IBM Plex Mono" panose="020B0509050203000203" pitchFamily="49" charset="-52"/>
                <a:cs typeface="Tahoma"/>
              </a:rPr>
              <a:t># ansible [core 2.17.7]</a:t>
            </a:r>
            <a:br>
              <a:rPr lang="en-US" sz="2400" dirty="0">
                <a:solidFill>
                  <a:srgbClr val="303938"/>
                </a:solidFill>
                <a:latin typeface="IBM Plex Mono" panose="020B0509050203000203" pitchFamily="49" charset="-52"/>
                <a:cs typeface="Tahoma"/>
              </a:rPr>
            </a:br>
            <a:r>
              <a:rPr lang="en-US" sz="2400" dirty="0">
                <a:solidFill>
                  <a:srgbClr val="303938"/>
                </a:solidFill>
                <a:latin typeface="IBM Plex Mono" panose="020B0509050203000203" pitchFamily="49" charset="-52"/>
                <a:cs typeface="Tahoma"/>
              </a:rPr>
              <a:t>...</a:t>
            </a:r>
            <a:endParaRPr lang="ru-RU" sz="2400" dirty="0">
              <a:solidFill>
                <a:srgbClr val="303938"/>
              </a:solidFill>
              <a:latin typeface="IBM Plex Mono" panose="020B0509050203000203" pitchFamily="49" charset="-52"/>
              <a:cs typeface="Tahoma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EFFBCE4-2FFC-F03C-A808-CEF684D038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77960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07679-1A77-061A-BFE5-3F0C69540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2E26C35-9307-CEAF-41F7-9692AAD19CA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>
              <a:spcAft>
                <a:spcPts val="600"/>
              </a:spcAft>
            </a:pPr>
            <a:fld id="{3C697622-B3A2-44EB-9C38-BCDA5E89629C}" type="slidenum">
              <a:rPr lang="en-US">
                <a:solidFill>
                  <a:srgbClr val="FFFFFF"/>
                </a:solidFill>
              </a:rPr>
              <a:pPr latinLnBrk="0">
                <a:spcAft>
                  <a:spcPts val="600"/>
                </a:spcAft>
              </a:pPr>
              <a:t>45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82A2F6-4773-EB1A-1E94-748880C932D2}"/>
              </a:ext>
            </a:extLst>
          </p:cNvPr>
          <p:cNvSpPr txBox="1"/>
          <p:nvPr/>
        </p:nvSpPr>
        <p:spPr>
          <a:xfrm>
            <a:off x="3182401" y="2897386"/>
            <a:ext cx="582723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>
                <a:latin typeface="Press Start 2P" pitchFamily="2" charset="0"/>
              </a:rPr>
              <a:t>Hello World</a:t>
            </a:r>
          </a:p>
          <a:p>
            <a:pPr algn="ctr"/>
            <a:r>
              <a:rPr lang="en-US" sz="4000" dirty="0">
                <a:latin typeface="Press Start 2P" pitchFamily="2" charset="0"/>
              </a:rPr>
              <a:t>Ansible</a:t>
            </a:r>
            <a:endParaRPr lang="en-GB" sz="4000" dirty="0">
              <a:latin typeface="Press Start 2P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94862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2D371B-A0B8-F511-A054-13E452CCF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36F073-D7F9-94E5-177D-C40B809878DC}"/>
              </a:ext>
            </a:extLst>
          </p:cNvPr>
          <p:cNvSpPr txBox="1"/>
          <p:nvPr/>
        </p:nvSpPr>
        <p:spPr>
          <a:xfrm>
            <a:off x="838200" y="184805"/>
            <a:ext cx="10515600" cy="15058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atinLnBrk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Inventory-файл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C6A31C5-D843-0E5C-566F-53546D880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93042"/>
            <a:ext cx="10512547" cy="2155071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8E8158F-9CFA-345C-98B3-09E6F8D0A8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>
              <a:spcAft>
                <a:spcPts val="600"/>
              </a:spcAft>
            </a:pPr>
            <a:fld id="{3C697622-B3A2-44EB-9C38-BCDA5E89629C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 latinLnBrk="0">
                <a:spcAft>
                  <a:spcPts val="600"/>
                </a:spcAft>
              </a:pPr>
              <a:t>46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19466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79069-55D2-6FF9-BEDC-A0B5632A3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BF09ED-DD89-AEDB-2FAA-00756DD0F669}"/>
              </a:ext>
            </a:extLst>
          </p:cNvPr>
          <p:cNvSpPr txBox="1"/>
          <p:nvPr/>
        </p:nvSpPr>
        <p:spPr>
          <a:xfrm>
            <a:off x="1452229" y="360947"/>
            <a:ext cx="9134340" cy="279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ansible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my_servers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hosts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-m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ping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1EB3552-29A8-5899-9449-D22C6B44DB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47</a:t>
            </a:fld>
            <a:endParaRPr lang="ru-RU"/>
          </a:p>
        </p:txBody>
      </p:sp>
      <p:cxnSp>
        <p:nvCxnSpPr>
          <p:cNvPr id="3" name="Straight Connector 4">
            <a:extLst>
              <a:ext uri="{FF2B5EF4-FFF2-40B4-BE49-F238E27FC236}">
                <a16:creationId xmlns:a16="http://schemas.microsoft.com/office/drawing/2014/main" id="{AB317B68-C093-F2C7-D164-37DAA759610D}"/>
              </a:ext>
            </a:extLst>
          </p:cNvPr>
          <p:cNvCxnSpPr>
            <a:cxnSpLocks/>
          </p:cNvCxnSpPr>
          <p:nvPr/>
        </p:nvCxnSpPr>
        <p:spPr>
          <a:xfrm>
            <a:off x="1452230" y="2779065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3108333-5541-E375-C2AD-DEFBB7F503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419" y="2954308"/>
            <a:ext cx="8633861" cy="2499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1305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9F54A4-C631-598F-38C6-F62708B2F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51BC24-2BEA-BE62-300D-0C8885724E84}"/>
              </a:ext>
            </a:extLst>
          </p:cNvPr>
          <p:cNvSpPr txBox="1"/>
          <p:nvPr/>
        </p:nvSpPr>
        <p:spPr>
          <a:xfrm>
            <a:off x="838200" y="184805"/>
            <a:ext cx="10515600" cy="15058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atinLnBrk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Ansible-playbook</a:t>
            </a:r>
            <a:endParaRPr lang="en-US" sz="52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5890FEC-63AE-E65F-AD41-5CA215454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22866"/>
            <a:ext cx="10512547" cy="3495422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0976B32-02ED-211F-FFF8-828096A706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>
              <a:spcAft>
                <a:spcPts val="600"/>
              </a:spcAft>
            </a:pPr>
            <a:fld id="{3C697622-B3A2-44EB-9C38-BCDA5E89629C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 latinLnBrk="0">
                <a:spcAft>
                  <a:spcPts val="600"/>
                </a:spcAft>
              </a:pPr>
              <a:t>48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061765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D63EF-F3B0-8D28-C3F4-5863C476B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636C2F5-D0EB-B28A-EE42-8B09507BDBF2}"/>
              </a:ext>
            </a:extLst>
          </p:cNvPr>
          <p:cNvSpPr txBox="1"/>
          <p:nvPr/>
        </p:nvSpPr>
        <p:spPr>
          <a:xfrm>
            <a:off x="1452229" y="360947"/>
            <a:ext cx="9134340" cy="279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ansible-playbook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hosts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main.yml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913568F-C217-C8A4-0C2F-93A33A03EE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49</a:t>
            </a:fld>
            <a:endParaRPr lang="ru-RU"/>
          </a:p>
        </p:txBody>
      </p:sp>
      <p:cxnSp>
        <p:nvCxnSpPr>
          <p:cNvPr id="3" name="Straight Connector 4">
            <a:extLst>
              <a:ext uri="{FF2B5EF4-FFF2-40B4-BE49-F238E27FC236}">
                <a16:creationId xmlns:a16="http://schemas.microsoft.com/office/drawing/2014/main" id="{918742D8-8FDA-B7C8-055C-3ADAC940D6F8}"/>
              </a:ext>
            </a:extLst>
          </p:cNvPr>
          <p:cNvCxnSpPr>
            <a:cxnSpLocks/>
          </p:cNvCxnSpPr>
          <p:nvPr/>
        </p:nvCxnSpPr>
        <p:spPr>
          <a:xfrm>
            <a:off x="1452229" y="3496147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A637185-CF67-548F-FA49-C1CD2BD88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722" y="3619394"/>
            <a:ext cx="8932553" cy="2155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49552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4026A-E28A-D4DA-25ED-7237F4060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6CA82C7-994B-9784-39E5-99C529368F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37" r="2935" b="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3CEC351-3608-47B6-7B1E-C113509F69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>
              <a:spcAft>
                <a:spcPts val="600"/>
              </a:spcAft>
            </a:pPr>
            <a:fld id="{3C697622-B3A2-44EB-9C38-BCDA5E89629C}" type="slidenum">
              <a:rPr lang="en-US">
                <a:solidFill>
                  <a:srgbClr val="FFFFFF"/>
                </a:solidFill>
              </a:rPr>
              <a:pPr latinLnBrk="0">
                <a:spcAft>
                  <a:spcPts val="600"/>
                </a:spcAft>
              </a:pPr>
              <a:t>50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371601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B24BC-33DB-ABC2-124A-B0FEBE646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B01AE0D-E6E9-F5F6-BBDF-AE32E62F97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>
              <a:spcAft>
                <a:spcPts val="600"/>
              </a:spcAft>
            </a:pPr>
            <a:fld id="{3C697622-B3A2-44EB-9C38-BCDA5E89629C}" type="slidenum">
              <a:rPr lang="en-US">
                <a:solidFill>
                  <a:srgbClr val="FFFFFF"/>
                </a:solidFill>
              </a:rPr>
              <a:pPr latinLnBrk="0">
                <a:spcAft>
                  <a:spcPts val="600"/>
                </a:spcAft>
              </a:pPr>
              <a:t>51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B3B4B0-D33E-4A0C-24CC-480196F38D91}"/>
              </a:ext>
            </a:extLst>
          </p:cNvPr>
          <p:cNvSpPr txBox="1"/>
          <p:nvPr/>
        </p:nvSpPr>
        <p:spPr>
          <a:xfrm>
            <a:off x="3951844" y="2897386"/>
            <a:ext cx="42883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>
                <a:latin typeface="Press Start 2P" pitchFamily="2" charset="0"/>
              </a:rPr>
              <a:t>YML/YAML</a:t>
            </a:r>
            <a:endParaRPr lang="en-GB" sz="4000" dirty="0">
              <a:latin typeface="Press Start 2P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29786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36ED6-84ED-6EBE-C8E4-2D4EFF4B5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CD0201-779C-9D7E-354B-B7FBCE9BF436}"/>
              </a:ext>
            </a:extLst>
          </p:cNvPr>
          <p:cNvSpPr txBox="1"/>
          <p:nvPr/>
        </p:nvSpPr>
        <p:spPr>
          <a:xfrm>
            <a:off x="749300" y="419100"/>
            <a:ext cx="10166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303938"/>
                </a:solidFill>
                <a:latin typeface="IBM Plex Mono" panose="020B0509050203000203" pitchFamily="49" charset="77"/>
              </a:rPr>
              <a:t>YML</a:t>
            </a:r>
            <a:endParaRPr lang="en-RU" sz="3600" b="1" dirty="0">
              <a:solidFill>
                <a:srgbClr val="303938"/>
              </a:solidFill>
              <a:latin typeface="IBM Plex Mono" panose="020B0509050203000203" pitchFamily="49" charset="77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7634C6C-6BBC-57AE-E873-C95A2A7EF7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52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45C5B0-CA29-1F0F-E928-B672769B0D8B}"/>
              </a:ext>
            </a:extLst>
          </p:cNvPr>
          <p:cNvSpPr txBox="1"/>
          <p:nvPr/>
        </p:nvSpPr>
        <p:spPr>
          <a:xfrm>
            <a:off x="749300" y="1279009"/>
            <a:ext cx="10921999" cy="3441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YAML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 — это текстовый формат для представления данных в виде, который легко читается человеком и подходит для сериализации объектов. 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Файлы в этом формате обычно имеют расширение </a:t>
            </a:r>
            <a:r>
              <a:rPr lang="ru-RU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.</a:t>
            </a:r>
            <a:r>
              <a:rPr lang="ru-RU" sz="2400" b="1" dirty="0" err="1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yml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 или </a:t>
            </a:r>
            <a:r>
              <a:rPr lang="ru-RU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.</a:t>
            </a:r>
            <a:r>
              <a:rPr lang="ru-RU" sz="2400" b="1" dirty="0" err="1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yaml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. 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Они используют отступы для обозначения иерархической структуры, что делает их особенно удобными для представления конфигураций и структур данных, таких как списки и словари.</a:t>
            </a:r>
          </a:p>
        </p:txBody>
      </p:sp>
    </p:spTree>
    <p:extLst>
      <p:ext uri="{BB962C8B-B14F-4D97-AF65-F5344CB8AC3E}">
        <p14:creationId xmlns:p14="http://schemas.microsoft.com/office/powerpoint/2010/main" val="365308606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D63EF-F3B0-8D28-C3F4-5863C476B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636C2F5-D0EB-B28A-EE42-8B09507BDBF2}"/>
              </a:ext>
            </a:extLst>
          </p:cNvPr>
          <p:cNvSpPr txBox="1"/>
          <p:nvPr/>
        </p:nvSpPr>
        <p:spPr>
          <a:xfrm>
            <a:off x="1452229" y="360947"/>
            <a:ext cx="9134340" cy="2793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ru-R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Структура чем-то схожа с </a:t>
            </a:r>
            <a:r>
              <a:rPr lang="ru-RU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python</a:t>
            </a:r>
            <a:endParaRPr lang="ru-RU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endParaRPr lang="ru-RU" sz="1600" b="0" dirty="0">
              <a:solidFill>
                <a:srgbClr val="569CD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endParaRPr lang="ru-RU" sz="1600" dirty="0">
              <a:solidFill>
                <a:srgbClr val="569CD6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version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"3.7"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services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web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nginx:latest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ports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"8080:80"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environment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"APP_ENV=production"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database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"postgres:12"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environment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"POSTGRES_PASSWORD=</a:t>
            </a:r>
            <a:r>
              <a:rPr lang="en-US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mysecretpassword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913568F-C217-C8A4-0C2F-93A33A03EE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53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904246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D63EF-F3B0-8D28-C3F4-5863C476B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636C2F5-D0EB-B28A-EE42-8B09507BDBF2}"/>
              </a:ext>
            </a:extLst>
          </p:cNvPr>
          <p:cNvSpPr txBox="1"/>
          <p:nvPr/>
        </p:nvSpPr>
        <p:spPr>
          <a:xfrm>
            <a:off x="1452229" y="360947"/>
            <a:ext cx="9134340" cy="40500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config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"version"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"3.7"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"services"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"web"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"image"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nginx:latest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"ports"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[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"8080:80"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],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"environment"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[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"APP_ENV=production"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]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},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"database"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"image"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"postgres:12"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"environment"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[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"POSTGRES_PASSWORD=</a:t>
            </a:r>
            <a:r>
              <a:rPr lang="en-US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mysecretpassword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]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913568F-C217-C8A4-0C2F-93A33A03EE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54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978248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4CBCF-E131-6810-2C81-BF8F1C2E5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BBAB374-E5B4-260D-AF2C-438F6863A162}"/>
              </a:ext>
            </a:extLst>
          </p:cNvPr>
          <p:cNvSpPr txBox="1"/>
          <p:nvPr/>
        </p:nvSpPr>
        <p:spPr>
          <a:xfrm>
            <a:off x="1452229" y="360947"/>
            <a:ext cx="9134340" cy="1356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yaml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Чтение </a:t>
            </a: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YAML </a:t>
            </a:r>
            <a:r>
              <a:rPr lang="ru-R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файла</a:t>
            </a:r>
            <a:endParaRPr lang="ru-RU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test.yml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config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yaml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safe_load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config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784A4BF-90D8-1D23-D06C-AB855A39B6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55</a:t>
            </a:fld>
            <a:endParaRPr lang="ru-RU"/>
          </a:p>
        </p:txBody>
      </p:sp>
      <p:cxnSp>
        <p:nvCxnSpPr>
          <p:cNvPr id="3" name="Straight Connector 4">
            <a:extLst>
              <a:ext uri="{FF2B5EF4-FFF2-40B4-BE49-F238E27FC236}">
                <a16:creationId xmlns:a16="http://schemas.microsoft.com/office/drawing/2014/main" id="{C5C49632-CFCA-56B9-EA29-99A8CFA4592C}"/>
              </a:ext>
            </a:extLst>
          </p:cNvPr>
          <p:cNvCxnSpPr>
            <a:cxnSpLocks/>
          </p:cNvCxnSpPr>
          <p:nvPr/>
        </p:nvCxnSpPr>
        <p:spPr>
          <a:xfrm>
            <a:off x="1490731" y="3823406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7D0FDDA-1B2C-E041-EAC5-489516C8074A}"/>
              </a:ext>
            </a:extLst>
          </p:cNvPr>
          <p:cNvSpPr txBox="1"/>
          <p:nvPr/>
        </p:nvSpPr>
        <p:spPr>
          <a:xfrm>
            <a:off x="1490730" y="3823406"/>
            <a:ext cx="865681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[{'name': 'Ping remote servers', 'hosts': '</a:t>
            </a:r>
            <a:r>
              <a:rPr lang="en-US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my_servers</a:t>
            </a:r>
            <a:r>
              <a:rPr lang="en-US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', 'tasks': [{'name': 'Test connectivity to servers', '</a:t>
            </a:r>
            <a:r>
              <a:rPr lang="en-US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ansible.builtin.ping</a:t>
            </a:r>
            <a:r>
              <a:rPr lang="en-US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': None}]}]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7C573E7-6B6F-C483-DC87-F361E06B4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752" y="484655"/>
            <a:ext cx="3195367" cy="1109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20951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4CBCF-E131-6810-2C81-BF8F1C2E5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BBAB374-E5B4-260D-AF2C-438F6863A162}"/>
              </a:ext>
            </a:extLst>
          </p:cNvPr>
          <p:cNvSpPr txBox="1"/>
          <p:nvPr/>
        </p:nvSpPr>
        <p:spPr>
          <a:xfrm>
            <a:off x="1452229" y="360947"/>
            <a:ext cx="9134340" cy="3690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yaml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'version'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'3.7'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'services'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'web'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'image'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nginx:latest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'ports'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'8080:80'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'environment'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'APP_ENV=production'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},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'database'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'image'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'postgres:12'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'environment'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'POSTGRES_PASSWORD=</a:t>
            </a:r>
            <a:r>
              <a:rPr lang="en-US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mysecretpassword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Запись в </a:t>
            </a: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YAML </a:t>
            </a:r>
            <a:r>
              <a:rPr lang="ru-R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файл</a:t>
            </a:r>
            <a:endParaRPr lang="ru-RU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output.yml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yaml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dump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784A4BF-90D8-1D23-D06C-AB855A39B6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56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218394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F60CF-91A6-A4AF-7016-3190C9FD0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7A826C9-8ED0-C7C3-C94A-EA5A5DA850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>
              <a:spcAft>
                <a:spcPts val="600"/>
              </a:spcAft>
            </a:pPr>
            <a:fld id="{3C697622-B3A2-44EB-9C38-BCDA5E89629C}" type="slidenum">
              <a:rPr lang="en-US">
                <a:solidFill>
                  <a:srgbClr val="FFFFFF"/>
                </a:solidFill>
              </a:rPr>
              <a:pPr latinLnBrk="0">
                <a:spcAft>
                  <a:spcPts val="600"/>
                </a:spcAft>
              </a:pPr>
              <a:t>57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647F22-C0C6-9945-6A10-49AD9B544B3D}"/>
              </a:ext>
            </a:extLst>
          </p:cNvPr>
          <p:cNvSpPr txBox="1"/>
          <p:nvPr/>
        </p:nvSpPr>
        <p:spPr>
          <a:xfrm>
            <a:off x="4977766" y="2897386"/>
            <a:ext cx="223651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>
                <a:latin typeface="Press Start 2P" pitchFamily="2" charset="0"/>
              </a:rPr>
              <a:t>JSON</a:t>
            </a:r>
            <a:endParaRPr lang="en-GB" sz="4000" dirty="0">
              <a:latin typeface="Press Start 2P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260062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CC5D7-C1D6-6B07-7B1A-19670F2FA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553529-BC0F-7D59-0AA7-8AD7A0D0DDC6}"/>
              </a:ext>
            </a:extLst>
          </p:cNvPr>
          <p:cNvSpPr txBox="1"/>
          <p:nvPr/>
        </p:nvSpPr>
        <p:spPr>
          <a:xfrm>
            <a:off x="749300" y="419100"/>
            <a:ext cx="12939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303938"/>
                </a:solidFill>
                <a:latin typeface="IBM Plex Mono" panose="020B0509050203000203" pitchFamily="49" charset="77"/>
              </a:rPr>
              <a:t>JSON</a:t>
            </a:r>
            <a:endParaRPr lang="en-RU" sz="3600" b="1" dirty="0">
              <a:solidFill>
                <a:srgbClr val="303938"/>
              </a:solidFill>
              <a:latin typeface="IBM Plex Mono" panose="020B0509050203000203" pitchFamily="49" charset="77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4B8026F-E57F-078D-CB65-11453880B6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58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3F1295-70C8-F87B-8936-D3CC3A4847A7}"/>
              </a:ext>
            </a:extLst>
          </p:cNvPr>
          <p:cNvSpPr txBox="1"/>
          <p:nvPr/>
        </p:nvSpPr>
        <p:spPr>
          <a:xfrm>
            <a:off x="749300" y="1279009"/>
            <a:ext cx="10921999" cy="1964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JSON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 (JavaScript Object </a:t>
            </a:r>
            <a:r>
              <a:rPr lang="ru-RU" sz="2400" dirty="0" err="1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Notation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) — текстовый формат обмена данными, основанный на </a:t>
            </a:r>
            <a:r>
              <a:rPr lang="ru-RU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JavaScript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. </a:t>
            </a:r>
            <a:endParaRPr lang="en-US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en-US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Но при этом формат независим от </a:t>
            </a:r>
            <a:r>
              <a:rPr lang="ru-RU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JS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 и может использоваться в любом языке программирования.</a:t>
            </a:r>
          </a:p>
        </p:txBody>
      </p:sp>
    </p:spTree>
    <p:extLst>
      <p:ext uri="{BB962C8B-B14F-4D97-AF65-F5344CB8AC3E}">
        <p14:creationId xmlns:p14="http://schemas.microsoft.com/office/powerpoint/2010/main" val="327994890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4CBCF-E131-6810-2C81-BF8F1C2E5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BBAB374-E5B4-260D-AF2C-438F6863A162}"/>
              </a:ext>
            </a:extLst>
          </p:cNvPr>
          <p:cNvSpPr txBox="1"/>
          <p:nvPr/>
        </p:nvSpPr>
        <p:spPr>
          <a:xfrm>
            <a:off x="1452229" y="360947"/>
            <a:ext cx="9134340" cy="2613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"version"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"1.0"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"services"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"web"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"image"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nginx:latest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"ports"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"8080:80"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"environment"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"APP_ENV=production"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},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"database"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"image"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"postgres:12"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"environment"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"POSTGRES_PASSWORD=</a:t>
            </a:r>
            <a:r>
              <a:rPr lang="en-US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mysecretpassword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784A4BF-90D8-1D23-D06C-AB855A39B6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59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454535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41379-76F6-9DB0-5C96-2AEB0308F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6CE4686-77E0-CCAB-E6E2-B3C54F28B15B}"/>
              </a:ext>
            </a:extLst>
          </p:cNvPr>
          <p:cNvSpPr txBox="1"/>
          <p:nvPr/>
        </p:nvSpPr>
        <p:spPr>
          <a:xfrm>
            <a:off x="1452229" y="360947"/>
            <a:ext cx="9134340" cy="1356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json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Чтение </a:t>
            </a: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JSON </a:t>
            </a:r>
            <a:r>
              <a:rPr lang="ru-R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файла</a:t>
            </a:r>
            <a:endParaRPr lang="ru-RU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config.json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config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config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A15A82F-D21F-F412-DE23-D8A824AB7E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60</a:t>
            </a:fld>
            <a:endParaRPr lang="ru-RU"/>
          </a:p>
        </p:txBody>
      </p:sp>
      <p:cxnSp>
        <p:nvCxnSpPr>
          <p:cNvPr id="3" name="Straight Connector 4">
            <a:extLst>
              <a:ext uri="{FF2B5EF4-FFF2-40B4-BE49-F238E27FC236}">
                <a16:creationId xmlns:a16="http://schemas.microsoft.com/office/drawing/2014/main" id="{1D1BCF7D-A1BF-EFEB-70A3-982890286549}"/>
              </a:ext>
            </a:extLst>
          </p:cNvPr>
          <p:cNvCxnSpPr>
            <a:cxnSpLocks/>
          </p:cNvCxnSpPr>
          <p:nvPr/>
        </p:nvCxnSpPr>
        <p:spPr>
          <a:xfrm>
            <a:off x="1490731" y="3823406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5393E2E-A9F7-2684-4650-A2CBF5AF4207}"/>
              </a:ext>
            </a:extLst>
          </p:cNvPr>
          <p:cNvSpPr txBox="1"/>
          <p:nvPr/>
        </p:nvSpPr>
        <p:spPr>
          <a:xfrm>
            <a:off x="1490730" y="3823406"/>
            <a:ext cx="865681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[{'name': 'Ping remote servers', 'hosts': '</a:t>
            </a:r>
            <a:r>
              <a:rPr lang="en-US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my_servers</a:t>
            </a:r>
            <a:r>
              <a:rPr lang="en-US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', 'tasks': [{'name': 'Test connectivity to servers', '</a:t>
            </a:r>
            <a:r>
              <a:rPr lang="en-US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ansible.builtin.ping</a:t>
            </a:r>
            <a:r>
              <a:rPr lang="en-US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': None}]}]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E4A83C3-DDE9-ED12-D316-7E3B975B3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4313" y="360946"/>
            <a:ext cx="3849688" cy="205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27299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41379-76F6-9DB0-5C96-2AEB0308F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6CE4686-77E0-CCAB-E6E2-B3C54F28B15B}"/>
              </a:ext>
            </a:extLst>
          </p:cNvPr>
          <p:cNvSpPr txBox="1"/>
          <p:nvPr/>
        </p:nvSpPr>
        <p:spPr>
          <a:xfrm>
            <a:off x="1452229" y="360947"/>
            <a:ext cx="9134340" cy="3690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json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"version"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"1.0"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"services"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"web"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"image"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nginx:latest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"ports"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"8080:80"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"environment"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"APP_ENV=production"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},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"database"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"image"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"postgres:12"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"environment"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"POSTGRES_PASSWORD=</a:t>
            </a:r>
            <a:r>
              <a:rPr lang="en-US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mysecretpassword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Запись в </a:t>
            </a: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JSON </a:t>
            </a:r>
            <a:r>
              <a:rPr lang="ru-R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файл</a:t>
            </a:r>
            <a:endParaRPr lang="ru-RU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output.json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dump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indent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A15A82F-D21F-F412-DE23-D8A824AB7E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61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18000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25D6E-1AB1-29F4-7ADD-9381486BF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9AB67D-9E35-13C7-F79E-9989166C42FC}"/>
              </a:ext>
            </a:extLst>
          </p:cNvPr>
          <p:cNvSpPr txBox="1"/>
          <p:nvPr/>
        </p:nvSpPr>
        <p:spPr>
          <a:xfrm>
            <a:off x="1452229" y="360947"/>
            <a:ext cx="9134340" cy="2613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requests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json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requests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"https://api.github.com"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response.json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dump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indent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keys_url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Значение </a:t>
            </a:r>
            <a:r>
              <a:rPr lang="en-US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keys_url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keys_url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Значение '</a:t>
            </a:r>
            <a:r>
              <a:rPr lang="en-US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keys_url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 </a:t>
            </a:r>
            <a:r>
              <a:rPr lang="ru-R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отсутствует в ответе сервера."</a:t>
            </a:r>
            <a:r>
              <a:rPr lang="ru-R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2FA4F27-A574-C12D-FCB9-CDF4E82413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62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59CE48A-CE1B-E298-F5D1-9255D8579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121" y="3028199"/>
            <a:ext cx="6967758" cy="2691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53703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48001-81E1-F7F0-EABD-3DDD9AB9A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82BAD16-5031-A1B2-8836-1579ED90BF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37" r="2935" b="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F343F67-80F2-CFB3-F894-BFDA82A56F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>
              <a:spcAft>
                <a:spcPts val="600"/>
              </a:spcAft>
            </a:pPr>
            <a:fld id="{3C697622-B3A2-44EB-9C38-BCDA5E89629C}" type="slidenum">
              <a:rPr lang="en-US">
                <a:solidFill>
                  <a:srgbClr val="FFFFFF"/>
                </a:solidFill>
              </a:rPr>
              <a:pPr latinLnBrk="0">
                <a:spcAft>
                  <a:spcPts val="600"/>
                </a:spcAft>
              </a:pPr>
              <a:t>63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555978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75295-0243-BB3E-A2DB-0E30D35FA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5C5F668-1F24-BD72-D7BE-A34B73CAB23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>
              <a:spcAft>
                <a:spcPts val="600"/>
              </a:spcAft>
            </a:pPr>
            <a:fld id="{3C697622-B3A2-44EB-9C38-BCDA5E89629C}" type="slidenum">
              <a:rPr lang="en-US">
                <a:solidFill>
                  <a:srgbClr val="FFFFFF"/>
                </a:solidFill>
              </a:rPr>
              <a:pPr latinLnBrk="0">
                <a:spcAft>
                  <a:spcPts val="600"/>
                </a:spcAft>
              </a:pPr>
              <a:t>64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2305FF-5D59-387F-D5BF-F201A9AD758A}"/>
              </a:ext>
            </a:extLst>
          </p:cNvPr>
          <p:cNvSpPr txBox="1"/>
          <p:nvPr/>
        </p:nvSpPr>
        <p:spPr>
          <a:xfrm>
            <a:off x="1130564" y="2897386"/>
            <a:ext cx="99309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>
                <a:latin typeface="Press Start 2P" pitchFamily="2" charset="0"/>
              </a:rPr>
              <a:t>Еще «</a:t>
            </a:r>
            <a:r>
              <a:rPr lang="en-US" sz="4000" dirty="0">
                <a:latin typeface="Press Start 2P" pitchFamily="2" charset="0"/>
              </a:rPr>
              <a:t>DevOps</a:t>
            </a:r>
            <a:r>
              <a:rPr lang="ru-RU" sz="4000" dirty="0">
                <a:latin typeface="Press Start 2P" pitchFamily="2" charset="0"/>
              </a:rPr>
              <a:t>»</a:t>
            </a:r>
            <a:r>
              <a:rPr lang="en-US" sz="4000" dirty="0">
                <a:latin typeface="Press Start 2P" pitchFamily="2" charset="0"/>
              </a:rPr>
              <a:t> </a:t>
            </a:r>
            <a:r>
              <a:rPr lang="ru-RU" sz="4000" dirty="0">
                <a:latin typeface="Press Start 2P" pitchFamily="2" charset="0"/>
              </a:rPr>
              <a:t>модули</a:t>
            </a:r>
            <a:endParaRPr lang="en-GB" sz="4000" dirty="0">
              <a:latin typeface="Press Start 2P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912632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651BF-CCC9-B000-481C-A74D82C9A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DA96E51-DDE3-9A53-0434-9C07CD426B65}"/>
              </a:ext>
            </a:extLst>
          </p:cNvPr>
          <p:cNvSpPr txBox="1"/>
          <p:nvPr/>
        </p:nvSpPr>
        <p:spPr>
          <a:xfrm>
            <a:off x="1452229" y="360947"/>
            <a:ext cx="9134340" cy="3331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ru-R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Модуль </a:t>
            </a: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fabric - </a:t>
            </a:r>
            <a:r>
              <a:rPr lang="ru-R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работа с удаленными подключениями</a:t>
            </a:r>
            <a:endParaRPr lang="ru-RU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ru-R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pip install fabric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fabric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Connection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Подключение к удаленному серверу</a:t>
            </a:r>
            <a:endParaRPr lang="ru-RU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Connection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host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"192.168.30.109"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k.baranov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connect_kwargs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"password"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“</a:t>
            </a:r>
            <a:r>
              <a:rPr lang="en-US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test_pass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Выполнение команды на удаленном сервере</a:t>
            </a:r>
            <a:endParaRPr lang="ru-RU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"echo </a:t>
            </a:r>
            <a:r>
              <a:rPr lang="en-US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Hello,World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!"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hide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Результат команды: </a:t>
            </a:r>
            <a:r>
              <a:rPr lang="ru-RU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.stdout.strip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Ошибки команды: </a:t>
            </a:r>
            <a:r>
              <a:rPr lang="ru-RU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.stderr.strip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Копирование файла на удаленный сервер</a:t>
            </a:r>
            <a:endParaRPr lang="ru-RU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"local_file.txt"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"/</a:t>
            </a:r>
            <a:r>
              <a:rPr lang="en-US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remote_path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/local_file.txt"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C7C4A8C-DE18-24B9-FE4C-48320063D5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65</a:t>
            </a:fld>
            <a:endParaRPr lang="ru-RU"/>
          </a:p>
        </p:txBody>
      </p:sp>
      <p:cxnSp>
        <p:nvCxnSpPr>
          <p:cNvPr id="3" name="Straight Connector 4">
            <a:extLst>
              <a:ext uri="{FF2B5EF4-FFF2-40B4-BE49-F238E27FC236}">
                <a16:creationId xmlns:a16="http://schemas.microsoft.com/office/drawing/2014/main" id="{9273A5C4-EE20-5338-0A62-E9A07CAA238C}"/>
              </a:ext>
            </a:extLst>
          </p:cNvPr>
          <p:cNvCxnSpPr>
            <a:cxnSpLocks/>
          </p:cNvCxnSpPr>
          <p:nvPr/>
        </p:nvCxnSpPr>
        <p:spPr>
          <a:xfrm>
            <a:off x="1452229" y="4930846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D34A77C-8B7D-1E09-298A-0D5461776473}"/>
              </a:ext>
            </a:extLst>
          </p:cNvPr>
          <p:cNvSpPr txBox="1"/>
          <p:nvPr/>
        </p:nvSpPr>
        <p:spPr>
          <a:xfrm>
            <a:off x="1452228" y="4930846"/>
            <a:ext cx="86568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Результат команды: </a:t>
            </a:r>
            <a:r>
              <a:rPr lang="en-US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Hello,World</a:t>
            </a:r>
            <a:r>
              <a:rPr lang="en-US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!</a:t>
            </a:r>
          </a:p>
          <a:p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Ошибки команды: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012236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651BF-CCC9-B000-481C-A74D82C9A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DA96E51-DDE3-9A53-0434-9C07CD426B65}"/>
              </a:ext>
            </a:extLst>
          </p:cNvPr>
          <p:cNvSpPr txBox="1"/>
          <p:nvPr/>
        </p:nvSpPr>
        <p:spPr>
          <a:xfrm>
            <a:off x="1452229" y="360947"/>
            <a:ext cx="9134340" cy="3331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ru-R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Модуль для работы с докером из </a:t>
            </a: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python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pip install docker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docker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Подключение к </a:t>
            </a: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Docker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client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docker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from_env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Список всех контейнеров</a:t>
            </a:r>
            <a:endParaRPr lang="ru-RU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container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client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containers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all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Контейнер: </a:t>
            </a:r>
            <a:r>
              <a:rPr lang="ru-RU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container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.name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статус: </a:t>
            </a:r>
            <a:r>
              <a:rPr lang="ru-RU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container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.status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Запуск нового контейнера</a:t>
            </a:r>
            <a:endParaRPr lang="ru-RU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container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client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containers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"nginx"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detach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ports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"80/</a:t>
            </a:r>
            <a:r>
              <a:rPr lang="en-US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tcp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8080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Запущен контейнер: </a:t>
            </a:r>
            <a:r>
              <a:rPr lang="ru-RU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container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Остановка контейнера</a:t>
            </a:r>
            <a:endParaRPr lang="ru-RU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container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stop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Контейнер </a:t>
            </a:r>
            <a:r>
              <a:rPr lang="ru-RU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container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остановлен."</a:t>
            </a:r>
            <a:r>
              <a:rPr lang="ru-R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C7C4A8C-DE18-24B9-FE4C-48320063D5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66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380212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651BF-CCC9-B000-481C-A74D82C9A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DA96E51-DDE3-9A53-0434-9C07CD426B65}"/>
              </a:ext>
            </a:extLst>
          </p:cNvPr>
          <p:cNvSpPr txBox="1"/>
          <p:nvPr/>
        </p:nvSpPr>
        <p:spPr>
          <a:xfrm>
            <a:off x="1452229" y="360947"/>
            <a:ext cx="9134340" cy="3331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GitPython</a:t>
            </a: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для работы с репозиториями</a:t>
            </a:r>
            <a:endParaRPr lang="ru-RU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ru-R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pip install </a:t>
            </a:r>
            <a:r>
              <a:rPr lang="en-US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gitpython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git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Repo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Клонирование репозитория</a:t>
            </a:r>
            <a:endParaRPr lang="ru-RU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repo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Repo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clone_from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"https://github.com/example/</a:t>
            </a:r>
            <a:r>
              <a:rPr lang="en-US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repo.git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"example"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Создание новой ветки</a:t>
            </a:r>
            <a:endParaRPr lang="ru-RU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new_branch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repo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create_head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new_branch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new_branch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checkout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Добавление изменений и коммит</a:t>
            </a:r>
            <a:endParaRPr lang="ru-RU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repo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"file.txt"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</a:pP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repo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commit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Добавлен файл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file.txt"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Push </a:t>
            </a:r>
            <a:r>
              <a:rPr lang="ru-R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изменений</a:t>
            </a:r>
            <a:endParaRPr lang="ru-RU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repo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remotes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.origin.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new_branch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C7C4A8C-DE18-24B9-FE4C-48320063D5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67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282619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651BF-CCC9-B000-481C-A74D82C9A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DA96E51-DDE3-9A53-0434-9C07CD426B65}"/>
              </a:ext>
            </a:extLst>
          </p:cNvPr>
          <p:cNvSpPr txBox="1"/>
          <p:nvPr/>
        </p:nvSpPr>
        <p:spPr>
          <a:xfrm>
            <a:off x="1452229" y="360947"/>
            <a:ext cx="9134340" cy="3331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ru-R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Автоматизация задач и "имитация" пользователя</a:t>
            </a:r>
            <a:endParaRPr lang="ru-RU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ru-R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pip install selenium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selenium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webdriver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Запуск браузера</a:t>
            </a:r>
            <a:endParaRPr lang="ru-RU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driver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webdriver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Chrome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Открытие страницы</a:t>
            </a:r>
            <a:endParaRPr lang="ru-RU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driver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"https://example.com"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Поиск элемента и взаимодействие с ним</a:t>
            </a:r>
            <a:endParaRPr lang="ru-RU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search_box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driver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find_element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"q"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search_box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send_keys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"DevOps"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search_box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submit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Закрытие браузера</a:t>
            </a:r>
            <a:endParaRPr lang="ru-RU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driver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quit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C7C4A8C-DE18-24B9-FE4C-48320063D5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68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246207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651BF-CCC9-B000-481C-A74D82C9A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DA96E51-DDE3-9A53-0434-9C07CD426B65}"/>
              </a:ext>
            </a:extLst>
          </p:cNvPr>
          <p:cNvSpPr txBox="1"/>
          <p:nvPr/>
        </p:nvSpPr>
        <p:spPr>
          <a:xfrm>
            <a:off x="1452229" y="360947"/>
            <a:ext cx="9134340" cy="3152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requests </a:t>
            </a:r>
            <a:r>
              <a:rPr lang="ru-R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для работы с </a:t>
            </a: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HTTP </a:t>
            </a:r>
            <a:r>
              <a:rPr lang="ru-R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запросами</a:t>
            </a:r>
            <a:endParaRPr lang="ru-RU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ru-R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pip install requests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requests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GET-</a:t>
            </a:r>
            <a:r>
              <a:rPr lang="ru-R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запрос</a:t>
            </a:r>
            <a:endParaRPr lang="ru-RU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requests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"https://api.github.com"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POST-</a:t>
            </a:r>
            <a:r>
              <a:rPr lang="ru-R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запрос</a:t>
            </a:r>
            <a:endParaRPr lang="ru-RU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"new-repo"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"private"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requests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post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"https://api.github.com/user/repos"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headers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"Authorization"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"token &lt;</a:t>
            </a:r>
            <a:r>
              <a:rPr lang="en-US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your_token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&gt;"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status_code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201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Репозиторий успешно создан."</a:t>
            </a:r>
            <a:r>
              <a:rPr lang="ru-R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Ошибка: </a:t>
            </a:r>
            <a:r>
              <a:rPr lang="ru-RU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status_code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C7C4A8C-DE18-24B9-FE4C-48320063D5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69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43423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C5287-1196-3B18-F8F7-C2214FC5A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708447-7762-D2AE-3F97-6A9E4CAF82ED}"/>
              </a:ext>
            </a:extLst>
          </p:cNvPr>
          <p:cNvSpPr txBox="1"/>
          <p:nvPr/>
        </p:nvSpPr>
        <p:spPr>
          <a:xfrm>
            <a:off x="749300" y="419100"/>
            <a:ext cx="35125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303938"/>
                </a:solidFill>
                <a:latin typeface="IBM Plex Mono" panose="020B0509050203000203" pitchFamily="49" charset="77"/>
              </a:rPr>
              <a:t>HTTP </a:t>
            </a:r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</a:rPr>
              <a:t>запросы</a:t>
            </a:r>
            <a:endParaRPr lang="en-RU" sz="3600" b="1" dirty="0">
              <a:solidFill>
                <a:srgbClr val="303938"/>
              </a:solidFill>
              <a:latin typeface="IBM Plex Mono" panose="020B0509050203000203" pitchFamily="49" charset="77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DF52E04-ECAC-AF17-A4C4-B75D2B19DC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70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2CF171-3E08-1A3E-0916-6CC0F1C90D79}"/>
              </a:ext>
            </a:extLst>
          </p:cNvPr>
          <p:cNvSpPr txBox="1"/>
          <p:nvPr/>
        </p:nvSpPr>
        <p:spPr>
          <a:xfrm>
            <a:off x="749300" y="1279009"/>
            <a:ext cx="10921999" cy="5196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16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GET</a:t>
            </a:r>
            <a:r>
              <a:rPr lang="ru-RU" sz="16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: Используется для получения данных с сервера, например, загрузка веб-страницы или получение информации через </a:t>
            </a:r>
            <a:r>
              <a:rPr lang="ru-RU" sz="16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API</a:t>
            </a:r>
            <a:r>
              <a:rPr lang="ru-RU" sz="16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.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ru-RU" sz="16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16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POST</a:t>
            </a:r>
            <a:r>
              <a:rPr lang="ru-RU" sz="16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: Отправляет данные на сервер для создания нового ресурса, например, отправка формы или добавление записи в базу данных.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ru-RU" sz="16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16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PUT</a:t>
            </a:r>
            <a:r>
              <a:rPr lang="ru-RU" sz="16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: Полностью обновляет существующий ресурс на сервере. Если ресурс отсутствует, сервер может его создать.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ru-RU" sz="16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16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PATCH</a:t>
            </a:r>
            <a:r>
              <a:rPr lang="ru-RU" sz="16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: Частично обновляет существующий ресурс, изменяя только указанные поля.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ru-RU" sz="16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16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DELETE</a:t>
            </a:r>
            <a:r>
              <a:rPr lang="ru-RU" sz="16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: Удаляет ресурс на сервере.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ru-RU" sz="16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16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HEAD</a:t>
            </a:r>
            <a:r>
              <a:rPr lang="ru-RU" sz="16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: Запрашивает только заголовки ресурса, без тела ответа. Используется для проверки метаинформации.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ru-RU" sz="16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16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OPTIONS</a:t>
            </a:r>
            <a:r>
              <a:rPr lang="ru-RU" sz="16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: Запрашивает доступные </a:t>
            </a:r>
            <a:r>
              <a:rPr lang="ru-RU" sz="16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HTTP</a:t>
            </a:r>
            <a:r>
              <a:rPr lang="ru-RU" sz="16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-методы для определённого ресурса на сервере.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ru-RU" sz="16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1600" b="1" dirty="0" err="1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Custom</a:t>
            </a:r>
            <a:r>
              <a:rPr lang="ru-RU" sz="16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 </a:t>
            </a:r>
            <a:r>
              <a:rPr lang="ru-RU" sz="1600" b="1" dirty="0" err="1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Methods</a:t>
            </a:r>
            <a:r>
              <a:rPr lang="ru-RU" sz="16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: Позволяет отправлять запросы с нестандартными или редко используемыми </a:t>
            </a:r>
            <a:r>
              <a:rPr lang="ru-RU" sz="16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HTTP</a:t>
            </a:r>
            <a:r>
              <a:rPr lang="ru-RU" sz="16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-методами, такими как </a:t>
            </a:r>
            <a:r>
              <a:rPr lang="ru-RU" sz="16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COPY</a:t>
            </a:r>
            <a:r>
              <a:rPr lang="ru-RU" sz="16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 или </a:t>
            </a:r>
            <a:r>
              <a:rPr lang="ru-RU" sz="16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LINK</a:t>
            </a:r>
            <a:r>
              <a:rPr lang="ru-RU" sz="16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7948738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54703-898E-65A7-6719-99387604D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8FDDC19-920C-24C5-1671-88840820A5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>
              <a:spcAft>
                <a:spcPts val="600"/>
              </a:spcAft>
            </a:pPr>
            <a:fld id="{3C697622-B3A2-44EB-9C38-BCDA5E89629C}" type="slidenum">
              <a:rPr lang="en-US">
                <a:solidFill>
                  <a:srgbClr val="FFFFFF"/>
                </a:solidFill>
              </a:rPr>
              <a:pPr latinLnBrk="0">
                <a:spcAft>
                  <a:spcPts val="600"/>
                </a:spcAft>
              </a:pPr>
              <a:t>71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EFA675-7FAA-EF5C-CC5A-7C4C6089F9A4}"/>
              </a:ext>
            </a:extLst>
          </p:cNvPr>
          <p:cNvSpPr txBox="1"/>
          <p:nvPr/>
        </p:nvSpPr>
        <p:spPr>
          <a:xfrm>
            <a:off x="3951858" y="2897386"/>
            <a:ext cx="42883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 err="1">
                <a:latin typeface="Press Start 2P" pitchFamily="2" charset="0"/>
              </a:rPr>
              <a:t>argparse</a:t>
            </a:r>
            <a:endParaRPr lang="en-GB" sz="4000" dirty="0">
              <a:latin typeface="Press Start 2P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72437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651BF-CCC9-B000-481C-A74D82C9A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DA96E51-DDE3-9A53-0434-9C07CD426B65}"/>
              </a:ext>
            </a:extLst>
          </p:cNvPr>
          <p:cNvSpPr txBox="1"/>
          <p:nvPr/>
        </p:nvSpPr>
        <p:spPr>
          <a:xfrm>
            <a:off x="1452229" y="360947"/>
            <a:ext cx="9134340" cy="2434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argparse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Создание парсера</a:t>
            </a:r>
            <a:endParaRPr lang="ru-RU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parser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argparse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ArgumentParser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description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Приветствие пользователя"</a:t>
            </a:r>
            <a:r>
              <a:rPr lang="ru-R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ru-R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ru-R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Добавление аргументов</a:t>
            </a:r>
            <a:endParaRPr lang="ru-RU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parser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add_argument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help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Имя пользователя"</a:t>
            </a:r>
            <a:r>
              <a:rPr lang="ru-R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ru-R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ru-R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Парсинг</a:t>
            </a:r>
            <a:r>
              <a:rPr lang="ru-R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аргументов</a:t>
            </a:r>
            <a:endParaRPr lang="ru-RU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parser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parse_args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Использование аргументов</a:t>
            </a:r>
            <a:endParaRPr lang="ru-RU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Привет, </a:t>
            </a:r>
            <a:r>
              <a:rPr lang="ru-RU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.name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!"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C7C4A8C-DE18-24B9-FE4C-48320063D5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72</a:t>
            </a:fld>
            <a:endParaRPr lang="ru-RU"/>
          </a:p>
        </p:txBody>
      </p:sp>
      <p:cxnSp>
        <p:nvCxnSpPr>
          <p:cNvPr id="3" name="Straight Connector 4">
            <a:extLst>
              <a:ext uri="{FF2B5EF4-FFF2-40B4-BE49-F238E27FC236}">
                <a16:creationId xmlns:a16="http://schemas.microsoft.com/office/drawing/2014/main" id="{DCBA59C9-4A5E-E78D-6A46-D71CE5410BED}"/>
              </a:ext>
            </a:extLst>
          </p:cNvPr>
          <p:cNvCxnSpPr>
            <a:cxnSpLocks/>
          </p:cNvCxnSpPr>
          <p:nvPr/>
        </p:nvCxnSpPr>
        <p:spPr>
          <a:xfrm>
            <a:off x="1452229" y="3193486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5B8CFFE-E892-6D44-ED59-1B75C595B9B9}"/>
              </a:ext>
            </a:extLst>
          </p:cNvPr>
          <p:cNvSpPr txBox="1"/>
          <p:nvPr/>
        </p:nvSpPr>
        <p:spPr>
          <a:xfrm>
            <a:off x="1452228" y="3193486"/>
            <a:ext cx="8656813" cy="2793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python3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test.py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Андрей</a:t>
            </a:r>
            <a:endParaRPr lang="en-US" sz="1600" b="0" dirty="0">
              <a:solidFill>
                <a:srgbClr val="CE917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endParaRPr lang="en-US" sz="1600" dirty="0">
              <a:solidFill>
                <a:srgbClr val="CE9178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ru-RU" sz="1600" b="0" dirty="0">
                <a:effectLst/>
                <a:latin typeface="Consolas" panose="020B0609020204030204" pitchFamily="49" charset="0"/>
              </a:rPr>
              <a:t>Привет, Андрей!</a:t>
            </a:r>
            <a:endParaRPr lang="en-US" sz="160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endParaRPr lang="en-US" sz="1600" dirty="0"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python3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test.py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--help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endParaRPr lang="en-US" sz="160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>
                <a:effectLst/>
                <a:latin typeface="Consolas" panose="020B0609020204030204" pitchFamily="49" charset="0"/>
              </a:rPr>
              <a:t>usage: test.py [-h] name</a:t>
            </a:r>
          </a:p>
          <a:p>
            <a:pPr>
              <a:lnSpc>
                <a:spcPts val="1425"/>
              </a:lnSpc>
            </a:pPr>
            <a:endParaRPr lang="en-US" sz="160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ru-RU" sz="1600" b="0" dirty="0">
                <a:effectLst/>
                <a:latin typeface="Consolas" panose="020B0609020204030204" pitchFamily="49" charset="0"/>
              </a:rPr>
              <a:t>Приветствие пользователя</a:t>
            </a:r>
          </a:p>
          <a:p>
            <a:pPr>
              <a:lnSpc>
                <a:spcPts val="1425"/>
              </a:lnSpc>
            </a:pPr>
            <a:endParaRPr lang="ru-RU" sz="160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>
                <a:effectLst/>
                <a:latin typeface="Consolas" panose="020B0609020204030204" pitchFamily="49" charset="0"/>
              </a:rPr>
              <a:t>positional arguments: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effectLst/>
                <a:latin typeface="Consolas" panose="020B0609020204030204" pitchFamily="49" charset="0"/>
              </a:rPr>
              <a:t>  name        </a:t>
            </a:r>
            <a:r>
              <a:rPr lang="ru-RU" sz="1600" b="0" dirty="0">
                <a:effectLst/>
                <a:latin typeface="Consolas" panose="020B0609020204030204" pitchFamily="49" charset="0"/>
              </a:rPr>
              <a:t>Имя пользователя</a:t>
            </a:r>
          </a:p>
          <a:p>
            <a:pPr>
              <a:lnSpc>
                <a:spcPts val="1425"/>
              </a:lnSpc>
            </a:pPr>
            <a:endParaRPr lang="ru-RU" sz="160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>
                <a:effectLst/>
                <a:latin typeface="Consolas" panose="020B0609020204030204" pitchFamily="49" charset="0"/>
              </a:rPr>
              <a:t>options: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effectLst/>
                <a:latin typeface="Consolas" panose="020B0609020204030204" pitchFamily="49" charset="0"/>
              </a:rPr>
              <a:t>  -h, --help  show this help message and exit</a:t>
            </a:r>
            <a:endParaRPr lang="ru-RU" sz="1600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562381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064DB-4DE9-850A-E5B0-2E9F2D112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C39A9E-8AEF-70EF-9EAE-DD2AEF570BCA}"/>
              </a:ext>
            </a:extLst>
          </p:cNvPr>
          <p:cNvSpPr txBox="1"/>
          <p:nvPr/>
        </p:nvSpPr>
        <p:spPr>
          <a:xfrm>
            <a:off x="1452229" y="360947"/>
            <a:ext cx="9134340" cy="2434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argparse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parser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argparse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ArgumentParser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description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Информация о пользователе"</a:t>
            </a:r>
            <a:r>
              <a:rPr lang="ru-R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parser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add_argument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help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Имя пользователя"</a:t>
            </a:r>
            <a:r>
              <a:rPr lang="ru-R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parser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add_argument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"--age"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help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Возраст пользователя (опционально)"</a:t>
            </a:r>
            <a:r>
              <a:rPr lang="ru-R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ru-R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parser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parse_args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.age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Привет, </a:t>
            </a:r>
            <a:r>
              <a:rPr lang="ru-RU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.name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! </a:t>
            </a:r>
            <a:r>
              <a:rPr lang="ru-R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Тебе </a:t>
            </a:r>
            <a:r>
              <a:rPr lang="ru-RU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.age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лет."</a:t>
            </a:r>
            <a:r>
              <a:rPr lang="ru-R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Привет, </a:t>
            </a:r>
            <a:r>
              <a:rPr lang="ru-RU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.name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!"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814C441-F0AC-2E62-BBAE-30D0700648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73</a:t>
            </a:fld>
            <a:endParaRPr lang="ru-RU"/>
          </a:p>
        </p:txBody>
      </p:sp>
      <p:cxnSp>
        <p:nvCxnSpPr>
          <p:cNvPr id="3" name="Straight Connector 4">
            <a:extLst>
              <a:ext uri="{FF2B5EF4-FFF2-40B4-BE49-F238E27FC236}">
                <a16:creationId xmlns:a16="http://schemas.microsoft.com/office/drawing/2014/main" id="{7344BEB2-BA05-F788-A302-E219DC821A42}"/>
              </a:ext>
            </a:extLst>
          </p:cNvPr>
          <p:cNvCxnSpPr>
            <a:cxnSpLocks/>
          </p:cNvCxnSpPr>
          <p:nvPr/>
        </p:nvCxnSpPr>
        <p:spPr>
          <a:xfrm>
            <a:off x="1497841" y="4504129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5D35D48-A4CB-7DD2-7B0B-B35251AA0A32}"/>
              </a:ext>
            </a:extLst>
          </p:cNvPr>
          <p:cNvSpPr txBox="1"/>
          <p:nvPr/>
        </p:nvSpPr>
        <p:spPr>
          <a:xfrm>
            <a:off x="1497840" y="4504129"/>
            <a:ext cx="8656813" cy="1356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python3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test.py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Алиса</a:t>
            </a:r>
          </a:p>
          <a:p>
            <a:pPr>
              <a:lnSpc>
                <a:spcPts val="1425"/>
              </a:lnSpc>
            </a:pPr>
            <a:endParaRPr lang="ru-RU" sz="1600" dirty="0">
              <a:solidFill>
                <a:srgbClr val="CE9178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ru-RU" sz="1600" b="0" dirty="0">
                <a:effectLst/>
                <a:latin typeface="Consolas" panose="020B0609020204030204" pitchFamily="49" charset="0"/>
              </a:rPr>
              <a:t>Привет, Алиса!</a:t>
            </a:r>
          </a:p>
          <a:p>
            <a:pPr>
              <a:lnSpc>
                <a:spcPts val="1425"/>
              </a:lnSpc>
            </a:pPr>
            <a:endParaRPr lang="ru-RU" sz="1600" dirty="0">
              <a:solidFill>
                <a:srgbClr val="CE9178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python3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test.py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Алиса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--age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24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endParaRPr lang="en-US" sz="1600" b="0" dirty="0">
              <a:solidFill>
                <a:srgbClr val="CE917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ru-RU" sz="1600" b="0" dirty="0">
                <a:effectLst/>
                <a:latin typeface="Consolas" panose="020B0609020204030204" pitchFamily="49" charset="0"/>
              </a:rPr>
              <a:t>Привет, Алиса! Тебе 24 лет.</a:t>
            </a:r>
          </a:p>
        </p:txBody>
      </p:sp>
    </p:spTree>
    <p:extLst>
      <p:ext uri="{BB962C8B-B14F-4D97-AF65-F5344CB8AC3E}">
        <p14:creationId xmlns:p14="http://schemas.microsoft.com/office/powerpoint/2010/main" val="176394152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064DB-4DE9-850A-E5B0-2E9F2D112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C39A9E-8AEF-70EF-9EAE-DD2AEF570BCA}"/>
              </a:ext>
            </a:extLst>
          </p:cNvPr>
          <p:cNvSpPr txBox="1"/>
          <p:nvPr/>
        </p:nvSpPr>
        <p:spPr>
          <a:xfrm>
            <a:off x="1452229" y="360947"/>
            <a:ext cx="9134340" cy="2254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argparse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parser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argparse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ArgumentParser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description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Пример с флагами"</a:t>
            </a:r>
            <a:r>
              <a:rPr lang="ru-R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parser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add_argument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"--verbose"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action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store_true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help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Включить подробный вывод"</a:t>
            </a:r>
            <a:r>
              <a:rPr lang="ru-R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ru-R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parser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parse_args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.verbose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Программа будет выводить дополнительную информацию во время работы"</a:t>
            </a:r>
            <a:r>
              <a:rPr lang="ru-R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Обычный режим"</a:t>
            </a:r>
            <a:r>
              <a:rPr lang="ru-R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814C441-F0AC-2E62-BBAE-30D0700648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74</a:t>
            </a:fld>
            <a:endParaRPr lang="ru-RU"/>
          </a:p>
        </p:txBody>
      </p:sp>
      <p:cxnSp>
        <p:nvCxnSpPr>
          <p:cNvPr id="3" name="Straight Connector 4">
            <a:extLst>
              <a:ext uri="{FF2B5EF4-FFF2-40B4-BE49-F238E27FC236}">
                <a16:creationId xmlns:a16="http://schemas.microsoft.com/office/drawing/2014/main" id="{7344BEB2-BA05-F788-A302-E219DC821A42}"/>
              </a:ext>
            </a:extLst>
          </p:cNvPr>
          <p:cNvCxnSpPr>
            <a:cxnSpLocks/>
          </p:cNvCxnSpPr>
          <p:nvPr/>
        </p:nvCxnSpPr>
        <p:spPr>
          <a:xfrm>
            <a:off x="1497841" y="4504129"/>
            <a:ext cx="91963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5D35D48-A4CB-7DD2-7B0B-B35251AA0A32}"/>
              </a:ext>
            </a:extLst>
          </p:cNvPr>
          <p:cNvSpPr txBox="1"/>
          <p:nvPr/>
        </p:nvSpPr>
        <p:spPr>
          <a:xfrm>
            <a:off x="1497840" y="4504129"/>
            <a:ext cx="8656813" cy="638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python3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test.py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Алиса</a:t>
            </a:r>
            <a:r>
              <a:rPr lang="ru-R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verbose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endParaRPr lang="ru-RU" sz="1600" dirty="0">
              <a:solidFill>
                <a:srgbClr val="CE9178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ru-RU" sz="1600" b="0" dirty="0">
                <a:effectLst/>
                <a:latin typeface="Consolas" panose="020B0609020204030204" pitchFamily="49" charset="0"/>
              </a:rPr>
              <a:t>Программа будет выводить дополнительную информацию во время работы</a:t>
            </a:r>
            <a:endParaRPr lang="ru-RU" sz="1600" dirty="0">
              <a:solidFill>
                <a:srgbClr val="CE9178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855379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A2EF9-42FC-33E1-D0FA-1AF63136E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1CF9A56-DF5C-F4F2-BEB6-7D539128E5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>
              <a:spcAft>
                <a:spcPts val="600"/>
              </a:spcAft>
            </a:pPr>
            <a:fld id="{3C697622-B3A2-44EB-9C38-BCDA5E89629C}" type="slidenum">
              <a:rPr lang="en-US">
                <a:solidFill>
                  <a:srgbClr val="FFFFFF"/>
                </a:solidFill>
              </a:rPr>
              <a:pPr latinLnBrk="0">
                <a:spcAft>
                  <a:spcPts val="600"/>
                </a:spcAft>
              </a:pPr>
              <a:t>75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8A4AC1-4623-3F25-BDEF-AB8D9C07ABC2}"/>
              </a:ext>
            </a:extLst>
          </p:cNvPr>
          <p:cNvSpPr txBox="1"/>
          <p:nvPr/>
        </p:nvSpPr>
        <p:spPr>
          <a:xfrm>
            <a:off x="4208340" y="2897386"/>
            <a:ext cx="37753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>
                <a:latin typeface="Press Start 2P" pitchFamily="2" charset="0"/>
              </a:rPr>
              <a:t>Logging</a:t>
            </a:r>
            <a:endParaRPr lang="en-GB" sz="4000" dirty="0">
              <a:latin typeface="Press Start 2P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482039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6965E-5125-1FEC-6D7F-0BE290753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E4D062A-ED13-8DCF-B8F4-A61D3526CFAF}"/>
              </a:ext>
            </a:extLst>
          </p:cNvPr>
          <p:cNvSpPr txBox="1"/>
          <p:nvPr/>
        </p:nvSpPr>
        <p:spPr>
          <a:xfrm>
            <a:off x="1452229" y="360947"/>
            <a:ext cx="9134340" cy="2075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logging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Настройка уровня логирования</a:t>
            </a:r>
            <a:endParaRPr lang="ru-RU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logging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basicConfig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level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logging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Логирование сообщений</a:t>
            </a:r>
            <a:endParaRPr lang="ru-RU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logging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debug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Это отладочное сообщение."</a:t>
            </a:r>
            <a:r>
              <a:rPr lang="ru-R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logging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Это информационное сообщение."</a:t>
            </a:r>
            <a:r>
              <a:rPr lang="ru-R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logging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warning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Это предупреждение."</a:t>
            </a:r>
            <a:r>
              <a:rPr lang="ru-R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logging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Это сообщение об ошибке."</a:t>
            </a:r>
            <a:r>
              <a:rPr lang="ru-R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logging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critical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Это критическое сообщение."</a:t>
            </a:r>
            <a:r>
              <a:rPr lang="ru-R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31BCBE9-097B-0760-81A8-AC8EDAA52C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76</a:t>
            </a:fld>
            <a:endParaRPr lang="ru-RU"/>
          </a:p>
        </p:txBody>
      </p:sp>
      <p:cxnSp>
        <p:nvCxnSpPr>
          <p:cNvPr id="3" name="Straight Connector 4">
            <a:extLst>
              <a:ext uri="{FF2B5EF4-FFF2-40B4-BE49-F238E27FC236}">
                <a16:creationId xmlns:a16="http://schemas.microsoft.com/office/drawing/2014/main" id="{AF1F489A-F7C2-8EA2-DD9B-77E0872DB468}"/>
              </a:ext>
            </a:extLst>
          </p:cNvPr>
          <p:cNvCxnSpPr>
            <a:cxnSpLocks/>
          </p:cNvCxnSpPr>
          <p:nvPr/>
        </p:nvCxnSpPr>
        <p:spPr>
          <a:xfrm>
            <a:off x="1474952" y="4806155"/>
            <a:ext cx="9242095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911B7BA-EDE9-446B-53CA-DBF2540E31B9}"/>
              </a:ext>
            </a:extLst>
          </p:cNvPr>
          <p:cNvSpPr txBox="1"/>
          <p:nvPr/>
        </p:nvSpPr>
        <p:spPr>
          <a:xfrm>
            <a:off x="1474951" y="4806155"/>
            <a:ext cx="8656813" cy="818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ru-RU" sz="1600" b="0" dirty="0" err="1">
                <a:effectLst/>
                <a:latin typeface="Consolas" panose="020B0609020204030204" pitchFamily="49" charset="0"/>
              </a:rPr>
              <a:t>INFO:root:Это</a:t>
            </a:r>
            <a:r>
              <a:rPr lang="ru-RU" sz="1600" b="0" dirty="0">
                <a:effectLst/>
                <a:latin typeface="Consolas" panose="020B0609020204030204" pitchFamily="49" charset="0"/>
              </a:rPr>
              <a:t> информационное сообщение.</a:t>
            </a:r>
          </a:p>
          <a:p>
            <a:pPr>
              <a:lnSpc>
                <a:spcPts val="1425"/>
              </a:lnSpc>
            </a:pPr>
            <a:r>
              <a:rPr lang="ru-RU" sz="1600" b="0" dirty="0" err="1">
                <a:effectLst/>
                <a:latin typeface="Consolas" panose="020B0609020204030204" pitchFamily="49" charset="0"/>
              </a:rPr>
              <a:t>WARNING:root:Это</a:t>
            </a:r>
            <a:r>
              <a:rPr lang="ru-RU" sz="1600" b="0" dirty="0">
                <a:effectLst/>
                <a:latin typeface="Consolas" panose="020B0609020204030204" pitchFamily="49" charset="0"/>
              </a:rPr>
              <a:t> предупреждение.</a:t>
            </a:r>
          </a:p>
          <a:p>
            <a:pPr>
              <a:lnSpc>
                <a:spcPts val="1425"/>
              </a:lnSpc>
            </a:pPr>
            <a:r>
              <a:rPr lang="ru-RU" sz="1600" b="0" dirty="0" err="1">
                <a:effectLst/>
                <a:latin typeface="Consolas" panose="020B0609020204030204" pitchFamily="49" charset="0"/>
              </a:rPr>
              <a:t>ERROR:root:Это</a:t>
            </a:r>
            <a:r>
              <a:rPr lang="ru-RU" sz="1600" b="0" dirty="0">
                <a:effectLst/>
                <a:latin typeface="Consolas" panose="020B0609020204030204" pitchFamily="49" charset="0"/>
              </a:rPr>
              <a:t> сообщение об ошибке.</a:t>
            </a:r>
          </a:p>
          <a:p>
            <a:pPr>
              <a:lnSpc>
                <a:spcPts val="1425"/>
              </a:lnSpc>
            </a:pPr>
            <a:r>
              <a:rPr lang="ru-RU" sz="1600" b="0" dirty="0" err="1">
                <a:effectLst/>
                <a:latin typeface="Consolas" panose="020B0609020204030204" pitchFamily="49" charset="0"/>
              </a:rPr>
              <a:t>CRITICAL:root:Это</a:t>
            </a:r>
            <a:r>
              <a:rPr lang="ru-RU" sz="1600" b="0" dirty="0">
                <a:effectLst/>
                <a:latin typeface="Consolas" panose="020B0609020204030204" pitchFamily="49" charset="0"/>
              </a:rPr>
              <a:t> критическое сообщение.</a:t>
            </a:r>
          </a:p>
        </p:txBody>
      </p:sp>
    </p:spTree>
    <p:extLst>
      <p:ext uri="{BB962C8B-B14F-4D97-AF65-F5344CB8AC3E}">
        <p14:creationId xmlns:p14="http://schemas.microsoft.com/office/powerpoint/2010/main" val="253289767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C5287-1196-3B18-F8F7-C2214FC5A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708447-7762-D2AE-3F97-6A9E4CAF82ED}"/>
              </a:ext>
            </a:extLst>
          </p:cNvPr>
          <p:cNvSpPr txBox="1"/>
          <p:nvPr/>
        </p:nvSpPr>
        <p:spPr>
          <a:xfrm>
            <a:off x="749300" y="419100"/>
            <a:ext cx="54537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</a:rPr>
              <a:t>Уровни </a:t>
            </a:r>
            <a:r>
              <a:rPr lang="ru-RU" sz="3600" b="1" dirty="0" err="1">
                <a:solidFill>
                  <a:srgbClr val="303938"/>
                </a:solidFill>
                <a:latin typeface="IBM Plex Mono" panose="020B0509050203000203" pitchFamily="49" charset="77"/>
              </a:rPr>
              <a:t>логгирования</a:t>
            </a:r>
            <a:endParaRPr lang="en-RU" sz="3600" b="1" dirty="0">
              <a:solidFill>
                <a:srgbClr val="303938"/>
              </a:solidFill>
              <a:latin typeface="IBM Plex Mono" panose="020B0509050203000203" pitchFamily="49" charset="77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DF52E04-ECAC-AF17-A4C4-B75D2B19DC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77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2CF171-3E08-1A3E-0916-6CC0F1C90D79}"/>
              </a:ext>
            </a:extLst>
          </p:cNvPr>
          <p:cNvSpPr txBox="1"/>
          <p:nvPr/>
        </p:nvSpPr>
        <p:spPr>
          <a:xfrm>
            <a:off x="749300" y="1279009"/>
            <a:ext cx="10921999" cy="3518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DEBUG 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— отладочная информация.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INFO 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— общая информация.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WARNING 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— предупреждения о потенциальных проблемах.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ERROR 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— ошибки.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CRITICAL 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— критические ошибки.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ru-RU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ru-RU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endParaRPr lang="ru-RU" sz="2400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en-US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DEBUG</a:t>
            </a:r>
            <a:r>
              <a:rPr lang="en-US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 &lt; </a:t>
            </a:r>
            <a:r>
              <a:rPr lang="en-US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INFO</a:t>
            </a:r>
            <a:r>
              <a:rPr lang="en-US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 &lt; </a:t>
            </a:r>
            <a:r>
              <a:rPr lang="en-US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WARNING</a:t>
            </a:r>
            <a:r>
              <a:rPr lang="en-US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 &lt; </a:t>
            </a:r>
            <a:r>
              <a:rPr lang="en-US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ERROR</a:t>
            </a:r>
            <a:r>
              <a:rPr lang="en-US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 &lt; </a:t>
            </a:r>
            <a:r>
              <a:rPr lang="en-US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CRITICAL</a:t>
            </a:r>
            <a:endParaRPr lang="ru-RU" sz="2400" b="1" dirty="0">
              <a:solidFill>
                <a:srgbClr val="303938"/>
              </a:solidFill>
              <a:latin typeface="IBM Plex Mono" panose="020B0509050203000203" pitchFamily="49" charset="77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29307457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6965E-5125-1FEC-6D7F-0BE290753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E4D062A-ED13-8DCF-B8F4-A61D3526CFAF}"/>
              </a:ext>
            </a:extLst>
          </p:cNvPr>
          <p:cNvSpPr txBox="1"/>
          <p:nvPr/>
        </p:nvSpPr>
        <p:spPr>
          <a:xfrm>
            <a:off x="1452229" y="360947"/>
            <a:ext cx="9134340" cy="2434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logging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Настройка логирования в файл</a:t>
            </a:r>
            <a:endParaRPr lang="ru-RU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logging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basicConfig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filename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"app.log"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level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logging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DEBUG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format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%(</a:t>
            </a:r>
            <a:r>
              <a:rPr lang="en-US" sz="1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asctime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)s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%(</a:t>
            </a:r>
            <a:r>
              <a:rPr lang="en-US" sz="1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levelname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)s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%(message)s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encoding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'utf-8'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logging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Программа запущена."</a:t>
            </a:r>
            <a:r>
              <a:rPr lang="ru-R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logging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warning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Потенциальная проблема."</a:t>
            </a:r>
            <a:r>
              <a:rPr lang="ru-R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logging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Произошла ошибка."</a:t>
            </a:r>
            <a:r>
              <a:rPr lang="ru-R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31BCBE9-097B-0760-81A8-AC8EDAA52C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78</a:t>
            </a:fld>
            <a:endParaRPr lang="ru-RU"/>
          </a:p>
        </p:txBody>
      </p:sp>
      <p:cxnSp>
        <p:nvCxnSpPr>
          <p:cNvPr id="3" name="Straight Connector 4">
            <a:extLst>
              <a:ext uri="{FF2B5EF4-FFF2-40B4-BE49-F238E27FC236}">
                <a16:creationId xmlns:a16="http://schemas.microsoft.com/office/drawing/2014/main" id="{AF1F489A-F7C2-8EA2-DD9B-77E0872DB468}"/>
              </a:ext>
            </a:extLst>
          </p:cNvPr>
          <p:cNvCxnSpPr>
            <a:cxnSpLocks/>
          </p:cNvCxnSpPr>
          <p:nvPr/>
        </p:nvCxnSpPr>
        <p:spPr>
          <a:xfrm>
            <a:off x="1452229" y="4053853"/>
            <a:ext cx="9242095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3D3651A-95A7-EB09-075D-E2AF78DE9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2930" y="4235852"/>
            <a:ext cx="6025524" cy="1362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72136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6965E-5125-1FEC-6D7F-0BE290753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E4D062A-ED13-8DCF-B8F4-A61D3526CFAF}"/>
              </a:ext>
            </a:extLst>
          </p:cNvPr>
          <p:cNvSpPr txBox="1"/>
          <p:nvPr/>
        </p:nvSpPr>
        <p:spPr>
          <a:xfrm>
            <a:off x="1452229" y="360947"/>
            <a:ext cx="9134340" cy="40500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logging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Создание именованного логгера</a:t>
            </a:r>
            <a:endParaRPr lang="ru-RU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logging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getLogger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my_logger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setLevel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logging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DEBUG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Создание обработчика (например, для вывода в консоль)</a:t>
            </a:r>
            <a:endParaRPr lang="ru-RU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console_handler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logging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StreamHandler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Настройка уровня для обработчика</a:t>
            </a:r>
            <a:endParaRPr lang="ru-RU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console_handler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setLevel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logging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DEBUG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Определение формата для вывода</a:t>
            </a:r>
            <a:endParaRPr lang="ru-RU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formatter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logging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Formatter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%(name)s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%(</a:t>
            </a:r>
            <a:r>
              <a:rPr lang="en-US" sz="1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levelname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)s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%(message)s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console_handler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setFormatter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formatter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Добавление обработчика к логгеру</a:t>
            </a:r>
            <a:endParaRPr lang="ru-RU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addHandler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console_handler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Логирование сообщений</a:t>
            </a:r>
            <a:endParaRPr lang="ru-RU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debug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Это отладочное сообщение."</a:t>
            </a:r>
            <a:r>
              <a:rPr lang="ru-R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Это информационное сообщение."</a:t>
            </a:r>
            <a:r>
              <a:rPr lang="ru-R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31BCBE9-097B-0760-81A8-AC8EDAA52C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79</a:t>
            </a:fld>
            <a:endParaRPr lang="ru-RU"/>
          </a:p>
        </p:txBody>
      </p:sp>
      <p:cxnSp>
        <p:nvCxnSpPr>
          <p:cNvPr id="3" name="Straight Connector 4">
            <a:extLst>
              <a:ext uri="{FF2B5EF4-FFF2-40B4-BE49-F238E27FC236}">
                <a16:creationId xmlns:a16="http://schemas.microsoft.com/office/drawing/2014/main" id="{AF1F489A-F7C2-8EA2-DD9B-77E0872DB468}"/>
              </a:ext>
            </a:extLst>
          </p:cNvPr>
          <p:cNvCxnSpPr>
            <a:cxnSpLocks/>
          </p:cNvCxnSpPr>
          <p:nvPr/>
        </p:nvCxnSpPr>
        <p:spPr>
          <a:xfrm>
            <a:off x="1474952" y="4644056"/>
            <a:ext cx="9242095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2C551B1-E7CA-12E4-5AE8-8ABD444C43C8}"/>
              </a:ext>
            </a:extLst>
          </p:cNvPr>
          <p:cNvSpPr txBox="1"/>
          <p:nvPr/>
        </p:nvSpPr>
        <p:spPr>
          <a:xfrm>
            <a:off x="1474952" y="4595892"/>
            <a:ext cx="63737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my_logger</a:t>
            </a:r>
            <a:r>
              <a:rPr lang="ru-RU" dirty="0"/>
              <a:t> - DEBUG - Это отладочное сообщение.</a:t>
            </a:r>
          </a:p>
          <a:p>
            <a:r>
              <a:rPr lang="ru-RU" dirty="0" err="1"/>
              <a:t>my_logger</a:t>
            </a:r>
            <a:r>
              <a:rPr lang="ru-RU" dirty="0"/>
              <a:t> - INFO - Это информационное сообщение.</a:t>
            </a:r>
          </a:p>
        </p:txBody>
      </p:sp>
    </p:spTree>
    <p:extLst>
      <p:ext uri="{BB962C8B-B14F-4D97-AF65-F5344CB8AC3E}">
        <p14:creationId xmlns:p14="http://schemas.microsoft.com/office/powerpoint/2010/main" val="3850247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6965E-5125-1FEC-6D7F-0BE290753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E4D062A-ED13-8DCF-B8F4-A61D3526CFAF}"/>
              </a:ext>
            </a:extLst>
          </p:cNvPr>
          <p:cNvSpPr txBox="1"/>
          <p:nvPr/>
        </p:nvSpPr>
        <p:spPr>
          <a:xfrm>
            <a:off x="1452229" y="360947"/>
            <a:ext cx="9134340" cy="1716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logging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logging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basicConfig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level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logging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format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%(</a:t>
            </a:r>
            <a:r>
              <a:rPr lang="en-US" sz="1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asctime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)s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%(</a:t>
            </a:r>
            <a:r>
              <a:rPr lang="en-US" sz="1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levelname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)s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%(message)s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ZeroDivisionError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logging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Произошло деление на ноль"</a:t>
            </a:r>
            <a:r>
              <a:rPr lang="ru-R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31BCBE9-097B-0760-81A8-AC8EDAA52C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80</a:t>
            </a:fld>
            <a:endParaRPr lang="ru-RU"/>
          </a:p>
        </p:txBody>
      </p:sp>
      <p:cxnSp>
        <p:nvCxnSpPr>
          <p:cNvPr id="3" name="Straight Connector 4">
            <a:extLst>
              <a:ext uri="{FF2B5EF4-FFF2-40B4-BE49-F238E27FC236}">
                <a16:creationId xmlns:a16="http://schemas.microsoft.com/office/drawing/2014/main" id="{AF1F489A-F7C2-8EA2-DD9B-77E0872DB468}"/>
              </a:ext>
            </a:extLst>
          </p:cNvPr>
          <p:cNvCxnSpPr>
            <a:cxnSpLocks/>
          </p:cNvCxnSpPr>
          <p:nvPr/>
        </p:nvCxnSpPr>
        <p:spPr>
          <a:xfrm>
            <a:off x="1452229" y="3338958"/>
            <a:ext cx="9242095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2C551B1-E7CA-12E4-5AE8-8ABD444C43C8}"/>
              </a:ext>
            </a:extLst>
          </p:cNvPr>
          <p:cNvSpPr txBox="1"/>
          <p:nvPr/>
        </p:nvSpPr>
        <p:spPr>
          <a:xfrm>
            <a:off x="1452229" y="3338958"/>
            <a:ext cx="916728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2024-12-07 11:44:30,031 - ERROR - </a:t>
            </a:r>
            <a:r>
              <a:rPr lang="ru-RU" dirty="0"/>
              <a:t>Произошло деление на ноль</a:t>
            </a:r>
          </a:p>
          <a:p>
            <a:r>
              <a:rPr lang="en-US" dirty="0"/>
              <a:t>Traceback (most recent call last):</a:t>
            </a:r>
          </a:p>
          <a:p>
            <a:r>
              <a:rPr lang="en-US" dirty="0"/>
              <a:t>  File "c:\work\examples\lect6</a:t>
            </a:r>
            <a:r>
              <a:rPr lang="ru-RU" dirty="0"/>
              <a:t>\</a:t>
            </a:r>
            <a:r>
              <a:rPr lang="en-US" dirty="0"/>
              <a:t>test.py", line 6, in &lt;module&gt;</a:t>
            </a:r>
          </a:p>
          <a:p>
            <a:r>
              <a:rPr lang="en-US" dirty="0"/>
              <a:t>    1 / 0</a:t>
            </a:r>
          </a:p>
          <a:p>
            <a:r>
              <a:rPr lang="en-US" dirty="0"/>
              <a:t>    ~~^~~</a:t>
            </a:r>
          </a:p>
          <a:p>
            <a:r>
              <a:rPr lang="en-US" dirty="0" err="1"/>
              <a:t>ZeroDivisionError</a:t>
            </a:r>
            <a:r>
              <a:rPr lang="en-US" dirty="0"/>
              <a:t>: division by zero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229802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14028-2E18-7C13-523D-518BA11FA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BBBFD23-EA18-AAA9-FBC7-2C1DACE768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>
              <a:spcAft>
                <a:spcPts val="600"/>
              </a:spcAft>
            </a:pPr>
            <a:fld id="{3C697622-B3A2-44EB-9C38-BCDA5E89629C}" type="slidenum">
              <a:rPr lang="en-US">
                <a:solidFill>
                  <a:srgbClr val="FFFFFF"/>
                </a:solidFill>
              </a:rPr>
              <a:pPr latinLnBrk="0">
                <a:spcAft>
                  <a:spcPts val="600"/>
                </a:spcAft>
              </a:pPr>
              <a:t>81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997D5C-0D5C-8C28-882B-42DC667D97E8}"/>
              </a:ext>
            </a:extLst>
          </p:cNvPr>
          <p:cNvSpPr txBox="1"/>
          <p:nvPr/>
        </p:nvSpPr>
        <p:spPr>
          <a:xfrm>
            <a:off x="874099" y="2897386"/>
            <a:ext cx="104438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>
                <a:latin typeface="Press Start 2P" pitchFamily="2" charset="0"/>
              </a:rPr>
              <a:t>Обработка исключений</a:t>
            </a:r>
            <a:endParaRPr lang="en-GB" sz="4000" dirty="0">
              <a:latin typeface="Press Start 2P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033679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C5287-1196-3B18-F8F7-C2214FC5A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708447-7762-D2AE-3F97-6A9E4CAF82ED}"/>
              </a:ext>
            </a:extLst>
          </p:cNvPr>
          <p:cNvSpPr txBox="1"/>
          <p:nvPr/>
        </p:nvSpPr>
        <p:spPr>
          <a:xfrm>
            <a:off x="749300" y="419100"/>
            <a:ext cx="29578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</a:rPr>
              <a:t>Исключения</a:t>
            </a:r>
            <a:endParaRPr lang="en-RU" sz="3600" b="1" dirty="0">
              <a:solidFill>
                <a:srgbClr val="303938"/>
              </a:solidFill>
              <a:latin typeface="IBM Plex Mono" panose="020B0509050203000203" pitchFamily="49" charset="77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DF52E04-ECAC-AF17-A4C4-B75D2B19DC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82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2CF171-3E08-1A3E-0916-6CC0F1C90D79}"/>
              </a:ext>
            </a:extLst>
          </p:cNvPr>
          <p:cNvSpPr txBox="1"/>
          <p:nvPr/>
        </p:nvSpPr>
        <p:spPr>
          <a:xfrm>
            <a:off x="749300" y="1279009"/>
            <a:ext cx="109219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Исключение 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— это событие, возникающее во время выполнения программы, которое прерывает нормальный поток выполнения. Например, деление на ноль, попытка доступа к несуществующему файлу или синтаксическая ошибка могут вызвать исключение.</a:t>
            </a:r>
          </a:p>
        </p:txBody>
      </p:sp>
    </p:spTree>
    <p:extLst>
      <p:ext uri="{BB962C8B-B14F-4D97-AF65-F5344CB8AC3E}">
        <p14:creationId xmlns:p14="http://schemas.microsoft.com/office/powerpoint/2010/main" val="114186328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D6C03-C8C7-810B-314C-8225FA7A6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DF5202-A35F-ECA2-1222-737FFFB666FF}"/>
              </a:ext>
            </a:extLst>
          </p:cNvPr>
          <p:cNvSpPr txBox="1"/>
          <p:nvPr/>
        </p:nvSpPr>
        <p:spPr>
          <a:xfrm>
            <a:off x="749300" y="419100"/>
            <a:ext cx="37898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 err="1">
                <a:solidFill>
                  <a:srgbClr val="303938"/>
                </a:solidFill>
                <a:latin typeface="IBM Plex Mono" panose="020B0509050203000203" pitchFamily="49" charset="77"/>
              </a:rPr>
              <a:t>Клчевые</a:t>
            </a:r>
            <a:r>
              <a:rPr lang="ru-RU" sz="3600" b="1" dirty="0">
                <a:solidFill>
                  <a:srgbClr val="303938"/>
                </a:solidFill>
                <a:latin typeface="IBM Plex Mono" panose="020B0509050203000203" pitchFamily="49" charset="77"/>
              </a:rPr>
              <a:t> слова</a:t>
            </a:r>
            <a:endParaRPr lang="en-RU" sz="3600" b="1" dirty="0">
              <a:solidFill>
                <a:srgbClr val="303938"/>
              </a:solidFill>
              <a:latin typeface="IBM Plex Mono" panose="020B0509050203000203" pitchFamily="49" charset="77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7AA2A9F-C340-EB4A-5F1C-E51478E249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83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ABD3B7-C7B2-BCF2-012E-EBE3C6CC5903}"/>
              </a:ext>
            </a:extLst>
          </p:cNvPr>
          <p:cNvSpPr txBox="1"/>
          <p:nvPr/>
        </p:nvSpPr>
        <p:spPr>
          <a:xfrm>
            <a:off x="749300" y="1279009"/>
            <a:ext cx="10921999" cy="308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b="1" dirty="0" err="1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try</a:t>
            </a:r>
            <a:r>
              <a:rPr lang="ru-RU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: 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Блок, в котором выполняется код, способный вызвать исключение.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b="1" dirty="0" err="1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except</a:t>
            </a:r>
            <a:r>
              <a:rPr lang="ru-RU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: 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Блок, который обрабатывает конкретные типы исключений.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b="1" dirty="0" err="1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else</a:t>
            </a:r>
            <a:r>
              <a:rPr lang="ru-RU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: 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(опционально) Выполняется, если в блоке </a:t>
            </a:r>
            <a:r>
              <a:rPr lang="ru-RU" sz="2400" dirty="0" err="1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try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 исключений не было.</a:t>
            </a:r>
          </a:p>
          <a:p>
            <a:pPr marL="12700" marR="269875" lvl="0" algn="just" latinLnBrk="0">
              <a:spcBef>
                <a:spcPts val="95"/>
              </a:spcBef>
              <a:defRPr/>
            </a:pPr>
            <a:r>
              <a:rPr lang="ru-RU" sz="2400" b="1" dirty="0" err="1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finally</a:t>
            </a:r>
            <a:r>
              <a:rPr lang="ru-RU" sz="2400" b="1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: </a:t>
            </a:r>
            <a:r>
              <a:rPr lang="ru-RU" sz="2400" dirty="0">
                <a:solidFill>
                  <a:srgbClr val="303938"/>
                </a:solidFill>
                <a:latin typeface="IBM Plex Mono" panose="020B0509050203000203" pitchFamily="49" charset="77"/>
                <a:cs typeface="Tahoma"/>
              </a:rPr>
              <a:t>(опционально) Выполняется всегда, независимо от того, произошло исключение или нет.</a:t>
            </a:r>
          </a:p>
        </p:txBody>
      </p:sp>
    </p:spTree>
    <p:extLst>
      <p:ext uri="{BB962C8B-B14F-4D97-AF65-F5344CB8AC3E}">
        <p14:creationId xmlns:p14="http://schemas.microsoft.com/office/powerpoint/2010/main" val="46834377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85190-361D-3459-910F-BB586D0C5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74376DA-EDA4-7206-CDCD-B0C1A731F4F8}"/>
              </a:ext>
            </a:extLst>
          </p:cNvPr>
          <p:cNvSpPr txBox="1"/>
          <p:nvPr/>
        </p:nvSpPr>
        <p:spPr>
          <a:xfrm>
            <a:off x="1452229" y="360947"/>
            <a:ext cx="9134340" cy="1716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Введите число: "</a:t>
            </a:r>
            <a:r>
              <a:rPr lang="ru-R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425"/>
              </a:lnSpc>
            </a:pPr>
            <a:r>
              <a:rPr lang="ru-R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Ваше число: </a:t>
            </a:r>
            <a:r>
              <a:rPr lang="ru-RU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ValueError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Это не число!"</a:t>
            </a:r>
            <a:r>
              <a:rPr lang="ru-R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Успешно обработано!"</a:t>
            </a:r>
            <a:r>
              <a:rPr lang="ru-R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finally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Программа завершена."</a:t>
            </a:r>
            <a:r>
              <a:rPr lang="ru-R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617E0C3-27D4-CD83-A4E5-3631479732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84</a:t>
            </a:fld>
            <a:endParaRPr lang="ru-RU"/>
          </a:p>
        </p:txBody>
      </p:sp>
      <p:cxnSp>
        <p:nvCxnSpPr>
          <p:cNvPr id="3" name="Straight Connector 4">
            <a:extLst>
              <a:ext uri="{FF2B5EF4-FFF2-40B4-BE49-F238E27FC236}">
                <a16:creationId xmlns:a16="http://schemas.microsoft.com/office/drawing/2014/main" id="{3795776D-3F6C-E1D5-16BC-5409490B4408}"/>
              </a:ext>
            </a:extLst>
          </p:cNvPr>
          <p:cNvCxnSpPr>
            <a:cxnSpLocks/>
          </p:cNvCxnSpPr>
          <p:nvPr/>
        </p:nvCxnSpPr>
        <p:spPr>
          <a:xfrm>
            <a:off x="1452229" y="4562640"/>
            <a:ext cx="9242095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F475D56-B2E6-ED59-A43A-4E17CE4EF3AF}"/>
              </a:ext>
            </a:extLst>
          </p:cNvPr>
          <p:cNvSpPr txBox="1"/>
          <p:nvPr/>
        </p:nvSpPr>
        <p:spPr>
          <a:xfrm>
            <a:off x="1452229" y="4562640"/>
            <a:ext cx="814448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Введите число: 3</a:t>
            </a:r>
          </a:p>
          <a:p>
            <a:r>
              <a:rPr lang="ru-RU" dirty="0"/>
              <a:t>Ваше число: 3</a:t>
            </a:r>
          </a:p>
          <a:p>
            <a:r>
              <a:rPr lang="ru-RU" dirty="0"/>
              <a:t>Успешно обработано!</a:t>
            </a:r>
          </a:p>
          <a:p>
            <a:r>
              <a:rPr lang="ru-RU" dirty="0"/>
              <a:t>Программа завершена.</a:t>
            </a:r>
          </a:p>
        </p:txBody>
      </p:sp>
    </p:spTree>
    <p:extLst>
      <p:ext uri="{BB962C8B-B14F-4D97-AF65-F5344CB8AC3E}">
        <p14:creationId xmlns:p14="http://schemas.microsoft.com/office/powerpoint/2010/main" val="378068379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85190-361D-3459-910F-BB586D0C5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74376DA-EDA4-7206-CDCD-B0C1A731F4F8}"/>
              </a:ext>
            </a:extLst>
          </p:cNvPr>
          <p:cNvSpPr txBox="1"/>
          <p:nvPr/>
        </p:nvSpPr>
        <p:spPr>
          <a:xfrm>
            <a:off x="1452229" y="360947"/>
            <a:ext cx="9134340" cy="1177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Введите делитель: "</a:t>
            </a:r>
            <a:r>
              <a:rPr lang="ru-R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ZeroDivisionError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Ошибка: деление на ноль."</a:t>
            </a:r>
            <a:r>
              <a:rPr lang="ru-R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ValueError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Ошибка: нужно ввести число."</a:t>
            </a:r>
            <a:r>
              <a:rPr lang="ru-R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617E0C3-27D4-CD83-A4E5-3631479732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85</a:t>
            </a:fld>
            <a:endParaRPr lang="ru-RU"/>
          </a:p>
        </p:txBody>
      </p:sp>
      <p:cxnSp>
        <p:nvCxnSpPr>
          <p:cNvPr id="3" name="Straight Connector 4">
            <a:extLst>
              <a:ext uri="{FF2B5EF4-FFF2-40B4-BE49-F238E27FC236}">
                <a16:creationId xmlns:a16="http://schemas.microsoft.com/office/drawing/2014/main" id="{3795776D-3F6C-E1D5-16BC-5409490B4408}"/>
              </a:ext>
            </a:extLst>
          </p:cNvPr>
          <p:cNvCxnSpPr>
            <a:cxnSpLocks/>
          </p:cNvCxnSpPr>
          <p:nvPr/>
        </p:nvCxnSpPr>
        <p:spPr>
          <a:xfrm>
            <a:off x="1474952" y="3903734"/>
            <a:ext cx="9242095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F475D56-B2E6-ED59-A43A-4E17CE4EF3AF}"/>
              </a:ext>
            </a:extLst>
          </p:cNvPr>
          <p:cNvSpPr txBox="1"/>
          <p:nvPr/>
        </p:nvSpPr>
        <p:spPr>
          <a:xfrm>
            <a:off x="1474952" y="3903734"/>
            <a:ext cx="814448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Введите делитель: 0</a:t>
            </a:r>
          </a:p>
          <a:p>
            <a:r>
              <a:rPr lang="ru-RU" dirty="0"/>
              <a:t>Ошибка: деление на ноль.</a:t>
            </a:r>
          </a:p>
          <a:p>
            <a:endParaRPr lang="ru-RU" dirty="0"/>
          </a:p>
          <a:p>
            <a:r>
              <a:rPr lang="ru-RU" dirty="0"/>
              <a:t>Введите делитель: Привет</a:t>
            </a:r>
          </a:p>
          <a:p>
            <a:r>
              <a:rPr lang="ru-RU" dirty="0"/>
              <a:t>Ошибка: нужно ввести число.</a:t>
            </a:r>
          </a:p>
        </p:txBody>
      </p:sp>
    </p:spTree>
    <p:extLst>
      <p:ext uri="{BB962C8B-B14F-4D97-AF65-F5344CB8AC3E}">
        <p14:creationId xmlns:p14="http://schemas.microsoft.com/office/powerpoint/2010/main" val="17775104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85190-361D-3459-910F-BB586D0C5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74376DA-EDA4-7206-CDCD-B0C1A731F4F8}"/>
              </a:ext>
            </a:extLst>
          </p:cNvPr>
          <p:cNvSpPr txBox="1"/>
          <p:nvPr/>
        </p:nvSpPr>
        <p:spPr>
          <a:xfrm>
            <a:off x="1452229" y="360947"/>
            <a:ext cx="9134340" cy="9979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ru-R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Обработка сразу всех исключений</a:t>
            </a:r>
            <a:endParaRPr lang="ru-RU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Введите делитель: "</a:t>
            </a:r>
            <a:r>
              <a:rPr lang="ru-R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Произошла ошибка: </a:t>
            </a:r>
            <a:r>
              <a:rPr lang="ru-RU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617E0C3-27D4-CD83-A4E5-3631479732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86</a:t>
            </a:fld>
            <a:endParaRPr lang="ru-RU"/>
          </a:p>
        </p:txBody>
      </p:sp>
      <p:cxnSp>
        <p:nvCxnSpPr>
          <p:cNvPr id="3" name="Straight Connector 4">
            <a:extLst>
              <a:ext uri="{FF2B5EF4-FFF2-40B4-BE49-F238E27FC236}">
                <a16:creationId xmlns:a16="http://schemas.microsoft.com/office/drawing/2014/main" id="{3795776D-3F6C-E1D5-16BC-5409490B4408}"/>
              </a:ext>
            </a:extLst>
          </p:cNvPr>
          <p:cNvCxnSpPr>
            <a:cxnSpLocks/>
          </p:cNvCxnSpPr>
          <p:nvPr/>
        </p:nvCxnSpPr>
        <p:spPr>
          <a:xfrm>
            <a:off x="1474952" y="4719522"/>
            <a:ext cx="9242095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F475D56-B2E6-ED59-A43A-4E17CE4EF3AF}"/>
              </a:ext>
            </a:extLst>
          </p:cNvPr>
          <p:cNvSpPr txBox="1"/>
          <p:nvPr/>
        </p:nvSpPr>
        <p:spPr>
          <a:xfrm>
            <a:off x="1474952" y="4719522"/>
            <a:ext cx="81444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Введите делитель: </a:t>
            </a:r>
            <a:r>
              <a:rPr lang="en-US" dirty="0"/>
              <a:t>gg</a:t>
            </a:r>
          </a:p>
          <a:p>
            <a:r>
              <a:rPr lang="ru-RU" dirty="0"/>
              <a:t>Произошла ошибка: </a:t>
            </a:r>
            <a:r>
              <a:rPr lang="en-US" dirty="0"/>
              <a:t>invalid literal for int() with base 10: 'gg'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3189729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85190-361D-3459-910F-BB586D0C5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74376DA-EDA4-7206-CDCD-B0C1A731F4F8}"/>
              </a:ext>
            </a:extLst>
          </p:cNvPr>
          <p:cNvSpPr txBox="1"/>
          <p:nvPr/>
        </p:nvSpPr>
        <p:spPr>
          <a:xfrm>
            <a:off x="1452229" y="360947"/>
            <a:ext cx="9134340" cy="2434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ru-R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Обработка сетевых ошибок</a:t>
            </a:r>
            <a:endParaRPr lang="ru-RU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requests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requests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"http://192.168.25.5"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timeout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raise_for_status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 </a:t>
            </a: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Поднимает исключение для </a:t>
            </a: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HTTP-</a:t>
            </a:r>
            <a:r>
              <a:rPr lang="ru-R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ошибок</a:t>
            </a:r>
            <a:endParaRPr lang="ru-RU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ru-R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requests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exceptions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Timeout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Превышено время ожидания."</a:t>
            </a:r>
            <a:r>
              <a:rPr lang="ru-R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requests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exceptions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HTTPError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"HTTP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ошибка: </a:t>
            </a:r>
            <a:r>
              <a:rPr lang="ru-RU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requests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exceptions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RequestException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Сетевая ошибка: </a:t>
            </a:r>
            <a:r>
              <a:rPr lang="ru-RU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617E0C3-27D4-CD83-A4E5-3631479732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87</a:t>
            </a:fld>
            <a:endParaRPr lang="ru-RU"/>
          </a:p>
        </p:txBody>
      </p:sp>
      <p:cxnSp>
        <p:nvCxnSpPr>
          <p:cNvPr id="3" name="Straight Connector 4">
            <a:extLst>
              <a:ext uri="{FF2B5EF4-FFF2-40B4-BE49-F238E27FC236}">
                <a16:creationId xmlns:a16="http://schemas.microsoft.com/office/drawing/2014/main" id="{3795776D-3F6C-E1D5-16BC-5409490B4408}"/>
              </a:ext>
            </a:extLst>
          </p:cNvPr>
          <p:cNvCxnSpPr>
            <a:cxnSpLocks/>
          </p:cNvCxnSpPr>
          <p:nvPr/>
        </p:nvCxnSpPr>
        <p:spPr>
          <a:xfrm>
            <a:off x="1474952" y="4266805"/>
            <a:ext cx="9242095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F475D56-B2E6-ED59-A43A-4E17CE4EF3AF}"/>
              </a:ext>
            </a:extLst>
          </p:cNvPr>
          <p:cNvSpPr txBox="1"/>
          <p:nvPr/>
        </p:nvSpPr>
        <p:spPr>
          <a:xfrm>
            <a:off x="1474952" y="4266805"/>
            <a:ext cx="91527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Превышено время ожидания.</a:t>
            </a:r>
          </a:p>
        </p:txBody>
      </p:sp>
    </p:spTree>
    <p:extLst>
      <p:ext uri="{BB962C8B-B14F-4D97-AF65-F5344CB8AC3E}">
        <p14:creationId xmlns:p14="http://schemas.microsoft.com/office/powerpoint/2010/main" val="282996074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85190-361D-3459-910F-BB586D0C5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74376DA-EDA4-7206-CDCD-B0C1A731F4F8}"/>
              </a:ext>
            </a:extLst>
          </p:cNvPr>
          <p:cNvSpPr txBox="1"/>
          <p:nvPr/>
        </p:nvSpPr>
        <p:spPr>
          <a:xfrm>
            <a:off x="1452229" y="360947"/>
            <a:ext cx="9134340" cy="2613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ru-R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Обработка ошибок с веб-драйвером</a:t>
            </a:r>
            <a:endParaRPr lang="ru-RU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selenium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webdriver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selenium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common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exceptions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NoSuchElementException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driver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webdriver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Chrome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driver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"https://www.google.com"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search_box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driver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find_element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"name71"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"q"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search_box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send_keys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"Selenium"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NoSuchElementException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Элемент не найден на странице."</a:t>
            </a:r>
            <a:r>
              <a:rPr lang="ru-R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finally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driver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quit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617E0C3-27D4-CD83-A4E5-3631479732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88</a:t>
            </a:fld>
            <a:endParaRPr lang="ru-RU"/>
          </a:p>
        </p:txBody>
      </p:sp>
      <p:cxnSp>
        <p:nvCxnSpPr>
          <p:cNvPr id="3" name="Straight Connector 4">
            <a:extLst>
              <a:ext uri="{FF2B5EF4-FFF2-40B4-BE49-F238E27FC236}">
                <a16:creationId xmlns:a16="http://schemas.microsoft.com/office/drawing/2014/main" id="{3795776D-3F6C-E1D5-16BC-5409490B4408}"/>
              </a:ext>
            </a:extLst>
          </p:cNvPr>
          <p:cNvCxnSpPr>
            <a:cxnSpLocks/>
          </p:cNvCxnSpPr>
          <p:nvPr/>
        </p:nvCxnSpPr>
        <p:spPr>
          <a:xfrm>
            <a:off x="1474952" y="4266805"/>
            <a:ext cx="9242095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F475D56-B2E6-ED59-A43A-4E17CE4EF3AF}"/>
              </a:ext>
            </a:extLst>
          </p:cNvPr>
          <p:cNvSpPr txBox="1"/>
          <p:nvPr/>
        </p:nvSpPr>
        <p:spPr>
          <a:xfrm>
            <a:off x="1474952" y="4266805"/>
            <a:ext cx="91527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Элемент не найден на странице.</a:t>
            </a:r>
          </a:p>
        </p:txBody>
      </p:sp>
    </p:spTree>
    <p:extLst>
      <p:ext uri="{BB962C8B-B14F-4D97-AF65-F5344CB8AC3E}">
        <p14:creationId xmlns:p14="http://schemas.microsoft.com/office/powerpoint/2010/main" val="416943541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85190-361D-3459-910F-BB586D0C5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74376DA-EDA4-7206-CDCD-B0C1A731F4F8}"/>
              </a:ext>
            </a:extLst>
          </p:cNvPr>
          <p:cNvSpPr txBox="1"/>
          <p:nvPr/>
        </p:nvSpPr>
        <p:spPr>
          <a:xfrm>
            <a:off x="1452229" y="360947"/>
            <a:ext cx="9134340" cy="1895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ru-R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Логгирование</a:t>
            </a:r>
            <a:r>
              <a:rPr lang="ru-R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исключений в файл</a:t>
            </a:r>
            <a:endParaRPr lang="ru-RU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logging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logging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basicConfig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level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logging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filename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errors.log"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encoding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'utf-8'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ZeroDivisionError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logging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Ошибка: </a:t>
            </a:r>
            <a:r>
              <a:rPr lang="ru-RU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Ошибка записана в лог."</a:t>
            </a:r>
            <a:r>
              <a:rPr lang="ru-R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617E0C3-27D4-CD83-A4E5-3631479732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89</a:t>
            </a:fld>
            <a:endParaRPr lang="ru-RU"/>
          </a:p>
        </p:txBody>
      </p:sp>
      <p:cxnSp>
        <p:nvCxnSpPr>
          <p:cNvPr id="3" name="Straight Connector 4">
            <a:extLst>
              <a:ext uri="{FF2B5EF4-FFF2-40B4-BE49-F238E27FC236}">
                <a16:creationId xmlns:a16="http://schemas.microsoft.com/office/drawing/2014/main" id="{3795776D-3F6C-E1D5-16BC-5409490B4408}"/>
              </a:ext>
            </a:extLst>
          </p:cNvPr>
          <p:cNvCxnSpPr>
            <a:cxnSpLocks/>
          </p:cNvCxnSpPr>
          <p:nvPr/>
        </p:nvCxnSpPr>
        <p:spPr>
          <a:xfrm>
            <a:off x="1474952" y="4266805"/>
            <a:ext cx="9242095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F475D56-B2E6-ED59-A43A-4E17CE4EF3AF}"/>
              </a:ext>
            </a:extLst>
          </p:cNvPr>
          <p:cNvSpPr txBox="1"/>
          <p:nvPr/>
        </p:nvSpPr>
        <p:spPr>
          <a:xfrm>
            <a:off x="1474952" y="4266805"/>
            <a:ext cx="91527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Ошибка записана в лог.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791C6D4-0376-E824-5A2D-274116BC2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4463" y="4789290"/>
            <a:ext cx="2914650" cy="59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13439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B8F852-B314-AD32-6EA2-B538907F814C}"/>
              </a:ext>
            </a:extLst>
          </p:cNvPr>
          <p:cNvSpPr txBox="1"/>
          <p:nvPr/>
        </p:nvSpPr>
        <p:spPr>
          <a:xfrm>
            <a:off x="1030309" y="721218"/>
            <a:ext cx="60500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latin typeface="Press Start 2P" pitchFamily="2" charset="0"/>
              </a:rPr>
              <a:t>It’s DONE... 100%</a:t>
            </a:r>
            <a:endParaRPr lang="en-RU" sz="2800" dirty="0">
              <a:latin typeface="Press Start 2P" pitchFamily="2" charset="0"/>
            </a:endParaRPr>
          </a:p>
        </p:txBody>
      </p:sp>
      <p:pic>
        <p:nvPicPr>
          <p:cNvPr id="7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81BF42D6-53C6-440F-31B3-011B1220E0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3094" y="2296086"/>
            <a:ext cx="877194" cy="877194"/>
          </a:xfrm>
          <a:prstGeom prst="rect">
            <a:avLst/>
          </a:prstGeom>
        </p:spPr>
      </p:pic>
      <p:pic>
        <p:nvPicPr>
          <p:cNvPr id="9" name="Picture 8" descr="A picture containing text&#10;&#10;Description automatically generated">
            <a:extLst>
              <a:ext uri="{FF2B5EF4-FFF2-40B4-BE49-F238E27FC236}">
                <a16:creationId xmlns:a16="http://schemas.microsoft.com/office/drawing/2014/main" id="{A5586908-4016-5D83-2451-E0E74DFD76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7930" y="5088724"/>
            <a:ext cx="834652" cy="834652"/>
          </a:xfrm>
          <a:prstGeom prst="rect">
            <a:avLst/>
          </a:prstGeom>
        </p:spPr>
      </p:pic>
      <p:pic>
        <p:nvPicPr>
          <p:cNvPr id="11" name="Picture 10" descr="A picture containing text&#10;&#10;Description automatically generated">
            <a:extLst>
              <a:ext uri="{FF2B5EF4-FFF2-40B4-BE49-F238E27FC236}">
                <a16:creationId xmlns:a16="http://schemas.microsoft.com/office/drawing/2014/main" id="{31C37454-E21D-E496-B531-6FADC9E658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3576" y="3357229"/>
            <a:ext cx="1731495" cy="1731495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8C3BE1F-B797-D7F1-96CF-5C5DA82E45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C697622-B3A2-44EB-9C38-BCDA5E89629C}" type="slidenum">
              <a:rPr lang="ru-RU" smtClean="0"/>
              <a:t>90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27A504-C2A1-CC59-6B37-96CCF2759CD1}"/>
              </a:ext>
            </a:extLst>
          </p:cNvPr>
          <p:cNvSpPr txBox="1"/>
          <p:nvPr/>
        </p:nvSpPr>
        <p:spPr>
          <a:xfrm>
            <a:off x="497342" y="4260569"/>
            <a:ext cx="65912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rgbClr val="F1F1F1"/>
                </a:solidFill>
                <a:latin typeface="Press Start 2P" pitchFamily="2" charset="0"/>
              </a:rPr>
              <a:t>Баранов Кирилл Евгеньевич</a:t>
            </a:r>
            <a:endParaRPr lang="en-RU" sz="2000" dirty="0">
              <a:solidFill>
                <a:srgbClr val="F1F1F1"/>
              </a:solidFill>
              <a:latin typeface="Press Start 2P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8F5FCA-3867-AF14-6377-9DECD1501423}"/>
              </a:ext>
            </a:extLst>
          </p:cNvPr>
          <p:cNvSpPr txBox="1"/>
          <p:nvPr/>
        </p:nvSpPr>
        <p:spPr>
          <a:xfrm>
            <a:off x="497342" y="4735171"/>
            <a:ext cx="44732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1F1F1"/>
                </a:solidFill>
                <a:latin typeface="Press Start 2P" pitchFamily="2" charset="0"/>
                <a:hlinkClick r:id="rId5"/>
              </a:rPr>
              <a:t>xo3yin@yandex.ru</a:t>
            </a:r>
            <a:endParaRPr lang="en-US" sz="2000" dirty="0">
              <a:solidFill>
                <a:srgbClr val="F1F1F1"/>
              </a:solidFill>
              <a:latin typeface="Press Start 2P" pitchFamily="2" charset="0"/>
            </a:endParaRPr>
          </a:p>
          <a:p>
            <a:r>
              <a:rPr lang="en-US" sz="2000" dirty="0">
                <a:solidFill>
                  <a:srgbClr val="F1F1F1"/>
                </a:solidFill>
                <a:latin typeface="Press Start 2P" pitchFamily="2" charset="0"/>
              </a:rPr>
              <a:t>Telegram: @xo3yin</a:t>
            </a:r>
            <a:endParaRPr lang="en-GB" sz="2000" dirty="0">
              <a:solidFill>
                <a:srgbClr val="F1F1F1"/>
              </a:solidFill>
              <a:latin typeface="Press Start 2P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1659082"/>
      </p:ext>
    </p:extLst>
  </p:cSld>
  <p:clrMapOvr>
    <a:masterClrMapping/>
  </p:clrMapOvr>
</p:sld>
</file>

<file path=ppt/theme/theme1.xml><?xml version="1.0" encoding="utf-8"?>
<a:theme xmlns:a="http://schemas.openxmlformats.org/drawingml/2006/main" name="PPTMON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w Cen MT-Rockwell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D395F"/>
        </a:solidFill>
        <a:ln w="3024" cap="flat">
          <a:noFill/>
          <a:prstDash val="solid"/>
          <a:miter/>
        </a:ln>
      </a:spPr>
      <a:bodyPr rtlCol="0" anchor="ctr"/>
      <a:lstStyle>
        <a:defPPr algn="ctr">
          <a:defRPr sz="3200" b="1" dirty="0" smtClean="0">
            <a:solidFill>
              <a:schemeClr val="bg1"/>
            </a:solidFill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30508</TotalTime>
  <Words>4915</Words>
  <Application>Microsoft Office PowerPoint</Application>
  <PresentationFormat>Широкоэкранный</PresentationFormat>
  <Paragraphs>653</Paragraphs>
  <Slides>90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90</vt:i4>
      </vt:variant>
    </vt:vector>
  </HeadingPairs>
  <TitlesOfParts>
    <vt:vector size="101" baseType="lpstr">
      <vt:lpstr>Press Start 2P</vt:lpstr>
      <vt:lpstr>Consolas</vt:lpstr>
      <vt:lpstr>JetBrains Mono</vt:lpstr>
      <vt:lpstr>Calibri</vt:lpstr>
      <vt:lpstr>VT323</vt:lpstr>
      <vt:lpstr>Arial</vt:lpstr>
      <vt:lpstr>Wingdings</vt:lpstr>
      <vt:lpstr>맑은 고딕</vt:lpstr>
      <vt:lpstr>IBM Plex Mono</vt:lpstr>
      <vt:lpstr>Cambria</vt:lpstr>
      <vt:lpstr>PPTMON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5</dc:creator>
  <cp:lastModifiedBy>Kirill Baranov</cp:lastModifiedBy>
  <cp:revision>178</cp:revision>
  <dcterms:created xsi:type="dcterms:W3CDTF">2019-04-06T05:20:47Z</dcterms:created>
  <dcterms:modified xsi:type="dcterms:W3CDTF">2024-12-07T09:16:20Z</dcterms:modified>
</cp:coreProperties>
</file>