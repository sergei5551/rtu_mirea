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0.xml" ContentType="application/inkml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1"/>
  </p:notesMasterIdLst>
  <p:sldIdLst>
    <p:sldId id="256" r:id="rId2"/>
    <p:sldId id="259" r:id="rId3"/>
    <p:sldId id="330" r:id="rId4"/>
    <p:sldId id="331" r:id="rId5"/>
    <p:sldId id="405" r:id="rId6"/>
    <p:sldId id="329" r:id="rId7"/>
    <p:sldId id="257" r:id="rId8"/>
    <p:sldId id="258" r:id="rId9"/>
    <p:sldId id="338" r:id="rId10"/>
    <p:sldId id="265" r:id="rId11"/>
    <p:sldId id="275" r:id="rId12"/>
    <p:sldId id="339" r:id="rId13"/>
    <p:sldId id="340" r:id="rId14"/>
    <p:sldId id="341" r:id="rId15"/>
    <p:sldId id="342" r:id="rId16"/>
    <p:sldId id="343" r:id="rId17"/>
    <p:sldId id="344" r:id="rId18"/>
    <p:sldId id="260" r:id="rId19"/>
    <p:sldId id="400" r:id="rId20"/>
    <p:sldId id="267" r:id="rId21"/>
    <p:sldId id="261" r:id="rId22"/>
    <p:sldId id="346" r:id="rId23"/>
    <p:sldId id="347" r:id="rId24"/>
    <p:sldId id="262" r:id="rId25"/>
    <p:sldId id="348" r:id="rId26"/>
    <p:sldId id="349" r:id="rId27"/>
    <p:sldId id="350" r:id="rId28"/>
    <p:sldId id="351" r:id="rId29"/>
    <p:sldId id="352" r:id="rId30"/>
    <p:sldId id="263" r:id="rId31"/>
    <p:sldId id="266" r:id="rId32"/>
    <p:sldId id="269" r:id="rId33"/>
    <p:sldId id="625" r:id="rId34"/>
    <p:sldId id="627" r:id="rId35"/>
    <p:sldId id="626" r:id="rId36"/>
    <p:sldId id="353" r:id="rId37"/>
    <p:sldId id="354" r:id="rId38"/>
    <p:sldId id="268" r:id="rId39"/>
    <p:sldId id="270" r:id="rId40"/>
    <p:sldId id="401" r:id="rId41"/>
    <p:sldId id="274" r:id="rId42"/>
    <p:sldId id="272" r:id="rId43"/>
    <p:sldId id="276" r:id="rId44"/>
    <p:sldId id="277" r:id="rId45"/>
    <p:sldId id="280" r:id="rId46"/>
    <p:sldId id="284" r:id="rId47"/>
    <p:sldId id="357" r:id="rId48"/>
    <p:sldId id="278" r:id="rId49"/>
    <p:sldId id="358" r:id="rId50"/>
    <p:sldId id="360" r:id="rId51"/>
    <p:sldId id="402" r:id="rId52"/>
    <p:sldId id="287" r:id="rId53"/>
    <p:sldId id="285" r:id="rId54"/>
    <p:sldId id="362" r:id="rId55"/>
    <p:sldId id="286" r:id="rId56"/>
    <p:sldId id="288" r:id="rId57"/>
    <p:sldId id="363" r:id="rId58"/>
    <p:sldId id="364" r:id="rId59"/>
    <p:sldId id="293" r:id="rId60"/>
    <p:sldId id="365" r:id="rId61"/>
    <p:sldId id="282" r:id="rId62"/>
    <p:sldId id="366" r:id="rId63"/>
    <p:sldId id="367" r:id="rId64"/>
    <p:sldId id="403" r:id="rId65"/>
    <p:sldId id="290" r:id="rId66"/>
    <p:sldId id="369" r:id="rId67"/>
    <p:sldId id="289" r:id="rId68"/>
    <p:sldId id="291" r:id="rId69"/>
    <p:sldId id="298" r:id="rId70"/>
    <p:sldId id="370" r:id="rId71"/>
    <p:sldId id="295" r:id="rId72"/>
    <p:sldId id="299" r:id="rId73"/>
    <p:sldId id="371" r:id="rId74"/>
    <p:sldId id="372" r:id="rId75"/>
    <p:sldId id="373" r:id="rId76"/>
    <p:sldId id="404" r:id="rId77"/>
    <p:sldId id="302" r:id="rId78"/>
    <p:sldId id="292" r:id="rId79"/>
    <p:sldId id="375" r:id="rId80"/>
    <p:sldId id="376" r:id="rId81"/>
    <p:sldId id="301" r:id="rId82"/>
    <p:sldId id="377" r:id="rId83"/>
    <p:sldId id="378" r:id="rId84"/>
    <p:sldId id="305" r:id="rId85"/>
    <p:sldId id="379" r:id="rId86"/>
    <p:sldId id="380" r:id="rId87"/>
    <p:sldId id="381" r:id="rId88"/>
    <p:sldId id="382" r:id="rId89"/>
    <p:sldId id="383" r:id="rId90"/>
    <p:sldId id="309" r:id="rId91"/>
    <p:sldId id="384" r:id="rId92"/>
    <p:sldId id="385" r:id="rId93"/>
    <p:sldId id="395" r:id="rId94"/>
    <p:sldId id="611" r:id="rId95"/>
    <p:sldId id="406" r:id="rId96"/>
    <p:sldId id="407" r:id="rId97"/>
    <p:sldId id="408" r:id="rId98"/>
    <p:sldId id="409" r:id="rId99"/>
    <p:sldId id="410" r:id="rId100"/>
    <p:sldId id="411" r:id="rId101"/>
    <p:sldId id="412" r:id="rId102"/>
    <p:sldId id="413" r:id="rId103"/>
    <p:sldId id="414" r:id="rId104"/>
    <p:sldId id="415" r:id="rId105"/>
    <p:sldId id="416" r:id="rId106"/>
    <p:sldId id="417" r:id="rId107"/>
    <p:sldId id="418" r:id="rId108"/>
    <p:sldId id="419" r:id="rId109"/>
    <p:sldId id="420" r:id="rId110"/>
    <p:sldId id="421" r:id="rId111"/>
    <p:sldId id="612" r:id="rId112"/>
    <p:sldId id="422" r:id="rId113"/>
    <p:sldId id="424" r:id="rId114"/>
    <p:sldId id="425" r:id="rId115"/>
    <p:sldId id="426" r:id="rId116"/>
    <p:sldId id="427" r:id="rId117"/>
    <p:sldId id="428" r:id="rId118"/>
    <p:sldId id="429" r:id="rId119"/>
    <p:sldId id="430" r:id="rId120"/>
    <p:sldId id="431" r:id="rId121"/>
    <p:sldId id="433" r:id="rId122"/>
    <p:sldId id="434" r:id="rId123"/>
    <p:sldId id="435" r:id="rId124"/>
    <p:sldId id="436" r:id="rId125"/>
    <p:sldId id="437" r:id="rId126"/>
    <p:sldId id="438" r:id="rId127"/>
    <p:sldId id="440" r:id="rId128"/>
    <p:sldId id="442" r:id="rId129"/>
    <p:sldId id="444" r:id="rId130"/>
    <p:sldId id="445" r:id="rId131"/>
    <p:sldId id="446" r:id="rId132"/>
    <p:sldId id="447" r:id="rId133"/>
    <p:sldId id="448" r:id="rId134"/>
    <p:sldId id="450" r:id="rId135"/>
    <p:sldId id="451" r:id="rId136"/>
    <p:sldId id="452" r:id="rId137"/>
    <p:sldId id="453" r:id="rId138"/>
    <p:sldId id="454" r:id="rId139"/>
    <p:sldId id="455" r:id="rId140"/>
    <p:sldId id="456" r:id="rId141"/>
    <p:sldId id="613" r:id="rId142"/>
    <p:sldId id="457" r:id="rId143"/>
    <p:sldId id="458" r:id="rId144"/>
    <p:sldId id="459" r:id="rId145"/>
    <p:sldId id="461" r:id="rId146"/>
    <p:sldId id="462" r:id="rId147"/>
    <p:sldId id="463" r:id="rId148"/>
    <p:sldId id="465" r:id="rId149"/>
    <p:sldId id="467" r:id="rId150"/>
    <p:sldId id="469" r:id="rId151"/>
    <p:sldId id="470" r:id="rId152"/>
    <p:sldId id="471" r:id="rId153"/>
    <p:sldId id="472" r:id="rId154"/>
    <p:sldId id="473" r:id="rId155"/>
    <p:sldId id="474" r:id="rId156"/>
    <p:sldId id="475" r:id="rId157"/>
    <p:sldId id="476" r:id="rId158"/>
    <p:sldId id="477" r:id="rId159"/>
    <p:sldId id="478" r:id="rId160"/>
    <p:sldId id="480" r:id="rId161"/>
    <p:sldId id="481" r:id="rId162"/>
    <p:sldId id="482" r:id="rId163"/>
    <p:sldId id="483" r:id="rId164"/>
    <p:sldId id="484" r:id="rId165"/>
    <p:sldId id="485" r:id="rId166"/>
    <p:sldId id="486" r:id="rId167"/>
    <p:sldId id="487" r:id="rId168"/>
    <p:sldId id="488" r:id="rId169"/>
    <p:sldId id="489" r:id="rId170"/>
    <p:sldId id="490" r:id="rId171"/>
    <p:sldId id="491" r:id="rId172"/>
    <p:sldId id="492" r:id="rId173"/>
    <p:sldId id="493" r:id="rId174"/>
    <p:sldId id="494" r:id="rId175"/>
    <p:sldId id="495" r:id="rId176"/>
    <p:sldId id="496" r:id="rId177"/>
    <p:sldId id="497" r:id="rId178"/>
    <p:sldId id="498" r:id="rId179"/>
    <p:sldId id="499" r:id="rId180"/>
    <p:sldId id="500" r:id="rId181"/>
    <p:sldId id="501" r:id="rId182"/>
    <p:sldId id="614" r:id="rId183"/>
    <p:sldId id="502" r:id="rId184"/>
    <p:sldId id="503" r:id="rId185"/>
    <p:sldId id="504" r:id="rId186"/>
    <p:sldId id="505" r:id="rId187"/>
    <p:sldId id="506" r:id="rId188"/>
    <p:sldId id="507" r:id="rId189"/>
    <p:sldId id="508" r:id="rId190"/>
    <p:sldId id="509" r:id="rId191"/>
    <p:sldId id="510" r:id="rId192"/>
    <p:sldId id="511" r:id="rId193"/>
    <p:sldId id="512" r:id="rId194"/>
    <p:sldId id="513" r:id="rId195"/>
    <p:sldId id="514" r:id="rId196"/>
    <p:sldId id="515" r:id="rId197"/>
    <p:sldId id="516" r:id="rId198"/>
    <p:sldId id="517" r:id="rId199"/>
    <p:sldId id="518" r:id="rId200"/>
    <p:sldId id="519" r:id="rId201"/>
    <p:sldId id="520" r:id="rId202"/>
    <p:sldId id="521" r:id="rId203"/>
    <p:sldId id="522" r:id="rId204"/>
    <p:sldId id="523" r:id="rId205"/>
    <p:sldId id="524" r:id="rId206"/>
    <p:sldId id="525" r:id="rId207"/>
    <p:sldId id="526" r:id="rId208"/>
    <p:sldId id="527" r:id="rId209"/>
    <p:sldId id="528" r:id="rId210"/>
    <p:sldId id="529" r:id="rId211"/>
    <p:sldId id="530" r:id="rId212"/>
    <p:sldId id="531" r:id="rId213"/>
    <p:sldId id="532" r:id="rId214"/>
    <p:sldId id="533" r:id="rId215"/>
    <p:sldId id="534" r:id="rId216"/>
    <p:sldId id="535" r:id="rId217"/>
    <p:sldId id="536" r:id="rId218"/>
    <p:sldId id="537" r:id="rId219"/>
    <p:sldId id="539" r:id="rId220"/>
    <p:sldId id="541" r:id="rId221"/>
    <p:sldId id="542" r:id="rId222"/>
    <p:sldId id="543" r:id="rId223"/>
    <p:sldId id="544" r:id="rId224"/>
    <p:sldId id="545" r:id="rId225"/>
    <p:sldId id="546" r:id="rId226"/>
    <p:sldId id="547" r:id="rId227"/>
    <p:sldId id="548" r:id="rId228"/>
    <p:sldId id="549" r:id="rId229"/>
    <p:sldId id="550" r:id="rId230"/>
    <p:sldId id="615" r:id="rId231"/>
    <p:sldId id="551" r:id="rId232"/>
    <p:sldId id="552" r:id="rId233"/>
    <p:sldId id="553" r:id="rId234"/>
    <p:sldId id="554" r:id="rId235"/>
    <p:sldId id="555" r:id="rId236"/>
    <p:sldId id="556" r:id="rId237"/>
    <p:sldId id="557" r:id="rId238"/>
    <p:sldId id="558" r:id="rId239"/>
    <p:sldId id="559" r:id="rId240"/>
    <p:sldId id="560" r:id="rId241"/>
    <p:sldId id="561" r:id="rId242"/>
    <p:sldId id="562" r:id="rId243"/>
    <p:sldId id="563" r:id="rId244"/>
    <p:sldId id="564" r:id="rId245"/>
    <p:sldId id="565" r:id="rId246"/>
    <p:sldId id="566" r:id="rId247"/>
    <p:sldId id="567" r:id="rId248"/>
    <p:sldId id="570" r:id="rId249"/>
    <p:sldId id="571" r:id="rId250"/>
    <p:sldId id="572" r:id="rId251"/>
    <p:sldId id="573" r:id="rId252"/>
    <p:sldId id="574" r:id="rId253"/>
    <p:sldId id="575" r:id="rId254"/>
    <p:sldId id="576" r:id="rId255"/>
    <p:sldId id="577" r:id="rId256"/>
    <p:sldId id="578" r:id="rId257"/>
    <p:sldId id="579" r:id="rId258"/>
    <p:sldId id="581" r:id="rId259"/>
    <p:sldId id="582" r:id="rId260"/>
    <p:sldId id="583" r:id="rId261"/>
    <p:sldId id="584" r:id="rId262"/>
    <p:sldId id="585" r:id="rId263"/>
    <p:sldId id="586" r:id="rId264"/>
    <p:sldId id="587" r:id="rId265"/>
    <p:sldId id="588" r:id="rId266"/>
    <p:sldId id="589" r:id="rId267"/>
    <p:sldId id="590" r:id="rId268"/>
    <p:sldId id="591" r:id="rId269"/>
    <p:sldId id="616" r:id="rId270"/>
    <p:sldId id="592" r:id="rId271"/>
    <p:sldId id="593" r:id="rId272"/>
    <p:sldId id="594" r:id="rId273"/>
    <p:sldId id="628" r:id="rId274"/>
    <p:sldId id="595" r:id="rId275"/>
    <p:sldId id="596" r:id="rId276"/>
    <p:sldId id="597" r:id="rId277"/>
    <p:sldId id="598" r:id="rId278"/>
    <p:sldId id="599" r:id="rId279"/>
    <p:sldId id="600" r:id="rId280"/>
    <p:sldId id="601" r:id="rId281"/>
    <p:sldId id="602" r:id="rId282"/>
    <p:sldId id="603" r:id="rId283"/>
    <p:sldId id="604" r:id="rId284"/>
    <p:sldId id="605" r:id="rId285"/>
    <p:sldId id="606" r:id="rId286"/>
    <p:sldId id="607" r:id="rId287"/>
    <p:sldId id="608" r:id="rId288"/>
    <p:sldId id="609" r:id="rId289"/>
    <p:sldId id="610" r:id="rId290"/>
    <p:sldId id="617" r:id="rId291"/>
    <p:sldId id="618" r:id="rId292"/>
    <p:sldId id="619" r:id="rId293"/>
    <p:sldId id="620" r:id="rId294"/>
    <p:sldId id="621" r:id="rId295"/>
    <p:sldId id="622" r:id="rId296"/>
    <p:sldId id="624" r:id="rId297"/>
    <p:sldId id="623" r:id="rId298"/>
    <p:sldId id="629" r:id="rId299"/>
    <p:sldId id="399" r:id="rId300"/>
  </p:sldIdLst>
  <p:sldSz cx="12192000" cy="6858000"/>
  <p:notesSz cx="6858000" cy="9144000"/>
  <p:embeddedFontLst>
    <p:embeddedFont>
      <p:font typeface="Cambria" panose="02040503050406030204" pitchFamily="18" charset="0"/>
      <p:regular r:id="rId302"/>
      <p:bold r:id="rId303"/>
      <p:italic r:id="rId304"/>
      <p:boldItalic r:id="rId305"/>
    </p:embeddedFont>
    <p:embeddedFont>
      <p:font typeface="IBM Plex Mono" panose="020B0509050203000203" pitchFamily="49" charset="-52"/>
      <p:regular r:id="rId306"/>
      <p:bold r:id="rId307"/>
      <p:italic r:id="rId308"/>
      <p:boldItalic r:id="rId309"/>
    </p:embeddedFont>
    <p:embeddedFont>
      <p:font typeface="JetBrains Mono" panose="020B0604020202020204" charset="0"/>
      <p:regular r:id="rId310"/>
      <p:bold r:id="rId311"/>
      <p:italic r:id="rId312"/>
      <p:boldItalic r:id="rId313"/>
    </p:embeddedFont>
    <p:embeddedFont>
      <p:font typeface="JetBrains Mono NL" panose="020B0604020202020204" charset="0"/>
      <p:regular r:id="rId314"/>
      <p:bold r:id="rId315"/>
      <p:italic r:id="rId316"/>
      <p:boldItalic r:id="rId317"/>
    </p:embeddedFont>
    <p:embeddedFont>
      <p:font typeface="Lucida Console" panose="020B0609040504020204" pitchFamily="49" charset="0"/>
      <p:regular r:id="rId318"/>
    </p:embeddedFont>
    <p:embeddedFont>
      <p:font typeface="Malgun Gothic" panose="020B0503020000020004" pitchFamily="34" charset="-127"/>
      <p:regular r:id="rId319"/>
      <p:bold r:id="rId320"/>
    </p:embeddedFont>
    <p:embeddedFont>
      <p:font typeface="Press Start 2P" panose="020B0604020202020204" charset="0"/>
      <p:regular r:id="rId321"/>
      <p:bold r:id="rId322"/>
      <p:italic r:id="rId323"/>
      <p:boldItalic r:id="rId324"/>
    </p:embeddedFont>
    <p:embeddedFont>
      <p:font typeface="Rockwell Nova" panose="02060503020205020403" pitchFamily="18" charset="0"/>
      <p:regular r:id="rId325"/>
      <p:bold r:id="rId326"/>
      <p:italic r:id="rId327"/>
      <p:boldItalic r:id="rId3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3"/>
    <a:srgbClr val="FCE38A"/>
    <a:srgbClr val="ED395F"/>
    <a:srgbClr val="F1F1F1"/>
    <a:srgbClr val="303938"/>
    <a:srgbClr val="F9824C"/>
    <a:srgbClr val="303638"/>
    <a:srgbClr val="45C3FC"/>
    <a:srgbClr val="1F68F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3" autoAdjust="0"/>
    <p:restoredTop sz="94694" autoAdjust="0"/>
  </p:normalViewPr>
  <p:slideViewPr>
    <p:cSldViewPr snapToGrid="0">
      <p:cViewPr varScale="1">
        <p:scale>
          <a:sx n="106" d="100"/>
          <a:sy n="106" d="100"/>
        </p:scale>
        <p:origin x="37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font" Target="fonts/font23.fntdata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font" Target="fonts/font3.fntdata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font" Target="fonts/font14.fntdata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font" Target="fonts/font25.fntdata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font" Target="fonts/font5.fntdata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327" Type="http://schemas.openxmlformats.org/officeDocument/2006/relationships/font" Target="fonts/font26.fntdata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font" Target="fonts/font16.fntdata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font" Target="fonts/font6.fntdata"/><Relationship Id="rId328" Type="http://schemas.openxmlformats.org/officeDocument/2006/relationships/font" Target="fonts/font27.fntdata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font" Target="fonts/font17.fntdata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font" Target="fonts/font7.fntdata"/><Relationship Id="rId329" Type="http://schemas.openxmlformats.org/officeDocument/2006/relationships/presProps" Target="presProps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font" Target="fonts/font18.fntdata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viewProps" Target="viewProps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font" Target="fonts/font8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font" Target="fonts/font19.fntdata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font" Target="fonts/font9.fntdata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font" Target="fonts/font20.fntdata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font" Target="fonts/font10.fntdata"/><Relationship Id="rId332" Type="http://schemas.openxmlformats.org/officeDocument/2006/relationships/tableStyles" Target="tableStyles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notesMaster" Target="notesMasters/notesMaster1.xml"/><Relationship Id="rId322" Type="http://schemas.openxmlformats.org/officeDocument/2006/relationships/font" Target="fonts/font2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font" Target="fonts/font11.fntdata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font" Target="fonts/font1.fntdata"/><Relationship Id="rId323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font" Target="fonts/font2.fntdata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font" Target="fonts/font13.fntdata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font" Target="fonts/font24.fntdata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font" Target="fonts/font4.fntdata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font" Target="fonts/font15.fntdata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3T10:03:24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24575,'12'0'0,"3"0"0,1 0 0,1 0 0,-1 0 0,-2 0 0,-5 0 0,4 0 0,-4 0 0,3 0 0,-1 0 0,-1 0 0,0 0 0,-1 0 0,-1 0 0,0 0 0,2 0 0,2 0 0,0 0 0,3-7 0,-6 5 0,3-5 0,-5 7 0,5 0 0,1 0 0,2 0 0,0 0 0,-3 0 0,-2 0 0,-1 0 0,-3 0 0,0 0 0,-1 0 0,-3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3T10:03:28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15 24575,'33'0'0,"5"0"0,2 0 0,-2 0 0,-5 0 0,-5 0 0,-3 0 0,-5 0 0,-4 0 0,-2 0 0,1 0 0,0 0 0,0 0 0,0 0 0,0 0 0,0 0 0,-1 0 0,1 0 0,0 0 0,0 0 0,0 0 0,0 0 0,1 0 0,-6 0 0,1 0 0,-11 0 0,-14 0 0,7 0 0,-15 0 0,10 0 0,-4 0 0,-1 0 0,2 0 0,0 0 0,0 0 0,-1 0 0,6 0 0,-2 0 0,6 0 0,-4 0 0,-3 0 0,-1 0 0,0 0 0,2 0 0,4 0 0,1 0 0,0 0 0,-1 0 0,1 0 0,-1 0 0,-2 0 0,-6 0 0,-7 0 0,-4 0 0,1 0 0,0-2 0,1-1 0,1 0 0,2-1 0,9 2 0,3 1 0,8 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3T10:04:27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24575,'39'17'0,"22"17"0,-10-7 0,31 26 0,-20-12 0,17 17 0,-39-26 0,0 1 0,35 31 0,-7 0 0,-7-5 0,-7-6 0,-6-6 0,-4-6 0,-2-4 0,0-1 0,-5-4 0,-4-4 0,-9-5 0,-5-7 0,-4-3 0,0-1 0,0 4 0,0 1 0,-1 3 0,-5-9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3T10:04:2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24575,'14'33'0,"5"10"0,2-9 0,10 16 0,-4-10 0,6 8 0,-4-4 0,-9-10 0,-7-12 0,-7-6 0,-2-3 0,-1-4 0,-2-3 0,1-3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3T10:04:29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24575,'32'0'0,"21"0"0,29 3 0,11 5 0,-1 6 0,-13 1 0,-15-3 0,-17-2 0,-18-6 0,-11-2 0,-10-1 0,-1-1 0,-5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10:30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8T13:10:30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7:39:5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24575,'25'2'0,"15"7"0,21 9 0,8 8 0,-5 0 0,-13-1 0,-12-5 0,-6-3 0,-1-1 0,1-2 0,1 1 0,0 2 0,0 0 0,3 2 0,2 3 0,7 3 0,5 2 0,2 3 0,3 3 0,0 2 0,8 6 0,4 0 0,4 0 0,2-5 0,-11-8 0,-6-3 0,-9-3 0,-4-2 0,-2 0 0,0-2 0,-3-1 0,-3 0 0,-3 0 0,-1 2 0,2 2 0,-2 2 0,-2 1 0,-3-1 0,-11-10 0,0 1 0,-9-6 0,5 4 0,2 3 0,2 3 0,-2 0 0,-2-3 0,0-2 0,2-1 0,7 0 0,7 3 0,4 3 0,-1 1 0,-4-2 0,-5-4 0,-12-6 0,-1-3 0,-5 0 0,2 3 0,1 2 0,0-2 0,-1-1 0,-3-4 0,-1-2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7:39:57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1255 24575,'16'-22'0,"9"-3"0,16-6 0,10-6 0,-4 2 0,1-3 0,3-1 0,9-6 0,13-8 0,6-6 0,-39 29 0,0-1 0,38-28 0,-5 1 0,-5 8 0,-1 2 0,1 4 0,-1 1 0,-2 2 0,-5 5 0,-5 2 0,-2 2 0,-4 0 0,-3 0 0,-4 3 0,-3 2 0,-2 3 0,0 1 0,0 2 0,-1 2 0,-3 4 0,-1 0 0,-1 3 0,2-1 0,1 0 0,-4 4 0,-5 1 0,-8 4 0,-5 0 0,-3 0 0,0-1 0,-5 1 0,3-1 0,-3 2 0,2-1 0,3-2 0,3-2 0,2 0 0,-4 0 0,-3 2 0,-5 4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08:15:37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24575,'15'0'0,"3"0"0,7 0 0,14 0 0,23 0 0,18 0 0,8 0 0,2 0 0,-8 0 0,-11 0 0,-11 0 0,-11 1 0,-8-1 0,-4 1 0,0-1 0,3 0 0,4 0 0,0 0 0,-1 0 0,0 0 0,0 0 0,2 0 0,2 1 0,0 0 0,0 0 0,1 0 0,1-1 0,0 1 0,-1-1 0,-1 0 0,1 0 0,-2 0 0,2 0 0,0 0 0,1 0 0,2 0 0,2 0 0,-1-1 0,-5 1 0,-3-1 0,-6 1 0,-3-1 0,1 1 0,1 0 0,5 0 0,5 0 0,3-1 0,2 1 0,2-1 0,-2 1 0,1 0 0,-2 0 0,-2 0 0,-2 0 0,0 0 0,2 0 0,1 0 0,-2 0 0,-5-1 0,-6 1 0,-2-1 0,2 1 0,3 0 0,6 0 0,1 0 0,-1 0 0,1 0 0,-1 0 0,3 0 0,4 0 0,8 1 0,7 0 0,4 0 0,-6 1 0,-10-2 0,-11 0 0,-5 0 0,-1 0 0,3 0 0,2 0 0,-2 0 0,-2 0 0,0 0 0,1 0 0,4 0 0,2 0 0,1 0 0,-1 0 0,0 0 0,0 0 0,0 0 0,1 1 0,0 0 0,-1 2 0,-2 2 0,-1-1 0,-2-1 0,-5-1 0,-6-1 0,-7-1 0,-3 1 0,4 0 0,7 1 0,6-1 0,3-1 0,-2 1 0,-6-1 0,-7 0 0,-7 0 0,-3 0 0,1 0 0,3 0 0,5 0 0,6 0 0,1-1 0,-2 0 0,-4 0 0,-6 0 0,-2 1 0,-3-1 0,0 1 0,-1-1 0,-1 1 0,-2 0 0,1 0 0,-1 0 0,0 0 0,-1 0 0,-1-1 0,-2 1 0,-2-1 0,-2 1 0,-1 0 0,0-2 0,0-2 0,-1-3 0,-1 3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7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05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645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93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0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1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595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94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006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087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62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42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866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056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</a:t>
            </a:r>
            <a:r>
              <a:rPr lang="ru-RU" dirty="0"/>
              <a:t>деления на </a:t>
            </a:r>
            <a:r>
              <a:rPr lang="en-US" dirty="0"/>
              <a:t>progress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985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299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5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E3D565-9D14-12A7-6551-B35A5363B0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4722C839-68EF-5059-6B96-D84613B89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068481-7918-932A-2F65-3D1FA8EE9A9E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303638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115A4D-CB62-3FEE-F741-2CE02E6EA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4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CFE1E-8BE2-5B20-0A13-5BB28C4576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80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04020E97-69B5-58E8-43AD-76C21EDDC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  <a:noFill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4A3B69-C05B-86F4-4BEC-ED4F1316C127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F1F1F1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07F7C3-A054-073A-AF22-CB5CCEBD8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218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EC51727-312A-3FC7-BA22-4F4789519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D3009-5309-4E8B-82EE-BE3ED7CAA7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81" r:id="rId3"/>
    <p:sldLayoutId id="214748368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lev.brave@gmail.com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9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5JMInXAtnQg?start=47&amp;feature=oembed" TargetMode="Externa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hyperlink" Target="mailto:xo3yin@yandex.r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11BE7E-B35D-B6A9-153A-F6613271C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2647" y="144898"/>
            <a:ext cx="278787" cy="42747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041720C-A067-C895-4C62-C7755613C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10" y="500826"/>
            <a:ext cx="1656321" cy="19220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B5019C-F879-0EBA-B6B6-B61CCB09D360}"/>
              </a:ext>
            </a:extLst>
          </p:cNvPr>
          <p:cNvSpPr txBox="1"/>
          <p:nvPr/>
        </p:nvSpPr>
        <p:spPr>
          <a:xfrm>
            <a:off x="3696923" y="766274"/>
            <a:ext cx="32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4000" dirty="0">
                <a:solidFill>
                  <a:srgbClr val="F1F1F1"/>
                </a:solidFill>
                <a:latin typeface="Press Start 2P" pitchFamily="2" charset="0"/>
              </a:rPr>
              <a:t>Python</a:t>
            </a:r>
          </a:p>
        </p:txBody>
      </p:sp>
      <p:pic>
        <p:nvPicPr>
          <p:cNvPr id="8" name="Picture 7" descr="Qr code&#10;&#10;Description automatically generated">
            <a:extLst>
              <a:ext uri="{FF2B5EF4-FFF2-40B4-BE49-F238E27FC236}">
                <a16:creationId xmlns:a16="http://schemas.microsoft.com/office/drawing/2014/main" id="{84EF0A1D-02E6-28CB-1152-8D4FFAD054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282" y="891165"/>
            <a:ext cx="753069" cy="707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4AE85-615B-E334-FC18-00AF5B552C8F}"/>
              </a:ext>
            </a:extLst>
          </p:cNvPr>
          <p:cNvSpPr txBox="1"/>
          <p:nvPr/>
        </p:nvSpPr>
        <p:spPr>
          <a:xfrm>
            <a:off x="3696923" y="179295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Что это за зверь?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C8626-8134-6160-7652-869807BA046D}"/>
              </a:ext>
            </a:extLst>
          </p:cNvPr>
          <p:cNvSpPr txBox="1"/>
          <p:nvPr/>
        </p:nvSpPr>
        <p:spPr>
          <a:xfrm>
            <a:off x="497342" y="4735171"/>
            <a:ext cx="6364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  <a:hlinkClick r:id="rId8"/>
              </a:rPr>
              <a:t>xo3yin@yandex.ru</a:t>
            </a:r>
            <a:endParaRPr lang="ru-RU" sz="20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</a:rPr>
              <a:t>Telegram:@xo3yin</a:t>
            </a:r>
            <a:endParaRPr lang="en-GB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59D04BA5-D4A1-F718-50A7-7900AF9C73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D1307-C7C0-AE16-E0DA-21A1FB22FE5E}"/>
              </a:ext>
            </a:extLst>
          </p:cNvPr>
          <p:cNvSpPr txBox="1"/>
          <p:nvPr/>
        </p:nvSpPr>
        <p:spPr>
          <a:xfrm>
            <a:off x="497342" y="4323091"/>
            <a:ext cx="473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1F1F1"/>
                </a:solidFill>
                <a:latin typeface="Rockwell Nova" panose="02060503020205020403" pitchFamily="18" charset="0"/>
              </a:rPr>
              <a:t>Баранов Кирилл Евгеньевич</a:t>
            </a:r>
            <a:endParaRPr lang="en-RU" sz="2400" dirty="0">
              <a:solidFill>
                <a:srgbClr val="F1F1F1"/>
              </a:solidFill>
              <a:latin typeface="Rockwell Nova" panose="020605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81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182382" y="3075057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О чем курс?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FCA753-5856-E691-3039-18E59C548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57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412940" y="3075057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Почему </a:t>
            </a:r>
            <a:r>
              <a:rPr lang="en-US" sz="4000" dirty="0">
                <a:latin typeface="Press Start 2P" pitchFamily="2" charset="0"/>
              </a:rPr>
              <a:t>Python?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26C4B9-D720-B66C-5C9E-E0DF5309F0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82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194707" y="3075057"/>
            <a:ext cx="8312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Press Start 2P" pitchFamily="2" charset="0"/>
              </a:rPr>
              <a:t>Что от вас требуется?</a:t>
            </a:r>
            <a:endParaRPr lang="en-RU" sz="28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CE5EEF-789F-2CE0-8755-730E57B1E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27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8" y="2459504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Основы </a:t>
            </a:r>
            <a:r>
              <a:rPr lang="en-US" sz="2000" dirty="0">
                <a:solidFill>
                  <a:srgbClr val="FCE38A"/>
                </a:solidFill>
                <a:latin typeface="Press Start 2P" pitchFamily="2" charset="0"/>
              </a:rPr>
              <a:t>Python:</a:t>
            </a:r>
          </a:p>
          <a:p>
            <a:pPr marL="571500" indent="-571500">
              <a:buFont typeface="Wingdings" pitchFamily="2" charset="2"/>
              <a:buChar char="§"/>
            </a:pPr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основные конструкции</a:t>
            </a:r>
          </a:p>
          <a:p>
            <a:pPr marL="571500" indent="-571500">
              <a:buFont typeface="Wingdings" pitchFamily="2" charset="2"/>
              <a:buChar char="§"/>
            </a:pPr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коллекции</a:t>
            </a:r>
          </a:p>
          <a:p>
            <a:pPr marL="571500" indent="-571500">
              <a:buFont typeface="Wingdings" pitchFamily="2" charset="2"/>
              <a:buChar char="§"/>
            </a:pPr>
            <a:endParaRPr lang="ru-RU" sz="2000" dirty="0">
              <a:solidFill>
                <a:srgbClr val="FCE38A"/>
              </a:solidFill>
              <a:latin typeface="Press Start 2P" pitchFamily="2" charset="0"/>
            </a:endParaRPr>
          </a:p>
          <a:p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Где найти материал? Как установить? </a:t>
            </a:r>
          </a:p>
          <a:p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Какие есть </a:t>
            </a:r>
            <a:r>
              <a:rPr lang="en-US" sz="2000" dirty="0">
                <a:solidFill>
                  <a:srgbClr val="FCE38A"/>
                </a:solidFill>
                <a:latin typeface="Press Start 2P" pitchFamily="2" charset="0"/>
              </a:rPr>
              <a:t>IDE </a:t>
            </a:r>
            <a:r>
              <a:rPr lang="ru-RU" sz="2000" dirty="0">
                <a:solidFill>
                  <a:srgbClr val="FCE38A"/>
                </a:solidFill>
                <a:latin typeface="Press Start 2P" pitchFamily="2" charset="0"/>
              </a:rPr>
              <a:t>и т.д.</a:t>
            </a:r>
            <a:endParaRPr lang="en-RU" sz="2000" dirty="0">
              <a:solidFill>
                <a:srgbClr val="FCE38A"/>
              </a:solidFill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EEA07A-7EED-6F12-4123-B74636D4B6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73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7B41-0365-58BC-0A82-24C421C005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31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Языки программирования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1" y="1689100"/>
            <a:ext cx="10921999" cy="269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Язык программирования – это набор строгих правил, согласно которым  компьютер может «понимать» команды и выполнять их. Текст программы,  написанной на любом языке программирования, называется  программным кодом или просто кодом.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algn="just"/>
            <a:endParaRPr lang="en-RU" sz="2400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63" name="object 11">
            <a:extLst>
              <a:ext uri="{FF2B5EF4-FFF2-40B4-BE49-F238E27FC236}">
                <a16:creationId xmlns:a16="http://schemas.microsoft.com/office/drawing/2014/main" id="{2A92FB1A-BDC2-270C-32A1-1386B46EE3C9}"/>
              </a:ext>
            </a:extLst>
          </p:cNvPr>
          <p:cNvSpPr txBox="1"/>
          <p:nvPr/>
        </p:nvSpPr>
        <p:spPr>
          <a:xfrm>
            <a:off x="7034995" y="4907280"/>
            <a:ext cx="3019947" cy="111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spc="370" dirty="0">
                <a:latin typeface="Calibri"/>
                <a:cs typeface="Calibri"/>
              </a:rPr>
              <a:t>Python</a:t>
            </a:r>
            <a:endParaRPr sz="7250" dirty="0">
              <a:latin typeface="Calibri"/>
              <a:cs typeface="Calibri"/>
            </a:endParaRPr>
          </a:p>
        </p:txBody>
      </p:sp>
      <p:sp>
        <p:nvSpPr>
          <p:cNvPr id="64" name="object 14">
            <a:extLst>
              <a:ext uri="{FF2B5EF4-FFF2-40B4-BE49-F238E27FC236}">
                <a16:creationId xmlns:a16="http://schemas.microsoft.com/office/drawing/2014/main" id="{95790012-B0D0-A10A-B6AD-A9A63448B1DC}"/>
              </a:ext>
            </a:extLst>
          </p:cNvPr>
          <p:cNvSpPr txBox="1"/>
          <p:nvPr/>
        </p:nvSpPr>
        <p:spPr>
          <a:xfrm>
            <a:off x="2745337" y="5168900"/>
            <a:ext cx="114681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1005" dirty="0">
                <a:latin typeface="Calibri"/>
                <a:cs typeface="Calibri"/>
              </a:rPr>
              <a:t>C#</a:t>
            </a:r>
            <a:endParaRPr sz="6600" dirty="0">
              <a:latin typeface="Calibri"/>
              <a:cs typeface="Calibri"/>
            </a:endParaRPr>
          </a:p>
        </p:txBody>
      </p:sp>
      <p:sp>
        <p:nvSpPr>
          <p:cNvPr id="65" name="object 28">
            <a:extLst>
              <a:ext uri="{FF2B5EF4-FFF2-40B4-BE49-F238E27FC236}">
                <a16:creationId xmlns:a16="http://schemas.microsoft.com/office/drawing/2014/main" id="{7BE6204C-71BE-F323-EF22-F3AA783E2590}"/>
              </a:ext>
            </a:extLst>
          </p:cNvPr>
          <p:cNvSpPr txBox="1"/>
          <p:nvPr/>
        </p:nvSpPr>
        <p:spPr>
          <a:xfrm>
            <a:off x="749300" y="4202430"/>
            <a:ext cx="985519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spc="114" dirty="0">
                <a:latin typeface="Calibri"/>
                <a:cs typeface="Calibri"/>
              </a:rPr>
              <a:t>Perl</a:t>
            </a:r>
            <a:endParaRPr sz="4450" dirty="0">
              <a:latin typeface="Calibri"/>
              <a:cs typeface="Calibri"/>
            </a:endParaRPr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E53BFFCE-C92E-1C64-1C00-52621E6C8F76}"/>
              </a:ext>
            </a:extLst>
          </p:cNvPr>
          <p:cNvSpPr txBox="1"/>
          <p:nvPr/>
        </p:nvSpPr>
        <p:spPr>
          <a:xfrm>
            <a:off x="8653577" y="3788086"/>
            <a:ext cx="3159760" cy="855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spc="260" dirty="0">
                <a:latin typeface="Calibri"/>
                <a:cs typeface="Calibri"/>
              </a:rPr>
              <a:t>JavaScript</a:t>
            </a:r>
            <a:endParaRPr sz="5450" dirty="0">
              <a:latin typeface="Calibri"/>
              <a:cs typeface="Calibri"/>
            </a:endParaRPr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A8AC1DEE-4DF9-2F25-CAE1-AD8BDBE85696}"/>
              </a:ext>
            </a:extLst>
          </p:cNvPr>
          <p:cNvSpPr txBox="1"/>
          <p:nvPr/>
        </p:nvSpPr>
        <p:spPr>
          <a:xfrm>
            <a:off x="3538424" y="4202430"/>
            <a:ext cx="3135630" cy="20942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4450" spc="204" dirty="0">
                <a:latin typeface="Calibri"/>
                <a:cs typeface="Calibri"/>
              </a:rPr>
              <a:t>ActionScript</a:t>
            </a:r>
            <a:endParaRPr sz="4450" dirty="0">
              <a:latin typeface="Calibri"/>
              <a:cs typeface="Calibri"/>
            </a:endParaRPr>
          </a:p>
          <a:p>
            <a:pPr marL="1247775" algn="ctr">
              <a:lnSpc>
                <a:spcPct val="100000"/>
              </a:lnSpc>
              <a:spcBef>
                <a:spcPts val="1810"/>
              </a:spcBef>
            </a:pPr>
            <a:r>
              <a:rPr sz="6600" spc="305" dirty="0">
                <a:latin typeface="Calibri"/>
                <a:cs typeface="Calibri"/>
              </a:rPr>
              <a:t>Java</a:t>
            </a:r>
            <a:endParaRPr sz="6600" dirty="0">
              <a:latin typeface="Calibri"/>
              <a:cs typeface="Calibri"/>
            </a:endParaRPr>
          </a:p>
        </p:txBody>
      </p:sp>
      <p:sp>
        <p:nvSpPr>
          <p:cNvPr id="68" name="object 6">
            <a:extLst>
              <a:ext uri="{FF2B5EF4-FFF2-40B4-BE49-F238E27FC236}">
                <a16:creationId xmlns:a16="http://schemas.microsoft.com/office/drawing/2014/main" id="{21BFF4AB-781A-993C-4568-781DDADB5D00}"/>
              </a:ext>
            </a:extLst>
          </p:cNvPr>
          <p:cNvSpPr txBox="1"/>
          <p:nvPr/>
        </p:nvSpPr>
        <p:spPr>
          <a:xfrm>
            <a:off x="10519980" y="6026205"/>
            <a:ext cx="144716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204" dirty="0">
                <a:latin typeface="Calibri"/>
                <a:cs typeface="Calibri"/>
              </a:rPr>
              <a:t>Pascal</a:t>
            </a:r>
            <a:endParaRPr sz="3950" dirty="0">
              <a:latin typeface="Calibri"/>
              <a:cs typeface="Calibri"/>
            </a:endParaRPr>
          </a:p>
        </p:txBody>
      </p:sp>
      <p:sp>
        <p:nvSpPr>
          <p:cNvPr id="69" name="object 18">
            <a:extLst>
              <a:ext uri="{FF2B5EF4-FFF2-40B4-BE49-F238E27FC236}">
                <a16:creationId xmlns:a16="http://schemas.microsoft.com/office/drawing/2014/main" id="{DB0E8545-AB2E-3837-D455-F68120823C2A}"/>
              </a:ext>
            </a:extLst>
          </p:cNvPr>
          <p:cNvSpPr txBox="1"/>
          <p:nvPr/>
        </p:nvSpPr>
        <p:spPr>
          <a:xfrm>
            <a:off x="655926" y="5886450"/>
            <a:ext cx="172847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450" dirty="0">
                <a:latin typeface="Calibri"/>
                <a:cs typeface="Calibri"/>
              </a:rPr>
              <a:t>COBOL</a:t>
            </a:r>
            <a:endParaRPr sz="3950" dirty="0">
              <a:latin typeface="Calibri"/>
              <a:cs typeface="Calibri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9FABCA-3A70-3B3E-A6D0-2F3261A51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62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Интерпретатор </a:t>
            </a:r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Python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1694344-BFD7-FEB0-4653-0F79B278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619"/>
            <a:ext cx="12192000" cy="380308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DF9CAE-F467-742A-DCCD-2B40C4B69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30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767280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Вывод данных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Программа "</a:t>
            </a:r>
            <a:r>
              <a:rPr lang="en-US" sz="4000" dirty="0">
                <a:latin typeface="Press Start 2P" pitchFamily="2" charset="0"/>
              </a:rPr>
              <a:t>hello"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9361D6-B7EC-0F65-7925-824EA91F88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97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13117-601A-E7F9-3704-8F27390223C9}"/>
              </a:ext>
            </a:extLst>
          </p:cNvPr>
          <p:cNvSpPr txBox="1"/>
          <p:nvPr/>
        </p:nvSpPr>
        <p:spPr>
          <a:xfrm>
            <a:off x="1505765" y="0"/>
            <a:ext cx="9038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5B5F83-B9EB-7357-7DE2-B2E401A42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56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2CDFAC-5C03-A452-D090-707D26D97A35}"/>
              </a:ext>
            </a:extLst>
          </p:cNvPr>
          <p:cNvSpPr txBox="1"/>
          <p:nvPr/>
        </p:nvSpPr>
        <p:spPr>
          <a:xfrm>
            <a:off x="1497841" y="4244454"/>
            <a:ext cx="63803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Hello</a:t>
            </a:r>
            <a:endParaRPr lang="en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4E76B-D1B5-5862-9B5A-6303984BBB0C}"/>
              </a:ext>
            </a:extLst>
          </p:cNvPr>
          <p:cNvSpPr txBox="1"/>
          <p:nvPr/>
        </p:nvSpPr>
        <p:spPr>
          <a:xfrm>
            <a:off x="1497689" y="0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205ED19-D0C9-CF2B-3E74-483FB6907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40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1A3178-58EE-8316-1330-3AD7A6C2AC9C}"/>
              </a:ext>
            </a:extLst>
          </p:cNvPr>
          <p:cNvSpPr txBox="1"/>
          <p:nvPr/>
        </p:nvSpPr>
        <p:spPr>
          <a:xfrm>
            <a:off x="1497689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'How'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'are'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'you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?'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'How are you?'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D62B9-33E5-C8D5-E40D-0B2BC268E122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Hello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How are you?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How are you?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1C5ABB-5C53-799D-09C4-904CA341F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971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C719B84-AC4D-BE9F-0504-896914B61FB5}"/>
              </a:ext>
            </a:extLst>
          </p:cNvPr>
          <p:cNvSpPr txBox="1"/>
          <p:nvPr/>
        </p:nvSpPr>
        <p:spPr>
          <a:xfrm>
            <a:off x="1497689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!'  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6C466-A5A7-9811-0E22-C3113ED9FC01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EF5C85-EF49-E501-98E9-C6B906165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558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C719B84-AC4D-BE9F-0504-896914B61FB5}"/>
              </a:ext>
            </a:extLst>
          </p:cNvPr>
          <p:cNvSpPr txBox="1"/>
          <p:nvPr/>
        </p:nvSpPr>
        <p:spPr>
          <a:xfrm>
            <a:off x="1497689" y="0"/>
            <a:ext cx="6380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!'  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 =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Уаааа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!'  </a:t>
            </a:r>
            <a:b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6C466-A5A7-9811-0E22-C3113ED9FC01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Уаааа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43E4CE9-3BE1-D561-1E80-0A9DD0C9F0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271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C719B84-AC4D-BE9F-0504-896914B61FB5}"/>
              </a:ext>
            </a:extLst>
          </p:cNvPr>
          <p:cNvSpPr txBox="1"/>
          <p:nvPr/>
        </p:nvSpPr>
        <p:spPr>
          <a:xfrm>
            <a:off x="1497689" y="0"/>
            <a:ext cx="6380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!'  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 =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Уаааа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!'  </a:t>
            </a:r>
            <a:b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cry2 = cry</a:t>
            </a:r>
            <a:b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(cry2)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6C466-A5A7-9811-0E22-C3113ED9FC01}"/>
              </a:ext>
            </a:extLst>
          </p:cNvPr>
          <p:cNvSpPr txBox="1"/>
          <p:nvPr/>
        </p:nvSpPr>
        <p:spPr>
          <a:xfrm>
            <a:off x="1497689" y="4244454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Ауууу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Уаааа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Уаааа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AE8587-25A5-5126-1B5C-A40CC5E33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45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182382" y="3075057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Ввод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C94096-A116-0E70-2FE5-5FF093F7C1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176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55BEF9-61C3-EE2B-F00A-D3ABA5E886D1}"/>
              </a:ext>
            </a:extLst>
          </p:cNvPr>
          <p:cNvSpPr txBox="1"/>
          <p:nvPr/>
        </p:nvSpPr>
        <p:spPr>
          <a:xfrm>
            <a:off x="149352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тебя зовут?'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Привет,'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A5BE7BFF-1BBC-76F3-F343-D51EA2FB4DAD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B14DF8-FF65-4E0F-7B0D-1A21D7AA7FA0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тебя зовут? Артём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Привет, Артём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D4039A-6A45-3A09-9379-32DA9C0FC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648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3612C6-3162-0E5F-CD9A-3A7E83772C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8EF08E0-85A5-9BDE-C2F0-0D5B23528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131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CBAEF4-6CC1-5F06-2689-85DD05DB98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658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3075057"/>
            <a:ext cx="89050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Условный оператор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CA485C-599B-3BB7-BCF8-888B4EF092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849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489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Условный оператор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860622"/>
            <a:ext cx="10921999" cy="233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Условный оператор используется, когда некая часть программы должна  быть выполнена, только если верно какое-либо условие. Для записи  условного оператора используются ключевые слова 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if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 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else («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если», «иначе»), двоеточие, а также отступ в четыре пробела.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EA3BF-88B8-63D5-3565-02C2F7B30B86}"/>
              </a:ext>
            </a:extLst>
          </p:cNvPr>
          <p:cNvSpPr txBox="1"/>
          <p:nvPr/>
        </p:nvSpPr>
        <p:spPr>
          <a:xfrm>
            <a:off x="749300" y="4442277"/>
            <a:ext cx="966470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kumimoji="0" lang="en-US" sz="2800" b="1" i="0" u="none" strike="noStrike" kern="1200" cap="none" spc="-2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условие:</a:t>
            </a:r>
            <a:endParaRPr lang="ru-RU" sz="2800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действие, если условие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endParaRPr lang="ru-RU" sz="2800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действие, если условие</a:t>
            </a:r>
            <a:r>
              <a:rPr lang="ru-RU" sz="2800" spc="-10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неверно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1F11EA-7D3D-B30E-3C56-3F9126A9C5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82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681F7-EA36-3366-4816-EDA2954B6D66}"/>
              </a:ext>
            </a:extLst>
          </p:cNvPr>
          <p:cNvSpPr txBox="1"/>
          <p:nvPr/>
        </p:nvSpPr>
        <p:spPr>
          <a:xfrm>
            <a:off x="1483360" y="0"/>
            <a:ext cx="6380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Введите пароль от 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криптокошелька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password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password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'qwerty'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Доступ открыт.'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Ошибка, доступ закрыт!'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0D98A041-9AC9-6257-0C1D-64ECDED963E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99FE64-BE70-1B83-47FB-B990936CAC1F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Введите пароль от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криптокошелька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qwerty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22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Ошибка, доступ закрыт!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9928AC-90E7-2650-CC8D-FD78DD67B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518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8" y="3075057"/>
            <a:ext cx="993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Логические операции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367AE6-AE44-2075-494B-86DB024CC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732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453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Логические операции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32828"/>
            <a:ext cx="10921999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Чтобы задать, что два условия должны выполняться одновременно -  используем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and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(«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и»), если достаточно выполнения одного из двух вариантов (или оба сразу), то используем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or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(«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или»), а если нужно убрать какой-то вариант, то используем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not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(«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не»)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Приоритет	операций: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not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and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or</a:t>
            </a: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A7D89F-0F38-517F-AA4B-ED8C0E186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380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BDD91-B669-D600-B710-07CCAC21F0E6}"/>
              </a:ext>
            </a:extLst>
          </p:cNvPr>
          <p:cNvSpPr txBox="1"/>
          <p:nvPr/>
        </p:nvSpPr>
        <p:spPr>
          <a:xfrm>
            <a:off x="1493520" y="0"/>
            <a:ext cx="9062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greek_letter_1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называется первая буква греческого алфавита?'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greek_letter_2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называется последняя буква греческого алфавита?'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greek_letter_1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альфа'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greek_letter_2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омега'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ancient_god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греки или римляне называли главу своего пантеона - бога грома?'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ancient_god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Зевс'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ancient_god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Юпитер'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40B3457-9A29-90DE-9AB4-954ED7DE2BCF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2995B2F-914F-5C66-040E-30720E5A6C24}"/>
              </a:ext>
            </a:extLst>
          </p:cNvPr>
          <p:cNvSpPr txBox="1"/>
          <p:nvPr/>
        </p:nvSpPr>
        <p:spPr>
          <a:xfrm>
            <a:off x="1497689" y="4244454"/>
            <a:ext cx="74356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называется первая буква греческого алфавита? альфа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называется последняя буква греческого алфавита? Омега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</a:t>
            </a:r>
          </a:p>
          <a:p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Как греки или римляне называли главу своего пантеона – бога грома? Зевс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830C26-453B-49AE-F995-27EEFF9CB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70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7D594F-35E7-2BDD-2767-A99C317A4E5F}"/>
              </a:ext>
            </a:extLst>
          </p:cNvPr>
          <p:cNvSpPr txBox="1"/>
          <p:nvPr/>
        </p:nvSpPr>
        <p:spPr>
          <a:xfrm>
            <a:off x="1473200" y="0"/>
            <a:ext cx="9194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Ex. #1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(brother1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Ромул'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Рем'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Кастор' 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Поллукс'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Полидевк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)):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Ex. #2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Ромул'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Рем'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Кастор'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Поллукс'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brother2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Полидевк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Неверно.'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AC520A8-B5F6-C9D1-0A21-2A7512FF28CC}"/>
                  </a:ext>
                </a:extLst>
              </p14:cNvPr>
              <p14:cNvContentPartPr/>
              <p14:nvPr/>
            </p14:nvContentPartPr>
            <p14:xfrm>
              <a:off x="1937000" y="585120"/>
              <a:ext cx="134280" cy="6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AC520A8-B5F6-C9D1-0A21-2A7512FF2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8000" y="576480"/>
                <a:ext cx="1519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7772764-62CD-6665-D8A8-6889AEE369B1}"/>
                  </a:ext>
                </a:extLst>
              </p14:cNvPr>
              <p14:cNvContentPartPr/>
              <p14:nvPr/>
            </p14:nvContentPartPr>
            <p14:xfrm>
              <a:off x="4014200" y="1560720"/>
              <a:ext cx="183960" cy="5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7772764-62CD-6665-D8A8-6889AEE369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5560" y="1551720"/>
                <a:ext cx="2016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C128D9F-3E93-8B83-1731-8768BA5E82C3}"/>
              </a:ext>
            </a:extLst>
          </p:cNvPr>
          <p:cNvGrpSpPr/>
          <p:nvPr/>
        </p:nvGrpSpPr>
        <p:grpSpPr>
          <a:xfrm>
            <a:off x="10166600" y="2299800"/>
            <a:ext cx="426960" cy="383400"/>
            <a:chOff x="10166600" y="2299800"/>
            <a:chExt cx="42696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848396-1F01-4CC2-4310-954E1B056FCA}"/>
                    </a:ext>
                  </a:extLst>
                </p14:cNvPr>
                <p14:cNvContentPartPr/>
                <p14:nvPr/>
              </p14:nvContentPartPr>
              <p14:xfrm>
                <a:off x="10200800" y="2361000"/>
                <a:ext cx="392760" cy="322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848396-1F01-4CC2-4310-954E1B056F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91800" y="2352000"/>
                  <a:ext cx="4104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3ACA6D-D9C5-312B-E62B-3DEFE33163E1}"/>
                    </a:ext>
                  </a:extLst>
                </p14:cNvPr>
                <p14:cNvContentPartPr/>
                <p14:nvPr/>
              </p14:nvContentPartPr>
              <p14:xfrm>
                <a:off x="10166600" y="2356680"/>
                <a:ext cx="80640" cy="142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3ACA6D-D9C5-312B-E62B-3DEFE33163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57600" y="2347680"/>
                  <a:ext cx="98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12FE20-0F36-4C6C-2783-B6D5AC05AD75}"/>
                    </a:ext>
                  </a:extLst>
                </p14:cNvPr>
                <p14:cNvContentPartPr/>
                <p14:nvPr/>
              </p14:nvContentPartPr>
              <p14:xfrm>
                <a:off x="10219520" y="2299800"/>
                <a:ext cx="219240" cy="2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12FE20-0F36-4C6C-2783-B6D5AC05AD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10520" y="2291160"/>
                  <a:ext cx="236880" cy="4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08363-EC29-159D-F6DC-D9083B86A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937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767280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Блоки кода  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Вложенные условия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064B51-5D28-0F2F-EAEC-FA7474D23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107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A3AB4-526E-63A7-0EFD-EB9E55F662F0}"/>
              </a:ext>
            </a:extLst>
          </p:cNvPr>
          <p:cNvSpPr txBox="1"/>
          <p:nvPr/>
        </p:nvSpPr>
        <p:spPr>
          <a:xfrm>
            <a:off x="1493520" y="0"/>
            <a:ext cx="6380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Представься, о незнакомец!'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Цезарь'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'Caesar'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Аве, Цезарь!'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Слава императору!'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Приветик.'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Погода сегодня хорошая.'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Засим - заканчиваем.'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A8F75C-CDE5-1958-9080-73CEBC216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601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6277BD-AEE4-7E4F-43F7-B61A8F457C69}"/>
              </a:ext>
            </a:extLst>
          </p:cNvPr>
          <p:cNvSpPr txBox="1"/>
          <p:nvPr/>
        </p:nvSpPr>
        <p:spPr>
          <a:xfrm>
            <a:off x="1503680" y="0"/>
            <a:ext cx="91236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Представься, о незнакомец!'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Цезарь'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'Caesar'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Аве, Цезарь!'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 честь какого бога устроим празднество?'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god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god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Юпитер'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Ура Громовержцу!'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god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Минерва'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Ура мудрой воительнице!'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Бога по имени'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god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</a:p>
          <a:p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 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мы не знаем, но слово Цезаря – закон.'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Слава императору!'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Приветик.'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Погода сегодня хорошая.'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Засим - заканчиваем.'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6389F4-4AFE-5E6D-5D5C-0AC87E28B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004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9A00E2-92DF-9B53-8412-659B0B74FFED}"/>
              </a:ext>
            </a:extLst>
          </p:cNvPr>
          <p:cNvSpPr txBox="1"/>
          <p:nvPr/>
        </p:nvSpPr>
        <p:spPr>
          <a:xfrm>
            <a:off x="1280160" y="274290"/>
            <a:ext cx="6096000" cy="6353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kumimoji="0" lang="en-US" b="0" i="0" u="none" strike="noStrike" kern="1200" cap="none" spc="5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условие1: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15" normalizeH="0" baseline="0" noProof="0" dirty="0" err="1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условие2: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15" normalizeH="0" baseline="0" noProof="0" dirty="0" err="1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условие3: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520190" latinLnBrk="0">
              <a:spcBef>
                <a:spcPts val="1030"/>
              </a:spcBef>
              <a:defRPr/>
            </a:pPr>
            <a:r>
              <a:rPr lang="ru-RU" spc="10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Цепочка </a:t>
            </a:r>
            <a:r>
              <a:rPr lang="en-US" b="1" spc="15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pc="15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pc="15" dirty="0" err="1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ов</a:t>
            </a:r>
            <a:r>
              <a:rPr lang="ru-RU" spc="15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гораздо удобнее, чем цепочка</a:t>
            </a:r>
            <a:r>
              <a:rPr lang="ru-RU" spc="-40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b="1" spc="15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pc="15" dirty="0" err="1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b="1" spc="15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lang="en-US" spc="15" dirty="0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pc="15" dirty="0" err="1">
                <a:solidFill>
                  <a:prstClr val="black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ов</a:t>
            </a:r>
            <a:endParaRPr lang="en-US" spc="10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kumimoji="0" lang="en-US" b="0" i="0" u="none" strike="noStrike" kern="1200" cap="none" spc="5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условие1: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kumimoji="0" lang="en-US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en-US" b="1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kumimoji="0" lang="en-US" b="0" i="0" u="none" strike="noStrike" kern="1200" cap="none" spc="5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условие2: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kumimoji="0" lang="en-US" b="1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kumimoji="0" lang="en-US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kumimoji="0" lang="en-US" b="1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</a:t>
            </a:r>
            <a:r>
              <a:rPr kumimoji="0" lang="en-US" b="0" i="0" u="none" strike="noStrike" kern="1200" cap="none" spc="5" normalizeH="0" baseline="0" noProof="0" dirty="0">
                <a:ln>
                  <a:noFill/>
                </a:ln>
                <a:solidFill>
                  <a:srgbClr val="3878BD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kumimoji="0" lang="ru-RU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условие3:</a:t>
            </a:r>
            <a:endParaRPr lang="en-US" dirty="0">
              <a:solidFill>
                <a:prstClr val="black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kumimoji="0" lang="ru-RU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...</a:t>
            </a:r>
            <a:endParaRPr lang="en-US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6E10C4-C0A1-25CE-AD7E-EDA05EB64B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5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BB571E-FF3D-0FF4-66F8-4CA54063ADEA}"/>
              </a:ext>
            </a:extLst>
          </p:cNvPr>
          <p:cNvSpPr txBox="1"/>
          <p:nvPr/>
        </p:nvSpPr>
        <p:spPr>
          <a:xfrm>
            <a:off x="1513840" y="0"/>
            <a:ext cx="63804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Любите ли вы котиков?'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Умеете ли вы программировать?'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 вы просто идеал!'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редкостной добротой.'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незаурядным умом.'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вас большие перспективы.'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Ошибка: ожидались ответы да/нет'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D218231-4B82-58DA-9E75-3D166B06B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261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CB590F-8112-27C8-A553-7B2D795E6FB2}"/>
              </a:ext>
            </a:extLst>
          </p:cNvPr>
          <p:cNvSpPr txBox="1"/>
          <p:nvPr/>
        </p:nvSpPr>
        <p:spPr>
          <a:xfrm>
            <a:off x="1513840" y="0"/>
            <a:ext cx="851408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Любите ли вы котиков?'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Умеете ли вы программировать?'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((answer1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 вы просто идеал!'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редкостной добротой.'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незаурядным умом.'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вас большие перспективы.'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Ошибка: ожидались ответы да/нет'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7BE0D5-0392-A3DC-8401-7807437C2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933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791EB-43AA-F6B7-2689-EB547268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6BE37-A98B-78C8-C077-F64BD1634BD3}"/>
              </a:ext>
            </a:extLst>
          </p:cNvPr>
          <p:cNvSpPr txBox="1"/>
          <p:nvPr/>
        </p:nvSpPr>
        <p:spPr>
          <a:xfrm>
            <a:off x="4795806" y="3075057"/>
            <a:ext cx="2600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Match-case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51AA8-B071-9EF0-7A5D-7E96FAAD4001}"/>
              </a:ext>
            </a:extLst>
          </p:cNvPr>
          <p:cNvSpPr txBox="1"/>
          <p:nvPr/>
        </p:nvSpPr>
        <p:spPr>
          <a:xfrm>
            <a:off x="8288471" y="1088265"/>
            <a:ext cx="1943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Press Start 2P" pitchFamily="2" charset="0"/>
              </a:rPr>
              <a:t>&gt;=Python3.10 only</a:t>
            </a:r>
            <a:endParaRPr lang="en-RU" dirty="0">
              <a:latin typeface="Press Start 2P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4EB7FB-8DFB-0D81-AFC9-8162E6D39C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829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FFF8-0121-59C3-913E-DE59CAAF2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70B185-40F2-D812-DCC5-F28E240BA0D1}"/>
              </a:ext>
            </a:extLst>
          </p:cNvPr>
          <p:cNvSpPr txBox="1"/>
          <p:nvPr/>
        </p:nvSpPr>
        <p:spPr>
          <a:xfrm>
            <a:off x="1615721" y="1058660"/>
            <a:ext cx="6096000" cy="441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b="1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match</a:t>
            </a: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выражение: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ru-RU" b="1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case</a:t>
            </a: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шаблон_1: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действие_1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ru-RU" b="1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case</a:t>
            </a: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шаблон_2: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действие_2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en-US" dirty="0"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................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en-US" dirty="0"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</a:t>
            </a:r>
            <a:r>
              <a:rPr lang="ru-RU" b="1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</a:t>
            </a:r>
            <a:r>
              <a:rPr lang="ru-RU" b="1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case</a:t>
            </a:r>
            <a:r>
              <a:rPr lang="ru-RU" b="1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</a:t>
            </a:r>
            <a:r>
              <a:rPr lang="ru-RU" b="0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шаблон_N</a:t>
            </a: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: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ru-RU" b="0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действие_N</a:t>
            </a: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en-US" dirty="0"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   </a:t>
            </a:r>
            <a:r>
              <a:rPr lang="ru-RU" b="1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case</a:t>
            </a: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_:</a:t>
            </a:r>
            <a:endParaRPr lang="en-US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b="0" dirty="0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ru-RU" b="0" dirty="0" err="1"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действие_по_умолчанию</a:t>
            </a:r>
            <a:endParaRPr lang="ru-RU" b="0" dirty="0"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013C56-EF63-0BB8-27EF-B17209850D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74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8AFE-0D7B-9CB8-52A1-ADB7FD7B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4234BB-3C79-63DD-AB0F-489CD05C1BD0}"/>
              </a:ext>
            </a:extLst>
          </p:cNvPr>
          <p:cNvSpPr txBox="1"/>
          <p:nvPr/>
        </p:nvSpPr>
        <p:spPr>
          <a:xfrm>
            <a:off x="1513840" y="0"/>
            <a:ext cx="6380480" cy="2974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Любите ли вы котиков?'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answer1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Умеете ли вы программировать?'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answer2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endParaRPr lang="en-US" sz="1600" dirty="0">
              <a:solidFill>
                <a:srgbClr val="CCCCCC"/>
              </a:solidFill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match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(answer1, answer2):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case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 вы просто идеал!'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ru-RU" sz="1600" b="0" dirty="0">
              <a:solidFill>
                <a:srgbClr val="CCCCCC"/>
              </a:solidFill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case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редкостной добротой.'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ru-RU" sz="1600" b="0" dirty="0">
              <a:solidFill>
                <a:srgbClr val="CCCCCC"/>
              </a:solidFill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case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да'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обладаете незаурядным умом.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case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нет'</a:t>
            </a: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вас большие перспективы.'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ru-RU" sz="1600" b="0" dirty="0">
              <a:solidFill>
                <a:schemeClr val="accent6">
                  <a:lumMod val="75000"/>
                </a:schemeClr>
              </a:solidFill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case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 _: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       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JetBrains Mono NL" panose="02000009000000000000"/>
                <a:ea typeface="JetBrains Mono NL" panose="02000009000000000000"/>
                <a:cs typeface="JetBrains Mono NL" panose="0200000900000000000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Ошибка: ожидались ответы да/нет'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ru-RU" sz="1600" b="0" dirty="0">
              <a:solidFill>
                <a:srgbClr val="CCCCCC"/>
              </a:solidFill>
              <a:effectLst/>
              <a:latin typeface="JetBrains Mono NL" panose="02000009000000000000"/>
              <a:ea typeface="JetBrains Mono NL" panose="02000009000000000000"/>
              <a:cs typeface="JetBrains Mono NL" panose="0200000900000000000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ADF7A5-C642-92D7-9C4A-8D1BD4CAE6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744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617576" y="3075057"/>
            <a:ext cx="109568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Операции над строками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DF3EA1-800A-A0A6-637A-22AE716D1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859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6F434F-2A10-0800-12D4-BF23B656D4A7}"/>
              </a:ext>
            </a:extLst>
          </p:cNvPr>
          <p:cNvSpPr txBox="1"/>
          <p:nvPr/>
        </p:nvSpPr>
        <p:spPr>
          <a:xfrm>
            <a:off x="1497689" y="0"/>
            <a:ext cx="6380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+ конкатенация (склеивание)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'30'</a:t>
            </a:r>
            <a:b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y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'40'</a:t>
            </a:r>
            <a:b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 + y)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*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дублирование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'30'</a:t>
            </a:r>
            <a:b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y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'40'</a:t>
            </a:r>
            <a:b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 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 y 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3040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3030404040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D175BC-F5C7-B557-0329-0E0BAF45F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447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39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in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297D71F7-78D4-81E4-D5E2-581E77BE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077112"/>
              </p:ext>
            </p:extLst>
          </p:nvPr>
        </p:nvGraphicFramePr>
        <p:xfrm>
          <a:off x="180022" y="2386518"/>
          <a:ext cx="11831955" cy="27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8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1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6841">
                <a:tc>
                  <a:txBody>
                    <a:bodyPr/>
                    <a:lstStyle/>
                    <a:p>
                      <a:pPr marL="31750">
                        <a:lnSpc>
                          <a:spcPts val="4465"/>
                        </a:lnSpc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ts val="4465"/>
                        </a:lnSpc>
                      </a:pPr>
                      <a:r>
                        <a:rPr sz="3600" b="1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in</a:t>
                      </a:r>
                      <a:endParaRPr sz="36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4465"/>
                        </a:lnSpc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'хорошо'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8030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sz="3600" spc="-2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3600" spc="-1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верно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12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b="1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in</a:t>
                      </a:r>
                      <a:endParaRPr sz="36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'эх,</a:t>
                      </a:r>
                      <a:r>
                        <a:rPr sz="3600" spc="-3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хорошо'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sz="3600" spc="-2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3600" spc="-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верно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b="1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in</a:t>
                      </a:r>
                      <a:endParaRPr sz="36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'плохо'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sz="3600" spc="-8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3600" spc="-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неверно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9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'хорошо'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b="1" dirty="0">
                          <a:solidFill>
                            <a:srgbClr val="001F5F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in</a:t>
                      </a:r>
                      <a:endParaRPr sz="36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spc="-5" dirty="0">
                          <a:solidFill>
                            <a:schemeClr val="accent6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'хорош'</a:t>
                      </a:r>
                      <a:endParaRPr sz="3600" dirty="0">
                        <a:solidFill>
                          <a:schemeClr val="accent6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sz="3600" spc="-8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3600" spc="-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неверно</a:t>
                      </a:r>
                      <a:endParaRPr sz="36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003A92-CAA4-0772-2A47-763DC3906C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884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6A2590-B794-3392-11F9-B4948643CE08}"/>
              </a:ext>
            </a:extLst>
          </p:cNvPr>
          <p:cNvSpPr txBox="1"/>
          <p:nvPr/>
        </p:nvSpPr>
        <p:spPr>
          <a:xfrm>
            <a:off x="1503680" y="0"/>
            <a:ext cx="84937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Введите текст: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хорош'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плох'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not 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Положительная эмоциональная окраска'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elif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плох'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хорош'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not 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Отрицательная эмоциональная окраска'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Нейтральная или смешанная эмоциональная окраска'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87A794E-F5AA-BF17-D929-982169F49D89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FB2B036-AAB0-2D21-21FD-93BFC1CDC4FB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Введите текст: хороший день, чтобы начать программировать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Положительная эмоциональная окраска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B28C2-9C58-7E38-FCC3-75299B58B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80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A0F9AB-9FE5-586E-6B7E-3F175C3C5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054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182382" y="3075057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Типы данных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8FF3A1-48BA-FDD0-0A90-9023373D2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56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Типы данных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76F6C0-F782-DECF-995F-2367B1C9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1" y="1402458"/>
            <a:ext cx="10875818" cy="4894833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BA1858-F165-867B-D27C-8CF4D7AC2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17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008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Целочисленное деление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3849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Для реализации целочисленного деления существуют два действия –  деление нацело и остаток от деления нацело. Получение целой части от деления обозначается как удвоенный знак деления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//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а остатка от деления нацело -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%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Пример: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190 // 27 = &gt; 7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190 % 27  = &gt; 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487895-905A-C242-68E7-D4A50D2C90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449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5176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Приоритет операций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350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Возведение в степень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**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).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Унарный минус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). </a:t>
            </a:r>
            <a:r>
              <a:rPr lang="ru-RU" sz="2400" i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Используется для получения, например, противоположного числа.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Умножение, деление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* / % //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).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Сложение и вычитание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+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).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Операторы сравнения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&lt;=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&lt;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&gt;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&gt;=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Операторы равенства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==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!=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Операторы присваивания (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=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  <a:p>
            <a:pPr marL="469900" marR="269875" lvl="0" indent="-457200" algn="just" latinLnBrk="0">
              <a:spcBef>
                <a:spcPts val="95"/>
              </a:spcBef>
              <a:buFont typeface="+mj-lt"/>
              <a:buAutoNum type="arabicPeriod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Логические операторы (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not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or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and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C7D9F8-0A37-90C6-B714-8113187ABF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968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8" y="3075057"/>
            <a:ext cx="9417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Простейшие функции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8DB8D8-5935-544C-57D8-B479E5F38F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516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Функция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4983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 - это сущность, которая из одного (или даже нескольких) значений  делает другое. При этом она может ещё и выполнять какие-то действия.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Тип данных целых чисел в 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называется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дробных –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float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Одноименные функции принимают в качестве аргумента строку и  возвращают число.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Пример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ea typeface="JetBrains Mono NL" panose="02000009000000000000" pitchFamily="49" charset="0"/>
                <a:cs typeface="Tahoma"/>
              </a:rPr>
              <a:t> 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преобразуют введенную пользователем строку в число и записывает в переменную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а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7A6314-162D-A210-D4A0-4A560C7D5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361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2DB135-DBCA-476A-3AAE-3A7F261E98C8}"/>
              </a:ext>
            </a:extLst>
          </p:cNvPr>
          <p:cNvSpPr txBox="1"/>
          <p:nvPr/>
        </p:nvSpPr>
        <p:spPr>
          <a:xfrm>
            <a:off x="150368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 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 + b)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637CAE99-6DA3-01CB-B3A9-92FE0D9A404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E2F687-7197-47E6-152C-79DC74EAB449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1122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411ABA-700E-FD40-964B-99974D1D1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277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69876-2B52-0561-28BE-FE78E6720CB8}"/>
              </a:ext>
            </a:extLst>
          </p:cNvPr>
          <p:cNvSpPr txBox="1"/>
          <p:nvPr/>
        </p:nvSpPr>
        <p:spPr>
          <a:xfrm>
            <a:off x="149352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 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 + b)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D5D39A19-68B4-8E8F-C393-474D2FF483EE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37FA92F-7C3A-80A5-2558-57D44E623154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33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345728-8102-F66F-90B7-53313221F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703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C9CF6-BB97-1F75-FFBF-FCE9E91D2DB4}"/>
              </a:ext>
            </a:extLst>
          </p:cNvPr>
          <p:cNvSpPr txBox="1"/>
          <p:nvPr/>
        </p:nvSpPr>
        <p:spPr>
          <a:xfrm>
            <a:off x="1513840" y="0"/>
            <a:ext cx="6380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float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-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0.000001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&lt; number &lt;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0.000001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1000000.0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 number)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FCEB0702-535A-3A73-B2D1-9B0D3A3C1B3E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7EB258-B872-04BF-C83C-D8DA6EA1C721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0.000000001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1000000.0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E4951F-317A-3160-BD03-53469D347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2947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2063DB-1D49-9AEF-EC05-CF33F58C99E7}"/>
              </a:ext>
            </a:extLst>
          </p:cNvPr>
          <p:cNvSpPr txBox="1"/>
          <p:nvPr/>
        </p:nvSpPr>
        <p:spPr>
          <a:xfrm>
            <a:off x="1503680" y="0"/>
            <a:ext cx="81686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h3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h1 &lt; h2: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h1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 = h2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h1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 &lt; h3: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h2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h3 = h3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h1 &lt; h2: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h1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h2 = h2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h1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(h1)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(h2)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(h3)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19EB9431-DDDA-9918-04DE-971BB0DDD0BB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0BF8662-CD78-F0D9-F788-1CB596D81F30}"/>
              </a:ext>
            </a:extLst>
          </p:cNvPr>
          <p:cNvSpPr txBox="1"/>
          <p:nvPr/>
        </p:nvSpPr>
        <p:spPr>
          <a:xfrm>
            <a:off x="1497689" y="4244454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74, 157, 23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157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74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B41CF7-BCCD-64BB-F082-F821EBE41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010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396394-AC34-641E-5798-30D00390AE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9296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438862" y="307505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Цикл </a:t>
            </a:r>
            <a:r>
              <a:rPr lang="en-US" sz="4000" dirty="0">
                <a:latin typeface="Press Start 2P" pitchFamily="2" charset="0"/>
              </a:rPr>
              <a:t>while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759592-6BEA-7771-CECE-679546764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8680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349870-DEF5-7E69-A446-86A08ED42A27}"/>
              </a:ext>
            </a:extLst>
          </p:cNvPr>
          <p:cNvSpPr txBox="1"/>
          <p:nvPr/>
        </p:nvSpPr>
        <p:spPr>
          <a:xfrm>
            <a:off x="1493520" y="0"/>
            <a:ext cx="91135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float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while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&gt;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 положительное число!   Вводите    дальше.'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float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Так-так, что тут у нас...'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 отрицательное число или ноль. Всё.'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E7A40514-CFCF-A706-9565-01A0A7FFB161}"/>
              </a:ext>
            </a:extLst>
          </p:cNvPr>
          <p:cNvCxnSpPr>
            <a:cxnSpLocks/>
          </p:cNvCxnSpPr>
          <p:nvPr/>
        </p:nvCxnSpPr>
        <p:spPr>
          <a:xfrm>
            <a:off x="1493520" y="375986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988B8B0-7D10-FA2D-AABA-24C283BA3FC2}"/>
              </a:ext>
            </a:extLst>
          </p:cNvPr>
          <p:cNvSpPr txBox="1"/>
          <p:nvPr/>
        </p:nvSpPr>
        <p:spPr>
          <a:xfrm>
            <a:off x="1493368" y="3759864"/>
            <a:ext cx="63804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 положительное число!   Вводите    дальше.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Так-так, что тут у нас...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 положительное число!   Вводите    дальше.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Так-так, что тут у нас...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 отрицательное число или ноль. Всё.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D792D2-E46E-61B3-1E35-FB7CD5FAC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182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E55389-0ECD-3D0D-547F-4F586E502F6C}"/>
              </a:ext>
            </a:extLst>
          </p:cNvPr>
          <p:cNvSpPr txBox="1"/>
          <p:nvPr/>
        </p:nvSpPr>
        <p:spPr>
          <a:xfrm>
            <a:off x="1493520" y="0"/>
            <a:ext cx="9123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Составной оператор присваивания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например, 5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= number +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number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становится равным 6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(number)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 +=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number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становится равным 7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(number)</a:t>
            </a: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47389CF5-AE50-012E-0526-6DA9A406EA83}"/>
              </a:ext>
            </a:extLst>
          </p:cNvPr>
          <p:cNvCxnSpPr>
            <a:cxnSpLocks/>
          </p:cNvCxnSpPr>
          <p:nvPr/>
        </p:nvCxnSpPr>
        <p:spPr>
          <a:xfrm>
            <a:off x="1493520" y="477539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1577379-9306-51AD-A99B-FF4DE6CF7D53}"/>
              </a:ext>
            </a:extLst>
          </p:cNvPr>
          <p:cNvSpPr txBox="1"/>
          <p:nvPr/>
        </p:nvSpPr>
        <p:spPr>
          <a:xfrm>
            <a:off x="1493368" y="4775396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C5BE6-B317-C6C2-8048-3AB2775BA7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547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8781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Составной оператор присваивания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0017B1AE-CEAB-A2C8-1853-A69F13F90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79493"/>
              </p:ext>
            </p:extLst>
          </p:nvPr>
        </p:nvGraphicFramePr>
        <p:xfrm>
          <a:off x="2738438" y="1480889"/>
          <a:ext cx="6715123" cy="49580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56958">
                <a:tc>
                  <a:txBody>
                    <a:bodyPr/>
                    <a:lstStyle/>
                    <a:p>
                      <a:pPr marL="31750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+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+=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4465"/>
                        </a:lnSpc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8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-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-=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8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*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*=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8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/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/=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8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//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74168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/</a:t>
                      </a:r>
                      <a:r>
                        <a:rPr sz="3600" spc="-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/=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8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%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%=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95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**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74168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x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*</a:t>
                      </a:r>
                      <a:r>
                        <a:rPr sz="3600" spc="-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*=</a:t>
                      </a:r>
                      <a:endParaRPr sz="3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36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y</a:t>
                      </a: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46822D-001B-9F4E-F100-EC78088879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9385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4EE56C-0CC8-136C-C5E5-7A7383A6AAD6}"/>
              </a:ext>
            </a:extLst>
          </p:cNvPr>
          <p:cNvSpPr txBox="1"/>
          <p:nvPr/>
        </p:nvSpPr>
        <p:spPr>
          <a:xfrm>
            <a:off x="1513840" y="0"/>
            <a:ext cx="91236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Добро пожаловать в интернет-банк!'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нас фантастические процентные ставки!'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вкладов до 10 тысяч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₽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включительно прибыль составит 10%,'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вкладов на сумму до 100 тысяч включительно – 20%,'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более 100 тысяч – 30%!'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 какую сумму желаете сделать вклад?'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float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Например, 12000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&lt;=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1.1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&lt;=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&gt;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1.3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получаете'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'₽,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поздравляем!’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ыведет «Вы получаете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14400 ₽,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поздравляем!»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600093-4AC8-2D27-7249-287C53ED7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7464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4EE56C-0CC8-136C-C5E5-7A7383A6AAD6}"/>
              </a:ext>
            </a:extLst>
          </p:cNvPr>
          <p:cNvSpPr txBox="1"/>
          <p:nvPr/>
        </p:nvSpPr>
        <p:spPr>
          <a:xfrm>
            <a:off x="1513840" y="0"/>
            <a:ext cx="91236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Добро пожаловать в интернет-банк!'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нас фантастические процентные ставки!'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вкладов до 10 тысяч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₽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включительно прибыль составит 10%,'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вкладов на сумму до 100 тысяч включительно – 20%,'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для более 100 тысяч – 30%!'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 какую сумму желаете сделать вклад?'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float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&lt;=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1.1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&lt;=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 &gt;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money *=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1.3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получаете'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money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'₽,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поздравляем!'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9BE1862-EE07-D5C1-A378-0FAC5F34F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232309"/>
              </p:ext>
            </p:extLst>
          </p:nvPr>
        </p:nvGraphicFramePr>
        <p:xfrm>
          <a:off x="1549400" y="3713481"/>
          <a:ext cx="9052559" cy="212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8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2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7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175" dirty="0">
                          <a:solidFill>
                            <a:srgbClr val="050505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Ввод</a:t>
                      </a:r>
                      <a:endParaRPr sz="16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215" dirty="0">
                          <a:solidFill>
                            <a:srgbClr val="050505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Должно</a:t>
                      </a:r>
                      <a:r>
                        <a:rPr sz="1600" spc="-140" dirty="0">
                          <a:solidFill>
                            <a:srgbClr val="050505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 </a:t>
                      </a:r>
                      <a:r>
                        <a:rPr sz="1600" spc="150" dirty="0">
                          <a:solidFill>
                            <a:srgbClr val="050505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быть</a:t>
                      </a:r>
                      <a:endParaRPr sz="16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spc="140" dirty="0">
                          <a:solidFill>
                            <a:srgbClr val="050505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Вывод</a:t>
                      </a:r>
                      <a:endParaRPr sz="16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1000000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1300000</a:t>
                      </a:r>
                      <a:endParaRPr sz="1600" b="1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1300000</a:t>
                      </a:r>
                      <a:endParaRPr sz="1600" b="1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20000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24000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24000</a:t>
                      </a:r>
                      <a:endParaRPr sz="1600" b="1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8FD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1000</a:t>
                      </a:r>
                      <a:endParaRPr sz="1600" b="1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1320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7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100000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120000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195" dirty="0">
                          <a:solidFill>
                            <a:schemeClr val="bg2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156000</a:t>
                      </a:r>
                      <a:endParaRPr sz="1600" b="1" dirty="0">
                        <a:solidFill>
                          <a:schemeClr val="bg2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C68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28CE26-EEA9-1AFB-DF21-917A93781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088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951823" y="3075057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Цикл </a:t>
            </a:r>
            <a:r>
              <a:rPr lang="en-US" sz="4000" dirty="0">
                <a:latin typeface="Press Start 2P" pitchFamily="2" charset="0"/>
              </a:rPr>
              <a:t>for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A8E424-D4B6-96A7-413E-82787E031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5288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66EA9-1608-9702-9DC6-A6AEF291DA0C}"/>
              </a:ext>
            </a:extLst>
          </p:cNvPr>
          <p:cNvSpPr txBox="1"/>
          <p:nvPr/>
        </p:nvSpPr>
        <p:spPr>
          <a:xfrm>
            <a:off x="150368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7C64D26D-0E56-E9B5-0BBC-B246E1FE7E08}"/>
              </a:ext>
            </a:extLst>
          </p:cNvPr>
          <p:cNvCxnSpPr>
            <a:cxnSpLocks/>
          </p:cNvCxnSpPr>
          <p:nvPr/>
        </p:nvCxnSpPr>
        <p:spPr>
          <a:xfrm>
            <a:off x="1497841" y="406747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E915109-5FCE-ACE2-0FEF-130AA72A6DCB}"/>
              </a:ext>
            </a:extLst>
          </p:cNvPr>
          <p:cNvSpPr txBox="1"/>
          <p:nvPr/>
        </p:nvSpPr>
        <p:spPr>
          <a:xfrm>
            <a:off x="1497689" y="4067474"/>
            <a:ext cx="6380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 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15BE2C-0026-0108-137B-006848642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9861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617577" y="2767280"/>
            <a:ext cx="109568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Именованные аргументы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функции </a:t>
            </a:r>
            <a:r>
              <a:rPr lang="en-US" sz="4000" dirty="0">
                <a:latin typeface="Press Start 2P" pitchFamily="2" charset="0"/>
              </a:rPr>
              <a:t>print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CCB487-B8DA-1A7B-7A42-8191753F52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852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14:cNvPr>
              <p14:cNvContentPartPr/>
              <p14:nvPr/>
            </p14:nvContentPartPr>
            <p14:xfrm>
              <a:off x="6933294" y="-3922813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24294" y="-39318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2431D2-164E-6878-6818-626679E76E68}"/>
              </a:ext>
            </a:extLst>
          </p:cNvPr>
          <p:cNvSpPr txBox="1"/>
          <p:nvPr/>
        </p:nvSpPr>
        <p:spPr>
          <a:xfrm>
            <a:off x="1497841" y="29346"/>
            <a:ext cx="6380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вет!'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вет!'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'два'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'три'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'два'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'--'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en-US" sz="1600" dirty="0" err="1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разделитель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окончание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95D07-58C2-3333-CA59-CC01EE4BFFC6}"/>
              </a:ext>
            </a:extLst>
          </p:cNvPr>
          <p:cNvSpPr txBox="1"/>
          <p:nvPr/>
        </p:nvSpPr>
        <p:spPr>
          <a:xfrm>
            <a:off x="1497841" y="4244454"/>
            <a:ext cx="6380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Привет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два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три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--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два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--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три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E80B1-ACBD-6318-35B7-24CDFA2C4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465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182382" y="3075057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Спецсимволы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BCFAD8-A1C4-C13E-293A-1E5194FB99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059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14:cNvPr>
              <p14:cNvContentPartPr/>
              <p14:nvPr/>
            </p14:nvContentPartPr>
            <p14:xfrm>
              <a:off x="6933294" y="-3922813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C8CFFF9-583E-56F6-95B9-8F8E5A5DC9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4294" y="-39318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24B13E3-846D-4E71-AC46-81FDBB0EA135}"/>
              </a:ext>
            </a:extLst>
          </p:cNvPr>
          <p:cNvSpPr txBox="1"/>
          <p:nvPr/>
        </p:nvSpPr>
        <p:spPr>
          <a:xfrm>
            <a:off x="1497841" y="0"/>
            <a:ext cx="874235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Именованные аргументы функции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 умолчанию: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print(..., </a:t>
            </a:r>
            <a:r>
              <a:rPr lang="en-US" sz="1600" dirty="0" err="1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=' ', end='\n')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Спецсимволы: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'\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n'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конец строки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'\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t'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табуляция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'\'' – одинарная кавычка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'\\' – обратный слэш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восход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07:15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\n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закат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22:03'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Первая строка этой программы выглядит так:'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'print(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восход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\\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t07:15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\\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закат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\\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t22:03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\'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5696B-65F4-7B40-D6F3-C5EF0BCF4D8E}"/>
              </a:ext>
            </a:extLst>
          </p:cNvPr>
          <p:cNvSpPr txBox="1"/>
          <p:nvPr/>
        </p:nvSpPr>
        <p:spPr>
          <a:xfrm>
            <a:off x="1497841" y="4244454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восход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07:15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закат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22:03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Первая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строка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этой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программы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выглядит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так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print('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восход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\t07:15\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nзакат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\t22:03')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A5261B3-A3B6-F2D9-1BFE-88F3F633B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85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385F00-1E4B-ECE2-ED6D-159A919EAB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41220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DB199004-3F8F-3119-2851-42B045F3C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19" y="643466"/>
            <a:ext cx="7165362" cy="557106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580717-0162-67E3-8EC9-91F08DE48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6992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9A77C64B-50EB-8DAA-5634-AB7883B9C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62" y="643466"/>
            <a:ext cx="7188475" cy="557106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57A433-8B4B-D605-B43A-DDDB5E8EC8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224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951823" y="3075057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Тип </a:t>
            </a:r>
            <a:r>
              <a:rPr lang="en-US" sz="4000" dirty="0">
                <a:latin typeface="Press Start 2P" pitchFamily="2" charset="0"/>
              </a:rPr>
              <a:t>bool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E9AD0E-092B-C358-0469-5AD81D67F4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3174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Тип </a:t>
            </a:r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bool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057F30-02A7-FB6F-1F2B-C4C4476AA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188127"/>
              </p:ext>
            </p:extLst>
          </p:nvPr>
        </p:nvGraphicFramePr>
        <p:xfrm>
          <a:off x="2608580" y="914400"/>
          <a:ext cx="6974840" cy="53441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9036">
                  <a:extLst>
                    <a:ext uri="{9D8B030D-6E8A-4147-A177-3AD203B41FA5}">
                      <a16:colId xmlns:a16="http://schemas.microsoft.com/office/drawing/2014/main" val="3507294065"/>
                    </a:ext>
                  </a:extLst>
                </a:gridCol>
                <a:gridCol w="1040323">
                  <a:extLst>
                    <a:ext uri="{9D8B030D-6E8A-4147-A177-3AD203B41FA5}">
                      <a16:colId xmlns:a16="http://schemas.microsoft.com/office/drawing/2014/main" val="779424544"/>
                    </a:ext>
                  </a:extLst>
                </a:gridCol>
                <a:gridCol w="1505481">
                  <a:extLst>
                    <a:ext uri="{9D8B030D-6E8A-4147-A177-3AD203B41FA5}">
                      <a16:colId xmlns:a16="http://schemas.microsoft.com/office/drawing/2014/main" val="653553545"/>
                    </a:ext>
                  </a:extLst>
                </a:gridCol>
              </a:tblGrid>
              <a:tr h="1139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and</a:t>
                      </a:r>
                      <a:r>
                        <a:rPr sz="3200" spc="-3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R="161925" algn="r">
                        <a:lnSpc>
                          <a:spcPct val="100000"/>
                        </a:lnSpc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169545">
                        <a:lnSpc>
                          <a:spcPct val="100000"/>
                        </a:lnSpc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838841143"/>
                  </a:ext>
                </a:extLst>
              </a:tr>
              <a:tr h="60864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and</a:t>
                      </a:r>
                      <a:r>
                        <a:rPr sz="3200" spc="-4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965001629"/>
                  </a:ext>
                </a:extLst>
              </a:tr>
              <a:tr h="6084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 and</a:t>
                      </a:r>
                      <a:r>
                        <a:rPr sz="3200" spc="-6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3230601660"/>
                  </a:ext>
                </a:extLst>
              </a:tr>
              <a:tr h="60871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  <a:tabLst>
                          <a:tab pos="1734185" algn="l"/>
                          <a:tab pos="2752725" algn="l"/>
                        </a:tabLst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	</a:t>
                      </a:r>
                      <a:r>
                        <a:rPr sz="3200" spc="-1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or	</a:t>
                      </a: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750617164"/>
                  </a:ext>
                </a:extLst>
              </a:tr>
              <a:tr h="6085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or</a:t>
                      </a:r>
                      <a:r>
                        <a:rPr sz="3200" spc="-3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367959927"/>
                  </a:ext>
                </a:extLst>
              </a:tr>
              <a:tr h="60864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 or</a:t>
                      </a:r>
                      <a:r>
                        <a:rPr sz="3200" spc="-5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939379374"/>
                  </a:ext>
                </a:extLst>
              </a:tr>
              <a:tr h="60862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not</a:t>
                      </a:r>
                      <a:r>
                        <a:rPr sz="3200" spc="-1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331717927"/>
                  </a:ext>
                </a:extLst>
              </a:tr>
              <a:tr h="5532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5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not</a:t>
                      </a:r>
                      <a:r>
                        <a:rPr sz="3200" spc="-2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False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dirty="0">
                          <a:latin typeface="Lucida Console"/>
                          <a:cs typeface="Lucida Console"/>
                        </a:rPr>
                        <a:t>==</a:t>
                      </a:r>
                      <a:endParaRPr sz="320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200" spc="-10" dirty="0">
                          <a:solidFill>
                            <a:srgbClr val="3878BD"/>
                          </a:solidFill>
                          <a:latin typeface="Lucida Console"/>
                          <a:cs typeface="Lucida Console"/>
                        </a:rPr>
                        <a:t>True</a:t>
                      </a:r>
                      <a:endParaRPr sz="3200" dirty="0">
                        <a:latin typeface="Lucida Console"/>
                        <a:cs typeface="Lucida Console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472074671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87CF8E-F540-36E4-188E-AB0B9B415E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1804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91A8CD-5896-6C38-4FFD-313A710084F5}"/>
              </a:ext>
            </a:extLst>
          </p:cNvPr>
          <p:cNvSpPr txBox="1"/>
          <p:nvPr/>
        </p:nvSpPr>
        <p:spPr>
          <a:xfrm>
            <a:off x="1513840" y="0"/>
            <a:ext cx="63804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str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'True'</a:t>
            </a:r>
            <a:b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and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  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bool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bool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любой непустой строки'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  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bool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bool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любого ненулевого числа) ==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solidFill>
                <a:srgbClr val="CC7832"/>
              </a:solidFill>
              <a:effectLst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rint</a:t>
            </a:r>
            <a:r>
              <a:rPr lang="en-US" sz="1600" dirty="0"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 </a:t>
            </a:r>
            <a:r>
              <a:rPr lang="en-US" sz="1600" dirty="0"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+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True</a:t>
            </a:r>
            <a:r>
              <a:rPr lang="en-US" sz="1600" dirty="0"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Выведет 2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rint</a:t>
            </a:r>
            <a:r>
              <a:rPr lang="en-US" sz="1600" dirty="0"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/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False</a:t>
            </a:r>
            <a:r>
              <a:rPr lang="en-US" sz="1600" dirty="0"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Ошибка: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division by zero</a:t>
            </a:r>
            <a:endParaRPr lang="ru-RU" sz="1600" dirty="0">
              <a:solidFill>
                <a:srgbClr val="6A8759"/>
              </a:solidFill>
              <a:effectLst/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F3EC22-F452-548B-D01E-372382A56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0467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4C5D7-DC5C-AFD3-FC8B-2294ED13FBA4}"/>
              </a:ext>
            </a:extLst>
          </p:cNvPr>
          <p:cNvSpPr txBox="1"/>
          <p:nvPr/>
        </p:nvSpPr>
        <p:spPr>
          <a:xfrm>
            <a:off x="1483360" y="0"/>
            <a:ext cx="6380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в условиях приведение к типу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bool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автоматическое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while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n -=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Пуск!'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810B4FFD-3B45-5E4A-18E2-FD793AF4428A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0F1BFC-3D89-7984-5106-6A2295583AA9}"/>
              </a:ext>
            </a:extLst>
          </p:cNvPr>
          <p:cNvSpPr txBox="1"/>
          <p:nvPr/>
        </p:nvSpPr>
        <p:spPr>
          <a:xfrm>
            <a:off x="1497841" y="4244454"/>
            <a:ext cx="6380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…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Пуск!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46A33F-66A7-D123-5DB4-694E96016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2684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9" y="3075057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break </a:t>
            </a:r>
            <a:r>
              <a:rPr lang="ru-RU" sz="4000" dirty="0">
                <a:latin typeface="Press Start 2P" pitchFamily="2" charset="0"/>
              </a:rPr>
              <a:t>и </a:t>
            </a:r>
            <a:r>
              <a:rPr lang="en-US" sz="4000" dirty="0">
                <a:latin typeface="Press Start 2P" pitchFamily="2" charset="0"/>
              </a:rPr>
              <a:t>continue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85202E-2E20-537B-A59E-B4E90D0E28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1029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08BD35-2D33-09C9-BEFE-CDD80FD57B36}"/>
              </a:ext>
            </a:extLst>
          </p:cNvPr>
          <p:cNvSpPr txBox="1"/>
          <p:nvPr/>
        </p:nvSpPr>
        <p:spPr>
          <a:xfrm>
            <a:off x="1483360" y="0"/>
            <a:ext cx="8575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начинается...'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Ха! Внезапный выход из цикла!'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break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успешно завершена.'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Цикл завершён.'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2E469D6E-5F22-6CE2-B027-74C86F9295E5}"/>
              </a:ext>
            </a:extLst>
          </p:cNvPr>
          <p:cNvCxnSpPr>
            <a:cxnSpLocks/>
          </p:cNvCxnSpPr>
          <p:nvPr/>
        </p:nvCxnSpPr>
        <p:spPr>
          <a:xfrm>
            <a:off x="1497841" y="3494393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81FB52-10C3-8ADD-1FEC-0266E1F7B3DE}"/>
              </a:ext>
            </a:extLst>
          </p:cNvPr>
          <p:cNvSpPr txBox="1"/>
          <p:nvPr/>
        </p:nvSpPr>
        <p:spPr>
          <a:xfrm>
            <a:off x="1497841" y="3494393"/>
            <a:ext cx="6380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0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0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1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1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2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2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3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Ха! Внезапный выход из цикла!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Цикл завершён.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1E1DE2-FF77-CDF0-67BD-F4F462813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5763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778594-3153-8DB2-DDC3-931CB700DDA4}"/>
              </a:ext>
            </a:extLst>
          </p:cNvPr>
          <p:cNvSpPr txBox="1"/>
          <p:nvPr/>
        </p:nvSpPr>
        <p:spPr>
          <a:xfrm>
            <a:off x="1483360" y="0"/>
            <a:ext cx="63804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Бесконечный цикл: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while True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word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 ==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стоп'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break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Вы ввели:'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Конец.'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BB80B5-0078-C701-7A86-F28DC46E2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6808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3B659-6ED0-22DA-FDEB-A0254031EDC6}"/>
              </a:ext>
            </a:extLst>
          </p:cNvPr>
          <p:cNvSpPr txBox="1"/>
          <p:nvPr/>
        </p:nvSpPr>
        <p:spPr>
          <a:xfrm>
            <a:off x="1483360" y="0"/>
            <a:ext cx="84937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начинается...'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'...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 не завершается успешно.'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continue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успешно завершена.'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Цикл завершён.'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4429DA59-B87D-F323-E44B-9DD2BBB913DF}"/>
              </a:ext>
            </a:extLst>
          </p:cNvPr>
          <p:cNvCxnSpPr>
            <a:cxnSpLocks/>
          </p:cNvCxnSpPr>
          <p:nvPr/>
        </p:nvCxnSpPr>
        <p:spPr>
          <a:xfrm>
            <a:off x="1483360" y="3081438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5D53F0-2C4A-E113-3CA5-827FFE641CDB}"/>
              </a:ext>
            </a:extLst>
          </p:cNvPr>
          <p:cNvSpPr txBox="1"/>
          <p:nvPr/>
        </p:nvSpPr>
        <p:spPr>
          <a:xfrm>
            <a:off x="1483360" y="3081438"/>
            <a:ext cx="6380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0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0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1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1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2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2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3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Ха! Внезапный выход из цикла!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4 начинается...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Итерация номер 4 успешно завершена.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Цикл завершён.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F5EAA-CFC2-06DF-72C3-BA42F6563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6405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81E88-DCE5-0312-8C6B-66070394763E}"/>
              </a:ext>
            </a:extLst>
          </p:cNvPr>
          <p:cNvSpPr txBox="1"/>
          <p:nvPr/>
        </p:nvSpPr>
        <p:spPr>
          <a:xfrm>
            <a:off x="1493520" y="0"/>
            <a:ext cx="63804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n+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n+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*j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\t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j 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break</a:t>
            </a:r>
            <a:b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176D86E6-4EC7-F78F-D91A-ADA08AB81EE5}"/>
              </a:ext>
            </a:extLst>
          </p:cNvPr>
          <p:cNvCxnSpPr>
            <a:cxnSpLocks/>
          </p:cNvCxnSpPr>
          <p:nvPr/>
        </p:nvCxnSpPr>
        <p:spPr>
          <a:xfrm>
            <a:off x="1497841" y="300137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163976-3415-0556-A8FE-F5A96E898B42}"/>
              </a:ext>
            </a:extLst>
          </p:cNvPr>
          <p:cNvSpPr txBox="1"/>
          <p:nvPr/>
        </p:nvSpPr>
        <p:spPr>
          <a:xfrm>
            <a:off x="1497841" y="3001376"/>
            <a:ext cx="6380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1       2       3       4       5       6       7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2       4       6       8       10     12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14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3       6       9       12     15     18     21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4       8       12     16     20     24     28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5       10     15     20     25     30     35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6       12     18     24     30     36     42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7       14     21     28     35     42     49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8       16     24     32     40     48     56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9       18     27     36 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5     54     63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10     20     30   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40     50     60     70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761004-31B1-6123-E64A-EFB73A4F9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6804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16AAA8-65CA-19FE-BF66-542EB4FCD7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8764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695342" y="3075057"/>
            <a:ext cx="4801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Множество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C8C8A0-F56E-0A52-F453-646405C43D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6266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A928E-7FCD-BE2F-8AA8-75BFB3DA036F}"/>
              </a:ext>
            </a:extLst>
          </p:cNvPr>
          <p:cNvSpPr txBox="1"/>
          <p:nvPr/>
        </p:nvSpPr>
        <p:spPr>
          <a:xfrm>
            <a:off x="150368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mammals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'cat'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'dog'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'fox'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'elephant'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(mammals)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4F446-5976-4E67-F0F5-804B149B79C1}"/>
              </a:ext>
            </a:extLst>
          </p:cNvPr>
          <p:cNvSpPr txBox="1"/>
          <p:nvPr/>
        </p:nvSpPr>
        <p:spPr>
          <a:xfrm>
            <a:off x="150368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{'fox', 'cat', 'dog', 'elephant'}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F25EE5-C7B4-68F6-BF9F-9318366B6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8741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A928E-7FCD-BE2F-8AA8-75BFB3DA036F}"/>
              </a:ext>
            </a:extLst>
          </p:cNvPr>
          <p:cNvSpPr txBox="1"/>
          <p:nvPr/>
        </p:nvSpPr>
        <p:spPr>
          <a:xfrm>
            <a:off x="150368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mammals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'cat'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'dog'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'fox'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'elephant'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(mammals)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4F446-5976-4E67-F0F5-804B149B79C1}"/>
              </a:ext>
            </a:extLst>
          </p:cNvPr>
          <p:cNvSpPr txBox="1"/>
          <p:nvPr/>
        </p:nvSpPr>
        <p:spPr>
          <a:xfrm>
            <a:off x="1503680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{'fox', 'cat', 'dog', 'elephant’}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{'dog', 'elephant', 'cat', 'fox'}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CAB257-5FFC-5B37-0774-76D91676E9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1917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7A928E-7FCD-BE2F-8AA8-75BFB3DA036F}"/>
              </a:ext>
            </a:extLst>
          </p:cNvPr>
          <p:cNvSpPr txBox="1"/>
          <p:nvPr/>
        </p:nvSpPr>
        <p:spPr>
          <a:xfrm>
            <a:off x="150368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mammals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'cat'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'dog'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'fox'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'elephant'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(mammals)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4F446-5976-4E67-F0F5-804B149B79C1}"/>
              </a:ext>
            </a:extLst>
          </p:cNvPr>
          <p:cNvSpPr txBox="1"/>
          <p:nvPr/>
        </p:nvSpPr>
        <p:spPr>
          <a:xfrm>
            <a:off x="1503680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{'fox', 'cat', 'dog', 'elephant’}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{'dog', 'elephant', 'cat', 'fox’}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{'elephant', 'fox', 'dog', 'cat'}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AB1D04-160C-47BE-55D0-F12EA3C28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164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F63BD-1338-A094-B474-3F0964FE2311}"/>
              </a:ext>
            </a:extLst>
          </p:cNvPr>
          <p:cNvSpPr txBox="1"/>
          <p:nvPr/>
        </p:nvSpPr>
        <p:spPr>
          <a:xfrm>
            <a:off x="1503680" y="0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(empty)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1E46F-96D5-C53A-6A3F-0921564E1D1B}"/>
              </a:ext>
            </a:extLst>
          </p:cNvPr>
          <p:cNvSpPr txBox="1"/>
          <p:nvPr/>
        </p:nvSpPr>
        <p:spPr>
          <a:xfrm>
            <a:off x="150368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set()</a:t>
            </a: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780C7CB-6FEF-A0E4-19FA-3019AE8B8CD1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248B18-B589-1C68-634E-39CCC6C49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903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D15F6F-B4DE-5B0A-3C18-C6AD711E01FE}"/>
              </a:ext>
            </a:extLst>
          </p:cNvPr>
          <p:cNvSpPr txBox="1"/>
          <p:nvPr/>
        </p:nvSpPr>
        <p:spPr>
          <a:xfrm>
            <a:off x="1493520" y="0"/>
            <a:ext cx="76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m_nums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'cat'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'dog'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'fox'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'elephant'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m_nums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E4F84E-D55F-DFC7-CC5E-CAF522E589E5}"/>
              </a:ext>
            </a:extLst>
          </p:cNvPr>
          <p:cNvSpPr txBox="1"/>
          <p:nvPr/>
        </p:nvSpPr>
        <p:spPr>
          <a:xfrm>
            <a:off x="150368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{'fox', 'dog', 3, 'cat', 5, 'elephant', 4, 12}</a:t>
            </a:r>
          </a:p>
        </p:txBody>
      </p:sp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49978AC0-1C7A-BDB1-1E0E-0188EA858963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425371-9D7E-9CFF-23D0-504142858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2354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FD2EE1-AC6A-600D-9ABC-50607A9E8C9F}"/>
              </a:ext>
            </a:extLst>
          </p:cNvPr>
          <p:cNvSpPr txBox="1"/>
          <p:nvPr/>
        </p:nvSpPr>
        <p:spPr>
          <a:xfrm>
            <a:off x="1497840" y="0"/>
            <a:ext cx="76766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birds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'raven'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'sparrow'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'sparrow'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'dove'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'hawk'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(birds)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2F158-CEA7-9E21-8301-23CE1EBAC47D}"/>
              </a:ext>
            </a:extLst>
          </p:cNvPr>
          <p:cNvSpPr txBox="1"/>
          <p:nvPr/>
        </p:nvSpPr>
        <p:spPr>
          <a:xfrm>
            <a:off x="1497840" y="4257909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{'raven', 'hawk', 'dove', 'sparrow'}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BD0CB4-5166-3B60-03D0-4734E81C9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8508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412940" y="2767280"/>
            <a:ext cx="73661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Операции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над множеством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2A6AC6-5D10-DC28-1261-40320EA8ED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0506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F26A99-ADA7-4E49-634E-D1AE3C537CAA}"/>
              </a:ext>
            </a:extLst>
          </p:cNvPr>
          <p:cNvSpPr txBox="1"/>
          <p:nvPr/>
        </p:nvSpPr>
        <p:spPr>
          <a:xfrm>
            <a:off x="149784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my_set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'b'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'c'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my_set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8B2E7-6E72-4DA3-11C4-840263FA1E3A}"/>
              </a:ext>
            </a:extLst>
          </p:cNvPr>
          <p:cNvSpPr txBox="1"/>
          <p:nvPr/>
        </p:nvSpPr>
        <p:spPr>
          <a:xfrm>
            <a:off x="149784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FF47E8-B7A9-3B37-BD63-4D0AFDB91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9599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312CBE-A3F9-4D57-46EF-DFA8AD302C22}"/>
              </a:ext>
            </a:extLst>
          </p:cNvPr>
          <p:cNvSpPr txBox="1"/>
          <p:nvPr/>
        </p:nvSpPr>
        <p:spPr>
          <a:xfrm>
            <a:off x="1497840" y="0"/>
            <a:ext cx="8580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computer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Системный блок'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'Монитор'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'Клавиатура'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'Мышь'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element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computer: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(element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64EB9-1D05-36F0-DD18-368976288C8F}"/>
              </a:ext>
            </a:extLst>
          </p:cNvPr>
          <p:cNvSpPr txBox="1"/>
          <p:nvPr/>
        </p:nvSpPr>
        <p:spPr>
          <a:xfrm>
            <a:off x="1497840" y="4257909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Мышь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Монитор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Системный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блок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Клавиатура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E503C8-0C05-FA6E-4764-4F40E1FC9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0878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488AFA-7782-6E18-4AF7-6959312A51AD}"/>
              </a:ext>
            </a:extLst>
          </p:cNvPr>
          <p:cNvSpPr txBox="1"/>
          <p:nvPr/>
        </p:nvSpPr>
        <p:spPr>
          <a:xfrm>
            <a:off x="1497840" y="0"/>
            <a:ext cx="8672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computer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Системный блок'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'Монитор'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'Клавиатура'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'Мышь'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Мышь'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computer)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Блок'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computer)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98886-AFFC-E8A7-83D3-7DB8B952853A}"/>
              </a:ext>
            </a:extLst>
          </p:cNvPr>
          <p:cNvSpPr txBox="1"/>
          <p:nvPr/>
        </p:nvSpPr>
        <p:spPr>
          <a:xfrm>
            <a:off x="1497840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73AAFF-2C81-5181-D869-4051CCD61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6916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7020D7C-2450-C466-C76E-C187D04D5E15}"/>
              </a:ext>
            </a:extLst>
          </p:cNvPr>
          <p:cNvSpPr txBox="1"/>
          <p:nvPr/>
        </p:nvSpPr>
        <p:spPr>
          <a:xfrm>
            <a:off x="149784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numbers.add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(numbers)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0F09C4-CC7B-B929-7C73-7086FBC1AD86}"/>
              </a:ext>
            </a:extLst>
          </p:cNvPr>
          <p:cNvSpPr txBox="1"/>
          <p:nvPr/>
        </p:nvSpPr>
        <p:spPr>
          <a:xfrm>
            <a:off x="149784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{0, 1, 2, 3, 4, 5, 6}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3E9D89D-10BC-2A5B-F13D-B0FBBE1E1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5981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4B1640-F416-F17D-DFDB-4462F82F8868}"/>
              </a:ext>
            </a:extLst>
          </p:cNvPr>
          <p:cNvSpPr txBox="1"/>
          <p:nvPr/>
        </p:nvSpPr>
        <p:spPr>
          <a:xfrm>
            <a:off x="1497840" y="0"/>
            <a:ext cx="6380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 = {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numbers.remove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numbers.discard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(numbers)):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numbers.pop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5BF96-A24F-FF63-48A5-A903E8520150}"/>
              </a:ext>
            </a:extLst>
          </p:cNvPr>
          <p:cNvSpPr txBox="1"/>
          <p:nvPr/>
        </p:nvSpPr>
        <p:spPr>
          <a:xfrm>
            <a:off x="1497840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2, 3, 4, 5, 6, 7,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5F6D95-5063-4B66-47AE-762183293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3686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617577" y="2767280"/>
            <a:ext cx="109568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Операции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над двумя множествами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84E843-4A3F-3BE0-1BFB-B928FDFB37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3498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7E37F09-D78D-8D6B-48BC-663CD927AC4A}"/>
              </a:ext>
            </a:extLst>
          </p:cNvPr>
          <p:cNvSpPr txBox="1"/>
          <p:nvPr/>
        </p:nvSpPr>
        <p:spPr>
          <a:xfrm>
            <a:off x="1497840" y="0"/>
            <a:ext cx="8204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firms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'Apple'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'Acer'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'Blackberry'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'Samsung'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fruits = {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'Apple'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'Mandarin'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'Pear'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'Blackberry'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(firms &amp; fruits))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(firms | fruits))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3115B-1B61-1D3E-588B-56F6C0CA2C55}"/>
              </a:ext>
            </a:extLst>
          </p:cNvPr>
          <p:cNvSpPr txBox="1"/>
          <p:nvPr/>
        </p:nvSpPr>
        <p:spPr>
          <a:xfrm>
            <a:off x="1497840" y="4271810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D198851-F9B9-D671-674B-9C8D80B29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6878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0D5B42-CAA4-2263-2A21-732CECF09F52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C42F99-7560-8502-D7AA-20A5F4BA71B1}"/>
              </a:ext>
            </a:extLst>
          </p:cNvPr>
          <p:cNvSpPr txBox="1"/>
          <p:nvPr/>
        </p:nvSpPr>
        <p:spPr>
          <a:xfrm>
            <a:off x="149784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fib_numbers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{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odd_numbers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{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fib_numbers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-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odd_numbers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odd_numbers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^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fib_numbers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17E12-E9D1-3B43-2971-1B34F1BE5C88}"/>
              </a:ext>
            </a:extLst>
          </p:cNvPr>
          <p:cNvSpPr txBox="1"/>
          <p:nvPr/>
        </p:nvSpPr>
        <p:spPr>
          <a:xfrm>
            <a:off x="1497840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3F0211-DF77-F54B-8566-CF574CF28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3447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796300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6C170DE-65AD-03BD-F75F-F9FA20FEAC82}"/>
              </a:ext>
            </a:extLst>
          </p:cNvPr>
          <p:cNvSpPr txBox="1"/>
          <p:nvPr/>
        </p:nvSpPr>
        <p:spPr>
          <a:xfrm>
            <a:off x="1475740" y="0"/>
            <a:ext cx="677164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== {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!= 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'one'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'three'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&lt;= 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'one'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'two'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'three'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&gt; 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'let'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'it'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'be'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 &lt; 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'be'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'it'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'let'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48B46-9D82-8654-1EE5-B8D78207177E}"/>
              </a:ext>
            </a:extLst>
          </p:cNvPr>
          <p:cNvSpPr txBox="1"/>
          <p:nvPr/>
        </p:nvSpPr>
        <p:spPr>
          <a:xfrm>
            <a:off x="7963007" y="0"/>
            <a:ext cx="6380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289820-2D1E-3262-7C0E-8D0040795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0874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32BEEB3-2FCF-E654-9A78-D7BC0B49DB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1178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8" y="2767280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Нумерация 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Символов в строке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488F20-3B2E-5A14-B464-37BA7F0C8F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2216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86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DCD2AE-CA82-7B53-1197-C5EB2015AA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60554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86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DBDEE-16B4-040B-64F1-E36B943942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227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5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34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RU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15288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386407-96E4-9A68-7753-B2840A8C8D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48635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5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34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RU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15288"/>
            <a:ext cx="1092199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(word[-1])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(word[-8])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CA2A4C-033D-4029-D501-A9297F9E2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0575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5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34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RU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15288"/>
            <a:ext cx="1092199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(word[-1])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У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(word[-8])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5ADECC-0379-9F75-06E4-A228D4BF5A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9021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5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34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RU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15288"/>
            <a:ext cx="1092199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(word[-1])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У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(word[-8])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word[3] = '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Ы'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9126AD-D812-DC5C-02BA-957483687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3675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Нумерация символов в строке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Я_УЧУСЬ_В_РТУ'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74BC0E-3569-5C57-AA65-FCF23DEDAB60}"/>
              </a:ext>
            </a:extLst>
          </p:cNvPr>
          <p:cNvGraphicFramePr>
            <a:graphicFrameLocks noGrp="1"/>
          </p:cNvGraphicFramePr>
          <p:nvPr/>
        </p:nvGraphicFramePr>
        <p:xfrm>
          <a:off x="749300" y="1934667"/>
          <a:ext cx="10454734" cy="1853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4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1070311859"/>
                    </a:ext>
                  </a:extLst>
                </a:gridCol>
                <a:gridCol w="8042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21593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lang="ru-RU"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r>
                        <a:rPr lang="ru-RU" sz="2000" spc="16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512"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Я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Ч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С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Ь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В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_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Р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Т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95"/>
                        </a:lnSpc>
                      </a:pPr>
                      <a:r>
                        <a:rPr lang="ru-RU"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У</a:t>
                      </a: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1"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410"/>
                        </a:lnSpc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 dirty="0">
                        <a:solidFill>
                          <a:schemeClr val="tx1"/>
                        </a:solidFill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ts val="34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2000" spc="19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</a:t>
                      </a:r>
                      <a:r>
                        <a:rPr lang="en-RU" sz="2000" dirty="0">
                          <a:solidFill>
                            <a:schemeClr val="tx1"/>
                          </a:solidFill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15288"/>
            <a:ext cx="10921999" cy="2680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(word[0])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Я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endParaRPr lang="ru-RU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(word[5])  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(word[13])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IndexError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string index out of range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(word[-1])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У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(word[-8])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С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word[3] = '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Ы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	</a:t>
            </a:r>
            <a:r>
              <a:rPr lang="en-US" sz="2000" dirty="0" err="1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TypeError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'str' object does not </a:t>
            </a:r>
            <a:r>
              <a:rPr lang="ru-RU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				</a:t>
            </a:r>
            <a:r>
              <a:rPr lang="en-US" sz="2000" dirty="0">
                <a:solidFill>
                  <a:srgbClr val="C0000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support  item assignment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B31CA2-467E-2F9F-3634-DC3C75F1A8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42552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8" y="2767280"/>
            <a:ext cx="99309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Хранение текстов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в памяти компьютера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8A53CC-3C38-1B83-924D-213A0C8AA5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274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5B5F61-858E-65A3-BF18-0E4AFED05C3D}"/>
              </a:ext>
            </a:extLst>
          </p:cNvPr>
          <p:cNvSpPr txBox="1"/>
          <p:nvPr/>
        </p:nvSpPr>
        <p:spPr>
          <a:xfrm>
            <a:off x="1497689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4E360-0842-189E-1F75-F4839111601B}"/>
              </a:ext>
            </a:extLst>
          </p:cNvPr>
          <p:cNvSpPr txBox="1"/>
          <p:nvPr/>
        </p:nvSpPr>
        <p:spPr>
          <a:xfrm>
            <a:off x="1497689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1041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A20873-5B34-140D-4F1B-EBAEAA3B6C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3567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5B5F61-858E-65A3-BF18-0E4AFED05C3D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4E360-0842-189E-1F75-F4839111601B}"/>
              </a:ext>
            </a:extLst>
          </p:cNvPr>
          <p:cNvSpPr txBox="1"/>
          <p:nvPr/>
        </p:nvSpPr>
        <p:spPr>
          <a:xfrm>
            <a:off x="1497689" y="4244454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1041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AB9D97-9430-678A-7167-D0AF46742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8005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5B5F61-858E-65A3-BF18-0E4AFED05C3D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4E360-0842-189E-1F75-F4839111601B}"/>
              </a:ext>
            </a:extLst>
          </p:cNvPr>
          <p:cNvSpPr txBox="1"/>
          <p:nvPr/>
        </p:nvSpPr>
        <p:spPr>
          <a:xfrm>
            <a:off x="1497689" y="4244454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1040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AD43B5-8020-4BD0-0308-C249F858A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15619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5B5F61-858E-65A3-BF18-0E4AFED05C3D}"/>
              </a:ext>
            </a:extLst>
          </p:cNvPr>
          <p:cNvSpPr txBox="1"/>
          <p:nvPr/>
        </p:nvSpPr>
        <p:spPr>
          <a:xfrm>
            <a:off x="1497689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4E360-0842-189E-1F75-F4839111601B}"/>
              </a:ext>
            </a:extLst>
          </p:cNvPr>
          <p:cNvSpPr txBox="1"/>
          <p:nvPr/>
        </p:nvSpPr>
        <p:spPr>
          <a:xfrm>
            <a:off x="1497689" y="4244454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1040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1043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7D5E4A-D9E9-E611-35E2-5FB0F75B1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12334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5B5F61-858E-65A3-BF18-0E4AFED05C3D}"/>
              </a:ext>
            </a:extLst>
          </p:cNvPr>
          <p:cNvSpPr txBox="1"/>
          <p:nvPr/>
        </p:nvSpPr>
        <p:spPr>
          <a:xfrm>
            <a:off x="1497689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000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4E360-0842-189E-1F75-F4839111601B}"/>
              </a:ext>
            </a:extLst>
          </p:cNvPr>
          <p:cNvSpPr txBox="1"/>
          <p:nvPr/>
        </p:nvSpPr>
        <p:spPr>
          <a:xfrm>
            <a:off x="1497689" y="4244454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1040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1043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✐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C70F811-1953-1024-2E85-EAF7884D45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298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C7FCF8-F381-10D3-2D80-A5B7FC39C85D}"/>
              </a:ext>
            </a:extLst>
          </p:cNvPr>
          <p:cNvSpPr txBox="1"/>
          <p:nvPr/>
        </p:nvSpPr>
        <p:spPr>
          <a:xfrm>
            <a:off x="1498391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выведет программа?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+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07B536-2B86-A997-1FF2-1DC46AAD9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066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C7FCF8-F381-10D3-2D80-A5B7FC39C85D}"/>
              </a:ext>
            </a:extLst>
          </p:cNvPr>
          <p:cNvSpPr txBox="1"/>
          <p:nvPr/>
        </p:nvSpPr>
        <p:spPr>
          <a:xfrm>
            <a:off x="1498391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выведет программа?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chr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ord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+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9C6FD-ADDC-AF69-1745-5568B8F0497F}"/>
              </a:ext>
            </a:extLst>
          </p:cNvPr>
          <p:cNvSpPr txBox="1"/>
          <p:nvPr/>
        </p:nvSpPr>
        <p:spPr>
          <a:xfrm>
            <a:off x="1497840" y="4244454"/>
            <a:ext cx="72782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A,B,C,D,E,F,G,H,I,J,K,L,M,N,O,P,Q,R,S,T,U,V,W,X,Y,Z,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8DAED6-7A82-B111-EC9A-7C3250709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4599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B649530-9361-C928-CDFB-25608DDF71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16561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182382" y="3075057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Срезы строк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454631-6DE0-E3DF-C701-E12D8F0B70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48222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7452DC-C8FD-B749-1498-01B5B3A841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28333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A9C7FA-0C95-8861-DD3B-565B9F6ED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3866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FC408C-6EB5-0E1E-EAF1-1E1D92D70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3189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18FB9D-B441-0284-3B27-5E5449F05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78195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9FE94C-C914-EFB1-52AD-4CF59596F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42700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8820C2-47C6-6108-15CD-F56F1D15C4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45355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(text[7:])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4E4282-6D91-35CD-7A52-2531754CA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46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(text[7:])		world!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F11A88-9C37-F8FC-DD99-A55C3F780C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27021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(text[7:])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(text[:])			Hello, world!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A298E0-CB85-7121-7BBB-E50FF877FC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4106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(text[7:])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(text[:])			Hello, 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(text[11:15])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37FDEB-36E7-B874-9C7E-8CBB045DB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4384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(text[7:12])		world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(text[:5])		Hello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(text[7:])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(text[:])			Hello, 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(text[11:15])		d!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76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A65CCE-6A5C-E329-E005-B860CFDCB3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7220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62B9AD-8623-19CA-2452-7CD1DA6711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77283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174964-263C-BEF4-6218-54D348CF05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93778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BD4667-719E-8A04-85D1-ADE11CD6DE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994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(text[-5:-3])		or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C831AA-E59A-40DE-BC69-585163471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7675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(text[-5:-3])		or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(text[-6:])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810F66-7A29-3AB7-F113-593EDFB238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71735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(text[-5:-3])		or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(text[-6:])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(text[:1])		H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CCD0E1-9C71-8C71-6C10-05E0176AF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63972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(text[-5:-3])		or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(text[-6:])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(text[:1])		H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					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3FB177-5850-ECCF-25CC-4A3F7F2463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6894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(text[:-9])		Hell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(text[-5:-3])		or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(text[-6:])		world!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(text[:1])		H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(text[-1:])		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C3A4ED-1D72-257B-5D44-D5AC285C62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27815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28B725-A04A-0CB6-69AF-91D6AEAFEE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19469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FBCD63-D374-0059-B010-69238B89C5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86872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(text[1:12:2])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el,wrd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304756-814C-4130-786B-89910550D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83522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(text[1:12:2])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el,wrd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(text[::4])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F2CDE7-DF36-DB24-B756-4EC0F702EE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67077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(text[1:12:2])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el,wrd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(text[::4])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Hoo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BC3E4C-3E10-9DAD-4DC7-4B9788DC44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78428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372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(text[1:12:2])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el,wrd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(text[::4])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Hoo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(text[::-1])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2560F3-7AF9-F020-D1D7-075948520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19157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323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Срезы строк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345615"/>
            <a:ext cx="1092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 </a:t>
            </a:r>
            <a:r>
              <a:rPr lang="en-US" sz="2400" dirty="0">
                <a:solidFill>
                  <a:schemeClr val="accent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'Hello, world!'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46600-18A3-3A42-D93A-DAA92781EC04}"/>
              </a:ext>
            </a:extLst>
          </p:cNvPr>
          <p:cNvSpPr txBox="1"/>
          <p:nvPr/>
        </p:nvSpPr>
        <p:spPr>
          <a:xfrm>
            <a:off x="635000" y="3948879"/>
            <a:ext cx="10921999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(text[0:12:2])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Hlo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(text[1:12:2])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el,wrd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(text[::4])		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Hoo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!</a:t>
            </a:r>
          </a:p>
          <a:p>
            <a:pPr marL="12700" marR="269875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(text[::-1])		!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dlrow</a:t>
            </a:r>
            <a:r>
              <a:rPr lang="en-US" sz="2400" dirty="0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,</a:t>
            </a:r>
            <a:r>
              <a:rPr lang="en-US" sz="2400" dirty="0" err="1">
                <a:solidFill>
                  <a:srgbClr val="303938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olleH</a:t>
            </a: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pPr marL="12700" marR="269875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705BB82-89F9-DD29-43AE-E27CCE4F4FCB}"/>
              </a:ext>
            </a:extLst>
          </p:cNvPr>
          <p:cNvGraphicFramePr>
            <a:graphicFrameLocks noGrp="1"/>
          </p:cNvGraphicFramePr>
          <p:nvPr/>
        </p:nvGraphicFramePr>
        <p:xfrm>
          <a:off x="749297" y="2024546"/>
          <a:ext cx="10633402" cy="1798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0192"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3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4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5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6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7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10"/>
                        </a:lnSpc>
                      </a:pPr>
                      <a:r>
                        <a:rPr sz="2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9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10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11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410"/>
                        </a:lnSpc>
                      </a:pPr>
                      <a:r>
                        <a:rPr sz="2000" spc="165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12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886"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H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,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w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r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l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400"/>
                        </a:lnSpc>
                      </a:pPr>
                      <a:r>
                        <a:rPr sz="40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!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19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–10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–9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–8</a:t>
                      </a:r>
                      <a:endParaRPr sz="200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–7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–6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–5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–4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–3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–2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000" spc="200" dirty="0">
                          <a:latin typeface="JetBrains Mono NL" panose="02000009000000000000" pitchFamily="49" charset="0"/>
                          <a:ea typeface="JetBrains Mono NL" panose="02000009000000000000" pitchFamily="49" charset="0"/>
                          <a:cs typeface="JetBrains Mono NL" panose="02000009000000000000" pitchFamily="49" charset="0"/>
                        </a:rPr>
                        <a:t>–1</a:t>
                      </a:r>
                      <a:endParaRPr sz="2000" dirty="0">
                        <a:latin typeface="JetBrains Mono NL" panose="02000009000000000000" pitchFamily="49" charset="0"/>
                        <a:ea typeface="JetBrains Mono NL" panose="02000009000000000000" pitchFamily="49" charset="0"/>
                        <a:cs typeface="JetBrains Mono NL" panose="02000009000000000000" pitchFamily="49" charset="0"/>
                      </a:endParaRPr>
                    </a:p>
                  </a:txBody>
                  <a:tcPr marL="0" marR="0" marT="6667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425033-265C-AD4E-1CBB-92E0DA96D0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94272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2A1421-D1DD-E58C-AF91-8EB544570213}"/>
              </a:ext>
            </a:extLst>
          </p:cNvPr>
          <p:cNvSpPr txBox="1"/>
          <p:nvPr/>
        </p:nvSpPr>
        <p:spPr>
          <a:xfrm>
            <a:off x="1497689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выведет программа?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СЕЛ В ОЗЕРЕ БЕРЕЗОВ ЛЕС'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text_reversed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text[::-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 ==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text_reversed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67FDFF-865B-126A-B4A8-4DCB4A2F2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63501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2A1421-D1DD-E58C-AF91-8EB544570213}"/>
              </a:ext>
            </a:extLst>
          </p:cNvPr>
          <p:cNvSpPr txBox="1"/>
          <p:nvPr/>
        </p:nvSpPr>
        <p:spPr>
          <a:xfrm>
            <a:off x="1497689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выведет программа?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СЕЛ В ОЗЕРЕ БЕРЕЗОВ ЛЕС'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text_reversed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text[::-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(text ==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text_reversed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9ACBD-F087-742B-B752-D3B1333E99E6}"/>
              </a:ext>
            </a:extLst>
          </p:cNvPr>
          <p:cNvSpPr txBox="1"/>
          <p:nvPr/>
        </p:nvSpPr>
        <p:spPr>
          <a:xfrm>
            <a:off x="1497689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56340E-CCBF-3BE2-2C67-F6C75C86C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42023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BC50F4-3056-EB30-9346-D1C8ED483F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736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3075057"/>
            <a:ext cx="89050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Списки (тип </a:t>
            </a:r>
            <a:r>
              <a:rPr lang="en-US" sz="4000" dirty="0">
                <a:latin typeface="Press Start 2P" pitchFamily="2" charset="0"/>
              </a:rPr>
              <a:t>list)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5EB63A-AD28-B16C-D54E-36C28DEBF6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80208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150B0409-A911-3537-0759-C9345E11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61839"/>
            <a:ext cx="10905066" cy="553432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68F40C-504D-E38C-95CB-DB074484AE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89725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DDA35F-20B5-5A12-FAEE-0EDB17723B7F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empty1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Пустые списки: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Пустые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списки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[] []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0336F4-9913-04F2-8F4F-D7B4EE8AF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33706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DDA35F-20B5-5A12-FAEE-0EDB17723B7F}"/>
              </a:ext>
            </a:extLst>
          </p:cNvPr>
          <p:cNvSpPr txBox="1"/>
          <p:nvPr/>
        </p:nvSpPr>
        <p:spPr>
          <a:xfrm>
            <a:off x="1497689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empty1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empty2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Пустые списки: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empty2)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my_list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*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b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Список из нулей: 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my_list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Пустые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списки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 [] []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Список из нулей:  [0, 0, 0, 0, 0]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D2CF097-1437-0877-0A5A-47C0F8E56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06647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D72CF8-96A5-0769-BD13-88D6EEB1B08E}"/>
              </a:ext>
            </a:extLst>
          </p:cNvPr>
          <p:cNvSpPr txBox="1"/>
          <p:nvPr/>
        </p:nvSpPr>
        <p:spPr>
          <a:xfrm>
            <a:off x="1487214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        0  1  2  3  4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D3EAC4-A62B-72DB-86B3-E923942DD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69186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 [2, 3, 5, 7, 11]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EB4A8-074C-6DD8-EA3E-87FFE528320D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        0  1  2  3  4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53FADA-D0A4-BE1A-4B0A-FA7A75CCD3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61829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 [2, 3, 5, 7, 11]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 5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EB4A8-074C-6DD8-EA3E-87FFE528320D}"/>
              </a:ext>
            </a:extLst>
          </p:cNvPr>
          <p:cNvSpPr txBox="1"/>
          <p:nvPr/>
        </p:nvSpPr>
        <p:spPr>
          <a:xfrm>
            <a:off x="1497688" y="0"/>
            <a:ext cx="83925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        0  1  2  3  4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+ 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9B6A83-CA84-2269-3F81-BCB9DD26A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0151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 [2, 3, 5, 7, 11]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 5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Последнее из простых чисел в нашем списке: 11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EB4A8-074C-6DD8-EA3E-87FFE528320D}"/>
              </a:ext>
            </a:extLst>
          </p:cNvPr>
          <p:cNvSpPr txBox="1"/>
          <p:nvPr/>
        </p:nvSpPr>
        <p:spPr>
          <a:xfrm>
            <a:off x="1497688" y="0"/>
            <a:ext cx="839254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        0  1  2  3  4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+ 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Последнее из простых чисел в нашем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BB5BFD-D0BF-0470-5576-514CA868A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87289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 [2, 3, 5, 7, 11]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 5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Последнее из простых чисел в нашем списке: 11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Список с еще одним простым числом: [2, 3, 5, 7, 11, 13]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EB4A8-074C-6DD8-EA3E-87FFE528320D}"/>
              </a:ext>
            </a:extLst>
          </p:cNvPr>
          <p:cNvSpPr txBox="1"/>
          <p:nvPr/>
        </p:nvSpPr>
        <p:spPr>
          <a:xfrm>
            <a:off x="1497688" y="0"/>
            <a:ext cx="83925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        0  1  2  3  4</a:t>
            </a:r>
            <a:b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Весь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Сумма первых двух простых чисел:'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+ primes[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Последнее из простых чисел в нашем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Список с еще одним простым числом:'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619D58-0D91-76F5-88F7-4F3BC3222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60918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3B90ED-1E3D-C82F-9463-F59C1A091634}"/>
              </a:ext>
            </a:extLst>
          </p:cNvPr>
          <p:cNvSpPr txBox="1"/>
          <p:nvPr/>
        </p:nvSpPr>
        <p:spPr>
          <a:xfrm>
            <a:off x="151874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187120F-0BB2-65D7-2CDB-5BEE14458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89192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9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FDB577-E14D-EE89-D235-F1C8E0819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5766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9" y="0"/>
            <a:ext cx="63797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D05987-82F8-9C1B-28DB-E1B81D2EE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91560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 [2, 3, 5, 7, 11, 13, 17, 19, 23, 29]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9" y="0"/>
            <a:ext cx="63797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BF8437-425B-1E22-A982-2CCCA57B1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81832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 [2, 3, 5, 7, 11, 13, 17, 19, 23, 29]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8" y="0"/>
            <a:ext cx="83925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FD9BFF-BBE5-C527-12D5-AAD1FD44A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50802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 [2, 3, 5, 7, 11, 13, 17, 19, 23, 29]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 10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8" y="0"/>
            <a:ext cx="839254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F70BEC-724C-A73F-0813-AAC3B1B2A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71638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 [2, 3, 5, 7, 11, 13, 17, 19, 23, 29]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 10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8" y="0"/>
            <a:ext cx="83925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0B331EA-2B12-84FB-BB5C-A66737003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85035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D95549-AFFA-390C-B635-DAA279CFBE0D}"/>
              </a:ext>
            </a:extLst>
          </p:cNvPr>
          <p:cNvSpPr txBox="1"/>
          <p:nvPr/>
        </p:nvSpPr>
        <p:spPr>
          <a:xfrm>
            <a:off x="1497689" y="4244454"/>
            <a:ext cx="7383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 [2, 3, 5, 7, 11, 13, 17]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 [2, 3, 5, 7, 11, 13, 17, 19, 23, 29]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 10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10D9-057A-F711-A505-ACA7EC0CB776}"/>
              </a:ext>
            </a:extLst>
          </p:cNvPr>
          <p:cNvSpPr txBox="1"/>
          <p:nvPr/>
        </p:nvSpPr>
        <p:spPr>
          <a:xfrm>
            <a:off x="1497688" y="0"/>
            <a:ext cx="839254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ошиблись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     </a:t>
            </a: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ошибка исправлена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Дополненный список:'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+= 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Расширенный список:'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Количество элементов в списке:'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F9F291-567F-2090-9221-A5B100A88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95364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767280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Перебор элементов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списка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9E3B35-1F80-FDD8-460F-30E836EC72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50217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689" y="3050628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F656C1C-1E7E-AF22-C8AF-96989573DECE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1EF51-6E5F-CE2D-A074-D63709D20C0D}"/>
              </a:ext>
            </a:extLst>
          </p:cNvPr>
          <p:cNvSpPr txBox="1"/>
          <p:nvPr/>
        </p:nvSpPr>
        <p:spPr>
          <a:xfrm>
            <a:off x="1497689" y="3050628"/>
            <a:ext cx="63797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9F0777-9452-559C-55E8-80ED32542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03771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F73D9-B989-D3A7-7DB8-8C7F2E6867E3}"/>
              </a:ext>
            </a:extLst>
          </p:cNvPr>
          <p:cNvSpPr txBox="1"/>
          <p:nvPr/>
        </p:nvSpPr>
        <p:spPr>
          <a:xfrm>
            <a:off x="1497724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':'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DDE3F3-816A-ED0E-7A88-E58E6BD33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42729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689" y="3050628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813534F-6C26-9D68-C914-D609FCC4D3D0}"/>
              </a:ext>
            </a:extLst>
          </p:cNvPr>
          <p:cNvSpPr txBox="1"/>
          <p:nvPr/>
        </p:nvSpPr>
        <p:spPr>
          <a:xfrm>
            <a:off x="1497689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17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19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(primes)):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':'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primes[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0CAF8-3D22-D85C-2982-89CC28AFCD39}"/>
              </a:ext>
            </a:extLst>
          </p:cNvPr>
          <p:cNvSpPr txBox="1"/>
          <p:nvPr/>
        </p:nvSpPr>
        <p:spPr>
          <a:xfrm>
            <a:off x="1497689" y="3050628"/>
            <a:ext cx="637977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 : 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 : 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: 5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 : 7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 : 11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 : 13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 : 17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 : 19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 : 23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 : 29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5CF3C8-A2D9-5D98-9C5B-EBF9CE3B2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41290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669421" y="3075057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Срезы списков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62412B-B7E5-B69A-2795-D955FA2B98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35023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0DFB5-C1C2-D396-751E-A2A7145C41DE}"/>
              </a:ext>
            </a:extLst>
          </p:cNvPr>
          <p:cNvSpPr txBox="1"/>
          <p:nvPr/>
        </p:nvSpPr>
        <p:spPr>
          <a:xfrm>
            <a:off x="1497725" y="0"/>
            <a:ext cx="90756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 = 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22B61A-7EE7-003D-1B2B-5CD5CD8A94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10127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010F10-7EBE-269E-8509-F4BD2284EC93}"/>
              </a:ext>
            </a:extLst>
          </p:cNvPr>
          <p:cNvSpPr txBox="1"/>
          <p:nvPr/>
        </p:nvSpPr>
        <p:spPr>
          <a:xfrm>
            <a:off x="1497688" y="0"/>
            <a:ext cx="91177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 = 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6BD5A-34C8-E66B-2765-240EF9803DDD}"/>
              </a:ext>
            </a:extLst>
          </p:cNvPr>
          <p:cNvSpPr txBox="1"/>
          <p:nvPr/>
        </p:nvSpPr>
        <p:spPr>
          <a:xfrm>
            <a:off x="1497688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5D1AE2-6E9E-934C-8271-254ACC2E9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6571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010F10-7EBE-269E-8509-F4BD2284EC93}"/>
              </a:ext>
            </a:extLst>
          </p:cNvPr>
          <p:cNvSpPr txBox="1"/>
          <p:nvPr/>
        </p:nvSpPr>
        <p:spPr>
          <a:xfrm>
            <a:off x="1497688" y="0"/>
            <a:ext cx="91177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 = 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‘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winter = months[-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:] + 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winter: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6BD5A-34C8-E66B-2765-240EF9803DDD}"/>
              </a:ext>
            </a:extLst>
          </p:cNvPr>
          <p:cNvSpPr txBox="1"/>
          <p:nvPr/>
        </p:nvSpPr>
        <p:spPr>
          <a:xfrm>
            <a:off x="1497688" y="4244454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BB96F6-447C-17AB-4130-AD2FA4713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17645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010F10-7EBE-269E-8509-F4BD2284EC93}"/>
              </a:ext>
            </a:extLst>
          </p:cNvPr>
          <p:cNvSpPr txBox="1"/>
          <p:nvPr/>
        </p:nvSpPr>
        <p:spPr>
          <a:xfrm>
            <a:off x="1497688" y="0"/>
            <a:ext cx="91177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 = 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spring: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‘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winter = months[-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:] + 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winter: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AA492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6BD5A-34C8-E66B-2765-240EF9803DDD}"/>
              </a:ext>
            </a:extLst>
          </p:cNvPr>
          <p:cNvSpPr txBox="1"/>
          <p:nvPr/>
        </p:nvSpPr>
        <p:spPr>
          <a:xfrm>
            <a:off x="1497688" y="4244454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 январь февраль 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D0643C-4B65-EBC3-0411-8F0D64079B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50747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21BFA-992A-D067-0806-F2679BA14B32}"/>
              </a:ext>
            </a:extLst>
          </p:cNvPr>
          <p:cNvSpPr txBox="1"/>
          <p:nvPr/>
        </p:nvSpPr>
        <p:spPr>
          <a:xfrm>
            <a:off x="1508235" y="0"/>
            <a:ext cx="91282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58B6E3-CD94-A7DB-DADD-7DC6F92F5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90678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A3D323-3308-2762-F912-E8A8281F2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9660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109330-725C-F66C-C49C-4FA9F378A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25554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['февраль', 'апрель', 'июнь', 'август', 'октябрь', 'декабрь']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464927-B630-C4F2-FC1B-DFE4EB9F7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30260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['февраль', 'апрель', 'июнь', 'август', 'октябрь', 'декабрь']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304F5B-EDE9-32A4-5618-191118662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73742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['февраль', 'апрель', 'июнь', 'август', 'октябрь', 'декабрь’]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['март', 'июнь', 'сентябрь']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0B3FD14-A8E7-5CBC-8CDE-26CF7ABCC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71777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['февраль', 'апрель', 'июнь', 'август', 'октябрь', 'декабрь’]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['март', 'июнь', 'сентябрь']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2947D52-FBAD-0183-40B9-9791CA213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10333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F88CAD-42C7-4508-D6AC-431DD9E7FE3C}"/>
              </a:ext>
            </a:extLst>
          </p:cNvPr>
          <p:cNvSpPr txBox="1"/>
          <p:nvPr/>
        </p:nvSpPr>
        <p:spPr>
          <a:xfrm>
            <a:off x="1497688" y="0"/>
            <a:ext cx="91963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(months[::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9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:-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2257-7E6D-0B58-72C0-7449758A2033}"/>
              </a:ext>
            </a:extLst>
          </p:cNvPr>
          <p:cNvSpPr txBox="1"/>
          <p:nvPr/>
        </p:nvSpPr>
        <p:spPr>
          <a:xfrm>
            <a:off x="1497688" y="4244454"/>
            <a:ext cx="80877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июль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['февраль', 'апрель', 'июнь', 'август', 'октябрь', 'декабрь’]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['март', 'июнь', 'сентябрь’]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['июль', 'июнь', 'май', 'апрель', 'март']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7E2DE86-B2E1-2FCA-2E01-A36FA9A19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5756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BD401-8353-AF68-38D3-DF0D6BE9E56E}"/>
              </a:ext>
            </a:extLst>
          </p:cNvPr>
          <p:cNvSpPr txBox="1"/>
          <p:nvPr/>
        </p:nvSpPr>
        <p:spPr>
          <a:xfrm>
            <a:off x="1508234" y="0"/>
            <a:ext cx="91597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A8E877C-1BA8-8CA4-E30D-0B94E16DA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15751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35455-36BB-BDA1-4481-5C8588652ECB}"/>
              </a:ext>
            </a:extLst>
          </p:cNvPr>
          <p:cNvSpPr txBox="1"/>
          <p:nvPr/>
        </p:nvSpPr>
        <p:spPr>
          <a:xfrm>
            <a:off x="1497687" y="0"/>
            <a:ext cx="90862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февраль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'June', 'July', 'August',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']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A5EEFC-995C-F768-DD00-3ECD1621C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80159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35455-36BB-BDA1-4481-5C8588652ECB}"/>
              </a:ext>
            </a:extLst>
          </p:cNvPr>
          <p:cNvSpPr txBox="1"/>
          <p:nvPr/>
        </p:nvSpPr>
        <p:spPr>
          <a:xfrm>
            <a:off x="1497687" y="0"/>
            <a:ext cx="90862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февраль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'June', 'July', 'August',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']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61D897-745D-A77F-34D9-7DD4DDFC5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8814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35455-36BB-BDA1-4481-5C8588652ECB}"/>
              </a:ext>
            </a:extLst>
          </p:cNvPr>
          <p:cNvSpPr txBox="1"/>
          <p:nvPr/>
        </p:nvSpPr>
        <p:spPr>
          <a:xfrm>
            <a:off x="1497687" y="0"/>
            <a:ext cx="90862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февраль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'June', 'July', 'August',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['July', 'August', 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сентябрь', 'октябрь', 'ноябрь', 'декабрь']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DE98AC-4204-0101-4F7D-46FCFE02B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17402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35455-36BB-BDA1-4481-5C8588652ECB}"/>
              </a:ext>
            </a:extLst>
          </p:cNvPr>
          <p:cNvSpPr txBox="1"/>
          <p:nvPr/>
        </p:nvSpPr>
        <p:spPr>
          <a:xfrm>
            <a:off x="1497687" y="0"/>
            <a:ext cx="908622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февраль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'June', 'July', 'August',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['July', 'August', 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сентябрь', 'октябрь', 'ноябрь', 'декабрь']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9F06A6-5448-EDA0-A6F2-F531CA046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36826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135455-36BB-BDA1-4481-5C8588652ECB}"/>
              </a:ext>
            </a:extLst>
          </p:cNvPr>
          <p:cNvSpPr txBox="1"/>
          <p:nvPr/>
        </p:nvSpPr>
        <p:spPr>
          <a:xfrm>
            <a:off x="1497687" y="0"/>
            <a:ext cx="908622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'февраль'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'март'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'апрель'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'май'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'июнь'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'июль'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'август'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'сентябрь'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'октябрь'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'ноябрь'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'декабрь'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'June'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'July'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'August'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months[:]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(months)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январь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февраль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март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апрель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май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'June', 'July', 'August',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октябрь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ноябрь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декабрь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['July', 'August', 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сентябрь', 'октябрь', 'ноябрь', 'декабрь’]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[]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7AFEC6-EE33-B578-9896-6417A2FC4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41265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693464-9C99-F312-9A06-F173EC7EE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9909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8" y="3075057"/>
            <a:ext cx="993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latin typeface="Press Start 2P" pitchFamily="2" charset="0"/>
              </a:rPr>
              <a:t>Кортежи (тип </a:t>
            </a:r>
            <a:r>
              <a:rPr lang="en-US" sz="4000" dirty="0">
                <a:latin typeface="Press Start 2P" pitchFamily="2" charset="0"/>
              </a:rPr>
              <a:t>tuple)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F2E2B7-3717-FAFC-B2D3-BB507FFE8C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0763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94A714-9694-C72D-604D-DCB975D6322A}"/>
              </a:ext>
            </a:extLst>
          </p:cNvPr>
          <p:cNvSpPr txBox="1"/>
          <p:nvPr/>
        </p:nvSpPr>
        <p:spPr>
          <a:xfrm>
            <a:off x="1487215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314C4A-FF75-9F59-58ED-CB75E8CA5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46204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3A397D-FC03-0A63-0124-1B01EC7AAD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57360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BE8C7B-2EDB-08A2-1600-53F30994C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99090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1FB88C-4380-9ADE-3B63-5035A31D2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97815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 + t)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AADE29-C6F9-0CDD-926C-EF3997F71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8329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('7', 'пик', 18)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 + t)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FD9666D-2DCF-021E-8C9A-18B7F7F71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59041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('7', 'пик', 18)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 + t)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треф'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309BAFC-0B2D-ECBE-6462-0AF0DAE76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79778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('7', 'пик', 18)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TypeError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'tuple' object does not support item assignment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3D49B-8818-863B-81E1-371B26175D23}"/>
              </a:ext>
            </a:extLst>
          </p:cNvPr>
          <p:cNvSpPr txBox="1"/>
          <p:nvPr/>
        </p:nvSpPr>
        <p:spPr>
          <a:xfrm>
            <a:off x="1497686" y="0"/>
            <a:ext cx="637977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empty = ()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(card + t)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card[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треф'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511A260-7ADB-5271-AD42-DECA06DDA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38135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387018" y="3075057"/>
            <a:ext cx="94179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Сравнение кортежей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B912FA-D129-002D-116F-22869003B7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08422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4E25BFD-D683-8A70-D5A9-D3CE98ED88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98562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DEB292-18A5-5ECA-0ECF-E6F5E906F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66319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09D6FF-14E0-1CF8-E65F-F59AFA34A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18850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F1D288-55EE-17B8-534B-DB7D944BA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38042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53959F-70AD-184B-A7AC-E9E35C8EE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15610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288C014-572C-E6CD-5225-1E21E8B2E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71423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B16BE3-F605-33A8-4761-00559E393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199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071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9CEBA4-545C-AD9E-1037-F81DA60FD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16385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!=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5B10E9D-D73B-6C44-85FD-EEA8FD1D0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5820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!=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2F9DDD-D838-B112-53B7-CD2CD939A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28449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0" y="0"/>
            <a:ext cx="6380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!=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'5'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'бубен'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DF5FD3B-82F6-F81A-B124-ADF8D8237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7153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B0926A-4E2D-15E3-BEE2-2CA018167A19}"/>
              </a:ext>
            </a:extLst>
          </p:cNvPr>
          <p:cNvSpPr txBox="1"/>
          <p:nvPr/>
        </p:nvSpPr>
        <p:spPr>
          <a:xfrm>
            <a:off x="6878327" y="0"/>
            <a:ext cx="360015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True</a:t>
            </a:r>
          </a:p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TypeError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'&lt;' not supported between instances of 'int' and 'str'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0135-81C0-20AA-0324-817B18981F7B}"/>
              </a:ext>
            </a:extLst>
          </p:cNvPr>
          <p:cNvSpPr txBox="1"/>
          <p:nvPr/>
        </p:nvSpPr>
        <p:spPr>
          <a:xfrm>
            <a:off x="1496060" y="0"/>
            <a:ext cx="517418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==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&lt;= 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&gt;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'червей’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!=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&lt; (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'5'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'бубен'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9E7EFC-A72A-6BBE-F903-E9AFA61E7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53279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617577" y="3075057"/>
            <a:ext cx="109568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Присваивание кортежей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F47C72-504F-7665-2E3C-5397EBD12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2988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D785B4-46F9-2B03-D3D5-45F43AEA0097}"/>
              </a:ext>
            </a:extLst>
          </p:cNvPr>
          <p:cNvSpPr txBox="1"/>
          <p:nvPr/>
        </p:nvSpPr>
        <p:spPr>
          <a:xfrm>
            <a:off x="148721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s)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6BC62F-D7DE-25AA-954C-205D49A68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38393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D785B4-46F9-2B03-D3D5-45F43AEA0097}"/>
              </a:ext>
            </a:extLst>
          </p:cNvPr>
          <p:cNvSpPr txBox="1"/>
          <p:nvPr/>
        </p:nvSpPr>
        <p:spPr>
          <a:xfrm>
            <a:off x="1487215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s)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то же самое, что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D070926-2699-1DB3-07B2-9F14ABE73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26318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D785B4-46F9-2B03-D3D5-45F43AEA0097}"/>
              </a:ext>
            </a:extLst>
          </p:cNvPr>
          <p:cNvSpPr txBox="1"/>
          <p:nvPr/>
        </p:nvSpPr>
        <p:spPr>
          <a:xfrm>
            <a:off x="1487215" y="0"/>
            <a:ext cx="63797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s) = 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то же самое, что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'hello’</a:t>
            </a: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то же самое, что  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b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'hello'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B06063-91D9-C951-4EA9-48D6CB698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17778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683DF-D556-7348-735F-3F39D24FDA52}"/>
              </a:ext>
            </a:extLst>
          </p:cNvPr>
          <p:cNvSpPr txBox="1"/>
          <p:nvPr/>
        </p:nvSpPr>
        <p:spPr>
          <a:xfrm>
            <a:off x="1497723" y="0"/>
            <a:ext cx="9065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cards = [(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 = cards[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651F08-0D56-833E-9C39-E9EE8D9BE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26804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 7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B4ECF-E9CB-1450-57DB-0D9A54B3795F}"/>
              </a:ext>
            </a:extLst>
          </p:cNvPr>
          <p:cNvSpPr txBox="1"/>
          <p:nvPr/>
        </p:nvSpPr>
        <p:spPr>
          <a:xfrm>
            <a:off x="1497686" y="0"/>
            <a:ext cx="86868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cards = [(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 = cards[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A8C510-04AE-7152-31A6-5DF6638D9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1354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 7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B4ECF-E9CB-1450-57DB-0D9A54B3795F}"/>
              </a:ext>
            </a:extLst>
          </p:cNvPr>
          <p:cNvSpPr txBox="1"/>
          <p:nvPr/>
        </p:nvSpPr>
        <p:spPr>
          <a:xfrm>
            <a:off x="1497686" y="0"/>
            <a:ext cx="86868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cards = [(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 = cards[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Масть карты:'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816A60-3C3E-CF99-3DED-1584E3F9D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96747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 7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Масть карты: пик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B4ECF-E9CB-1450-57DB-0D9A54B3795F}"/>
              </a:ext>
            </a:extLst>
          </p:cNvPr>
          <p:cNvSpPr txBox="1"/>
          <p:nvPr/>
        </p:nvSpPr>
        <p:spPr>
          <a:xfrm>
            <a:off x="1497686" y="0"/>
            <a:ext cx="86868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cards = [(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'7'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'треф'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'пик'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 = cards[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Достоинство карты:'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value)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Масть карты:'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suit)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2E6F2E-D5DA-4A30-7AF3-2D45EF095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90900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9" y="2767280"/>
            <a:ext cx="83920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Обмен значениями</a:t>
            </a:r>
            <a:endParaRPr lang="en-US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переменных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F383D-D828-5CEC-9CBC-5D88D4453C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50266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2C0CCA-F3DD-FDD3-CB80-5EB796E5D48D}"/>
              </a:ext>
            </a:extLst>
          </p:cNvPr>
          <p:cNvSpPr txBox="1"/>
          <p:nvPr/>
        </p:nvSpPr>
        <p:spPr>
          <a:xfrm>
            <a:off x="1508235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6202DF-6F74-9618-3C1B-638FD6E9F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71699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2, 2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025D770-750B-3B06-FE8D-45566DCB4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32553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2, 2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875439-C8BC-5D98-7F52-40C1187D511C}"/>
              </a:ext>
            </a:extLst>
          </p:cNvPr>
          <p:cNvGrpSpPr/>
          <p:nvPr/>
        </p:nvGrpSpPr>
        <p:grpSpPr>
          <a:xfrm>
            <a:off x="1569666" y="303012"/>
            <a:ext cx="746280" cy="482760"/>
            <a:chOff x="1569666" y="303012"/>
            <a:chExt cx="74628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5CB5B6B-1C0E-5B6E-D7E0-448A2C30FAA0}"/>
                    </a:ext>
                  </a:extLst>
                </p14:cNvPr>
                <p14:cNvContentPartPr/>
                <p14:nvPr/>
              </p14:nvContentPartPr>
              <p14:xfrm>
                <a:off x="1569666" y="303012"/>
                <a:ext cx="746280" cy="41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5CB5B6B-1C0E-5B6E-D7E0-448A2C30FA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1026" y="294012"/>
                  <a:ext cx="7639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310E154-5D95-05F6-78F1-58E6EE967DC9}"/>
                    </a:ext>
                  </a:extLst>
                </p14:cNvPr>
                <p14:cNvContentPartPr/>
                <p14:nvPr/>
              </p14:nvContentPartPr>
              <p14:xfrm>
                <a:off x="1599546" y="333612"/>
                <a:ext cx="680040" cy="45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310E154-5D95-05F6-78F1-58E6EE967D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0546" y="324612"/>
                  <a:ext cx="697680" cy="469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3EA112-1CDA-744E-4B53-0CE51A303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09463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t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C6A506-E7B5-6298-5B17-901BDB53DE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29080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 = 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t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F7B7F4-803C-EEB5-259C-BF354E09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43907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b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2DDAA17-6948-538E-EB7E-B19F3A6A5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4924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1, 2, 3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2589-C0BB-817F-53BB-478D3D013621}"/>
              </a:ext>
            </a:extLst>
          </p:cNvPr>
          <p:cNvSpPr txBox="1"/>
          <p:nvPr/>
        </p:nvSpPr>
        <p:spPr>
          <a:xfrm>
            <a:off x="1497686" y="0"/>
            <a:ext cx="63797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 = b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‘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 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b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 = c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b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(b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6BA87C8-AD4F-7C36-782C-C2ADFAE57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34872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F32D36-B7F9-25F9-0F3A-CF4C2B02C511}"/>
              </a:ext>
            </a:extLst>
          </p:cNvPr>
          <p:cNvSpPr txBox="1"/>
          <p:nvPr/>
        </p:nvSpPr>
        <p:spPr>
          <a:xfrm>
            <a:off x="1508235" y="0"/>
            <a:ext cx="63797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Сортировка пузырьком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input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(n-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(n-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-i):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a[j] &gt; a[j+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    a[j]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a[j+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a[j+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a[j]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B2D921C-76DE-0C48-D863-C9F0B3BC1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43862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Алгоритм сортировка методом пузырька">
            <a:hlinkClick r:id="" action="ppaction://media"/>
            <a:extLst>
              <a:ext uri="{FF2B5EF4-FFF2-40B4-BE49-F238E27FC236}">
                <a16:creationId xmlns:a16="http://schemas.microsoft.com/office/drawing/2014/main" id="{E35EA2AC-F3EA-655C-50C2-C4CA7370120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65852" y="643466"/>
            <a:ext cx="9860295" cy="557106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697C40-7601-B597-718F-FFC6FE911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14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767280"/>
            <a:ext cx="8905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Преобразования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между коллекциями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1DC512-01AA-101C-03B9-3651CB217A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42963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B0EFE-6B88-BF77-F143-3327D5308AEF}"/>
              </a:ext>
            </a:extLst>
          </p:cNvPr>
          <p:cNvSpPr txBox="1"/>
          <p:nvPr/>
        </p:nvSpPr>
        <p:spPr>
          <a:xfrm>
            <a:off x="1508235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writer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Лев Толстой'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1827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(writer)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1828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writer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tuple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(writer)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8C3D87-6B29-1055-BF0C-3D887301B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29799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('Лев Толстой', 1828)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86D3-F15E-DE08-A0FF-9633CA586129}"/>
              </a:ext>
            </a:extLst>
          </p:cNvPr>
          <p:cNvSpPr txBox="1"/>
          <p:nvPr/>
        </p:nvSpPr>
        <p:spPr>
          <a:xfrm>
            <a:off x="1497686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writer =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Лев Толстой'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1827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(writer)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1828</a:t>
            </a:r>
            <a:b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writer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tuple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(writer)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E185BD-C585-EB53-E68C-693AE5FA01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99948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357499-9870-CEFE-3A2F-C24F7711F764}"/>
              </a:ext>
            </a:extLst>
          </p:cNvPr>
          <p:cNvSpPr txBox="1"/>
          <p:nvPr/>
        </p:nvSpPr>
        <p:spPr>
          <a:xfrm>
            <a:off x="1497725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43121E-DC17-114E-C681-34C1F7389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15739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41C66-0527-6491-AD35-7CD8D0C8284C}"/>
              </a:ext>
            </a:extLst>
          </p:cNvPr>
          <p:cNvSpPr txBox="1"/>
          <p:nvPr/>
        </p:nvSpPr>
        <p:spPr>
          <a:xfrm>
            <a:off x="1497686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6E710B-10A2-C631-3F36-AEABC2873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53808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41C66-0527-6491-AD35-7CD8D0C8284C}"/>
              </a:ext>
            </a:extLst>
          </p:cNvPr>
          <p:cNvSpPr txBox="1"/>
          <p:nvPr/>
        </p:nvSpPr>
        <p:spPr>
          <a:xfrm>
            <a:off x="149768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names = 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Иван'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'Петр'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'Сергей'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'Алексей'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sorted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(names)))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09BBB1-5C2A-A746-363E-5E3E1E24E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8492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D0C66-B34A-E13B-10DD-F242BB6A83D1}"/>
              </a:ext>
            </a:extLst>
          </p:cNvPr>
          <p:cNvSpPr txBox="1"/>
          <p:nvPr/>
        </p:nvSpPr>
        <p:spPr>
          <a:xfrm>
            <a:off x="1497686" y="4252366"/>
            <a:ext cx="90862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['Алексей', 'Иван', 'Петр', 'Сергей']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41C66-0527-6491-AD35-7CD8D0C8284C}"/>
              </a:ext>
            </a:extLst>
          </p:cNvPr>
          <p:cNvSpPr txBox="1"/>
          <p:nvPr/>
        </p:nvSpPr>
        <p:spPr>
          <a:xfrm>
            <a:off x="149768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len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(a)))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names = {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Иван'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'Петр'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'Сергей'</a:t>
            </a:r>
            <a:r>
              <a:rPr lang="ru-RU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'Алексей'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sorted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(names)))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707BDE-2C48-8F3A-075C-051ED0707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658430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8A4E476-562F-5EE0-A284-0472CB588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271292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7" y="3075057"/>
            <a:ext cx="9930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Методы </a:t>
            </a:r>
            <a:r>
              <a:rPr lang="en-US" sz="4000" dirty="0">
                <a:latin typeface="Press Start 2P" pitchFamily="2" charset="0"/>
              </a:rPr>
              <a:t>split </a:t>
            </a:r>
            <a:r>
              <a:rPr lang="ru-RU" sz="4000" dirty="0">
                <a:latin typeface="Press Start 2P" pitchFamily="2" charset="0"/>
              </a:rPr>
              <a:t>и </a:t>
            </a:r>
            <a:r>
              <a:rPr lang="en-US" sz="4000" dirty="0">
                <a:latin typeface="Press Start 2P" pitchFamily="2" charset="0"/>
              </a:rPr>
              <a:t>join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30A76-2B54-F4CD-AD43-A752539426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1144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4037C-7043-A662-8E44-B24AEAA1E060}"/>
              </a:ext>
            </a:extLst>
          </p:cNvPr>
          <p:cNvSpPr txBox="1"/>
          <p:nvPr/>
        </p:nvSpPr>
        <p:spPr>
          <a:xfrm>
            <a:off x="1508236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623CC-822D-81B5-0720-E7645C0D0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832566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9FE7668-2B66-1275-3A61-F745B31E5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73629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439E91-2A39-E598-1006-584791089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84222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4471F44-D74F-FB5F-E08F-D77A99DAB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47602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D66434-CB23-EACC-9FF5-6ED073138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70285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['192', '168', '1', '1']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352EF1E-FE45-8B7F-28D2-BDCE44497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29162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['192', '168', '1', '1']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A53D69-25EA-2C24-0D37-40C844666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927623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['192', '168', '1', '1’]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['р', 'з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дв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 три']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DE5B533-1A34-1FC9-FBD1-5A964E574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800153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['192', '168', '1', '1’]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['р', 'з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дв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 три']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'A##B##</a:t>
            </a:r>
            <a:r>
              <a:rPr lang="en-US" sz="1600" dirty="0" err="1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'##'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F47EB5-CCA4-3422-3645-F553A4F1D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31338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['раз', 'два', 'три’]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['one', 'two', 'three’]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['192', '168', '1', '1’]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['р', 'з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дв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 три’]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['A', 'B', 'C']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02E54-6025-A901-8836-8C5B820EE2E1}"/>
              </a:ext>
            </a:extLst>
          </p:cNvPr>
          <p:cNvSpPr txBox="1"/>
          <p:nvPr/>
        </p:nvSpPr>
        <p:spPr>
          <a:xfrm>
            <a:off x="1498391" y="0"/>
            <a:ext cx="637977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раз два три'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one two three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'192.168.1.1'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'.’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'A##B##</a:t>
            </a:r>
            <a:r>
              <a:rPr lang="en-US" sz="1600" dirty="0" err="1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C'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'##'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111E2C-4C46-B700-3D99-850EE5540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64388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DCBEA9-8356-E74E-FEDE-A7AC0F451BF8}"/>
              </a:ext>
            </a:extLst>
          </p:cNvPr>
          <p:cNvSpPr txBox="1"/>
          <p:nvPr/>
        </p:nvSpPr>
        <p:spPr>
          <a:xfrm>
            <a:off x="1497725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6A1C73-C2E3-792E-F6C1-51F69DD29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18952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ТотКогоНельзяНазывать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A1FBA-48BB-DB47-DACC-B2EBC31DA93D}"/>
              </a:ext>
            </a:extLst>
          </p:cNvPr>
          <p:cNvSpPr txBox="1"/>
          <p:nvPr/>
        </p:nvSpPr>
        <p:spPr>
          <a:xfrm>
            <a:off x="1497689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A64BDE-11A9-E65A-F37F-3DFEF2ABA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62740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ТотКогоНельзяНазывать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A1FBA-48BB-DB47-DACC-B2EBC31DA93D}"/>
              </a:ext>
            </a:extLst>
          </p:cNvPr>
          <p:cNvSpPr txBox="1"/>
          <p:nvPr/>
        </p:nvSpPr>
        <p:spPr>
          <a:xfrm>
            <a:off x="1497689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0F0468-6A92-6B96-D5F4-58BECAE56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636619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ТотКогоНельзяНазывать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 Кого Нельзя Называть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A1FBA-48BB-DB47-DACC-B2EBC31DA93D}"/>
              </a:ext>
            </a:extLst>
          </p:cNvPr>
          <p:cNvSpPr txBox="1"/>
          <p:nvPr/>
        </p:nvSpPr>
        <p:spPr>
          <a:xfrm>
            <a:off x="1497689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1FBCF1-70F0-84DB-C16F-041DA07A1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41352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ТотКогоНельзяНазывать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 Кого Нельзя Называть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A1FBA-48BB-DB47-DACC-B2EBC31DA93D}"/>
              </a:ext>
            </a:extLst>
          </p:cNvPr>
          <p:cNvSpPr txBox="1"/>
          <p:nvPr/>
        </p:nvSpPr>
        <p:spPr>
          <a:xfrm>
            <a:off x="1497689" y="0"/>
            <a:ext cx="63797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'-'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53DF38-96F4-DA24-9344-CFFF95754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04507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9" y="4244454"/>
            <a:ext cx="638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ТотКогоНельзяНазывать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 Кого Нельзя Называть</a:t>
            </a:r>
          </a:p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Тот-Кого-Нельзя-Называть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A1FBA-48BB-DB47-DACC-B2EBC31DA93D}"/>
              </a:ext>
            </a:extLst>
          </p:cNvPr>
          <p:cNvSpPr txBox="1"/>
          <p:nvPr/>
        </p:nvSpPr>
        <p:spPr>
          <a:xfrm>
            <a:off x="1497689" y="0"/>
            <a:ext cx="637977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Тот'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'Кого'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'Нельзя'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'Называть'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'-'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.join(s))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7D4739-0B5C-68BA-ADCE-353710EF3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604809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2245AD-086F-9839-BD53-F606DD266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7485"/>
            <a:ext cx="12192000" cy="466302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538BC3F-3C28-5A23-FFDD-B1632CB4E8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79457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5EB0E4-AA07-4394-3620-D6647EE31B40}"/>
              </a:ext>
            </a:extLst>
          </p:cNvPr>
          <p:cNvSpPr txBox="1"/>
          <p:nvPr/>
        </p:nvSpPr>
        <p:spPr>
          <a:xfrm>
            <a:off x="1508235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получится в результате?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].join([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0567DFC-05D8-009E-2C11-DD741F0C7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68948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8" y="4244454"/>
            <a:ext cx="8182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AttributeError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'list' object has no attribute 'join'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9C0A2-2C22-BB50-7D21-CD8F8435FA84}"/>
              </a:ext>
            </a:extLst>
          </p:cNvPr>
          <p:cNvSpPr txBox="1"/>
          <p:nvPr/>
        </p:nvSpPr>
        <p:spPr>
          <a:xfrm>
            <a:off x="1498391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получится в результате?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].join([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7E904D-A4B7-2EB6-3584-DCB2ECE56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73349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8" y="4244454"/>
            <a:ext cx="8182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AttributeError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'list' object has no attribute 'join'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9C0A2-2C22-BB50-7D21-CD8F8435FA84}"/>
              </a:ext>
            </a:extLst>
          </p:cNvPr>
          <p:cNvSpPr txBox="1"/>
          <p:nvPr/>
        </p:nvSpPr>
        <p:spPr>
          <a:xfrm>
            <a:off x="1498391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получится в результате?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].join([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}.join({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EBDEEB-A13D-BAB2-8500-06C0A5D95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3946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C76E05-B238-1AF8-F970-FC8A5E078DE9}"/>
              </a:ext>
            </a:extLst>
          </p:cNvPr>
          <p:cNvSpPr txBox="1"/>
          <p:nvPr/>
        </p:nvSpPr>
        <p:spPr>
          <a:xfrm>
            <a:off x="1497688" y="4244454"/>
            <a:ext cx="8182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AttributeError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'list' object has no attribute 'join'</a:t>
            </a:r>
            <a:endParaRPr lang="ru-RU" sz="1600" dirty="0">
              <a:solidFill>
                <a:srgbClr val="ED395F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AttributeError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'set' object has no attribute 'join'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79C0A2-2C22-BB50-7D21-CD8F8435FA84}"/>
              </a:ext>
            </a:extLst>
          </p:cNvPr>
          <p:cNvSpPr txBox="1"/>
          <p:nvPr/>
        </p:nvSpPr>
        <p:spPr>
          <a:xfrm>
            <a:off x="1498391" y="0"/>
            <a:ext cx="63797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Что получится в результате?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].join([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]))</a:t>
            </a:r>
            <a:endParaRPr lang="ru-RU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}.join({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5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9222CFC-8610-3D63-69B0-AEEFF4634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2251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130538" y="3075057"/>
            <a:ext cx="993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Списочные выражения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929AA2-F7B0-CB9C-B6E2-B5FC63D2B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56652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7903B-3AC2-0661-E1C0-F63212D1B9E3}"/>
              </a:ext>
            </a:extLst>
          </p:cNvPr>
          <p:cNvSpPr txBox="1"/>
          <p:nvPr/>
        </p:nvSpPr>
        <p:spPr>
          <a:xfrm>
            <a:off x="1518746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6A8607-3674-995B-F9D0-E8DE5F72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942380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4E605D-945E-9DEA-625F-B0AC36765BF5}"/>
              </a:ext>
            </a:extLst>
          </p:cNvPr>
          <p:cNvSpPr txBox="1"/>
          <p:nvPr/>
        </p:nvSpPr>
        <p:spPr>
          <a:xfrm>
            <a:off x="1498391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1, 4, 9, 16, 25, 36, 49]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D09E1B1-1AA1-C011-7F92-54349AB43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958976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4E605D-945E-9DEA-625F-B0AC36765BF5}"/>
              </a:ext>
            </a:extLst>
          </p:cNvPr>
          <p:cNvSpPr txBox="1"/>
          <p:nvPr/>
        </p:nvSpPr>
        <p:spPr>
          <a:xfrm>
            <a:off x="1498391" y="0"/>
            <a:ext cx="63797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 помощью списочного выражения: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1, 4, 9, 16, 25, 36, 49]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0204C9-05AB-B310-6419-6CCF6B986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45105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4E605D-945E-9DEA-625F-B0AC36765BF5}"/>
              </a:ext>
            </a:extLst>
          </p:cNvPr>
          <p:cNvSpPr txBox="1"/>
          <p:nvPr/>
        </p:nvSpPr>
        <p:spPr>
          <a:xfrm>
            <a:off x="1498391" y="0"/>
            <a:ext cx="63797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 помощью списочного выражения: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squares = 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(squares)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1, 4, 9, 16, 25, 36, 49]</a:t>
            </a:r>
          </a:p>
          <a:p>
            <a:r>
              <a:rPr lang="en-US" dirty="0"/>
              <a:t>[0, 1, 4, 9, 16, 25, 36, 49]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34C617-748D-B6DA-CD0F-ACA068772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587940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4, 16, 36, 64]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BA51B-6CE6-D91F-F1CA-B077EF3D0063}"/>
              </a:ext>
            </a:extLst>
          </p:cNvPr>
          <p:cNvSpPr txBox="1"/>
          <p:nvPr/>
        </p:nvSpPr>
        <p:spPr>
          <a:xfrm>
            <a:off x="1497841" y="0"/>
            <a:ext cx="63797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%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400B81-6859-0558-2752-4A471DB8A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777262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4, 16, 36, 64]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BA51B-6CE6-D91F-F1CA-B077EF3D0063}"/>
              </a:ext>
            </a:extLst>
          </p:cNvPr>
          <p:cNvSpPr txBox="1"/>
          <p:nvPr/>
        </p:nvSpPr>
        <p:spPr>
          <a:xfrm>
            <a:off x="1497841" y="0"/>
            <a:ext cx="82242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%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 помощью списочного выражения: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even_squares2 = 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%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(even_squares2)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4C3F1F-E022-A815-151C-355880ED9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774155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4, 16, 36, 64]</a:t>
            </a:r>
          </a:p>
          <a:p>
            <a:r>
              <a:rPr lang="en-US" dirty="0"/>
              <a:t>[0, 4, 16, 36, 64]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BA51B-6CE6-D91F-F1CA-B077EF3D0063}"/>
              </a:ext>
            </a:extLst>
          </p:cNvPr>
          <p:cNvSpPr txBox="1"/>
          <p:nvPr/>
        </p:nvSpPr>
        <p:spPr>
          <a:xfrm>
            <a:off x="1497841" y="0"/>
            <a:ext cx="82242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[]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%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==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   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even_squares.append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  <a:p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с помощью списочного выражения:</a:t>
            </a:r>
            <a:br>
              <a:rPr lang="ru-RU" sz="1600" dirty="0">
                <a:solidFill>
                  <a:srgbClr val="808080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even_squares2 = 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%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== </a:t>
            </a:r>
            <a:r>
              <a:rPr lang="en-US" sz="1600" dirty="0">
                <a:solidFill>
                  <a:srgbClr val="6897BB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(even_squares2)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7AD6A5-CEF2-1ECB-AF76-E9C278181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67621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8CDC8B-C420-792C-F983-27E099B229BC}"/>
              </a:ext>
            </a:extLst>
          </p:cNvPr>
          <p:cNvSpPr txBox="1"/>
          <p:nvPr/>
        </p:nvSpPr>
        <p:spPr>
          <a:xfrm>
            <a:off x="1487214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 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A014A55-9442-3F59-83FD-0A62D1999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66066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[0, 0, 0, 0, 1, 2, 0, 2, 4]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F0A6A-6404-B9F2-E988-17939368CF91}"/>
              </a:ext>
            </a:extLst>
          </p:cNvPr>
          <p:cNvSpPr txBox="1"/>
          <p:nvPr/>
        </p:nvSpPr>
        <p:spPr>
          <a:xfrm>
            <a:off x="1497841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([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 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j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)])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E4824D-166C-D6EC-0606-9589A364E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329108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15DEC0-2376-2452-2DB3-232F7163FA7F}"/>
              </a:ext>
            </a:extLst>
          </p:cNvPr>
          <p:cNvSpPr txBox="1"/>
          <p:nvPr/>
        </p:nvSpPr>
        <p:spPr>
          <a:xfrm>
            <a:off x="1497725" y="0"/>
            <a:ext cx="76147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'976 929 289 809 7677'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D17682-0067-BE18-71F5-36B19A710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264425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967AF-8738-C847-F892-132BFBD09169}"/>
              </a:ext>
            </a:extLst>
          </p:cNvPr>
          <p:cNvSpPr txBox="1"/>
          <p:nvPr/>
        </p:nvSpPr>
        <p:spPr>
          <a:xfrm>
            <a:off x="1497840" y="0"/>
            <a:ext cx="83713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'976 929 289 809 7677'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E73E7C-D755-9E0B-A8F5-8DA608F77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174689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809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967AF-8738-C847-F892-132BFBD09169}"/>
              </a:ext>
            </a:extLst>
          </p:cNvPr>
          <p:cNvSpPr txBox="1"/>
          <p:nvPr/>
        </p:nvSpPr>
        <p:spPr>
          <a:xfrm>
            <a:off x="1497840" y="0"/>
            <a:ext cx="83713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'976 929 289 809 7677'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evil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good = [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'666 777'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(evil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good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\n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D68957-9497-B163-A455-2694CAADA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658530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1" y="4244454"/>
            <a:ext cx="63797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809</a:t>
            </a:r>
          </a:p>
          <a:p>
            <a:r>
              <a:rPr lang="en-US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666</a:t>
            </a:r>
          </a:p>
          <a:p>
            <a:r>
              <a:rPr lang="en-US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777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967AF-8738-C847-F892-132BFBD09169}"/>
              </a:ext>
            </a:extLst>
          </p:cNvPr>
          <p:cNvSpPr txBox="1"/>
          <p:nvPr/>
        </p:nvSpPr>
        <p:spPr>
          <a:xfrm>
            <a:off x="1497840" y="0"/>
            <a:ext cx="83713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 = [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'976 929 289 809 7677'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3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evil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good = [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(x)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x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'666 777'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.split()]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(evil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good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solidFill>
                  <a:srgbClr val="AA492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sep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\n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44A125-3C4F-3769-9840-DFB4FA439D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793634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E79369-0565-DA15-5135-043B69834A66}"/>
              </a:ext>
            </a:extLst>
          </p:cNvPr>
          <p:cNvSpPr txBox="1"/>
          <p:nvPr/>
        </p:nvSpPr>
        <p:spPr>
          <a:xfrm>
            <a:off x="1487213" y="0"/>
            <a:ext cx="8360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'2^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6470EA7-3648-0EAE-FDCE-6BD1FC941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26065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0" y="4244454"/>
            <a:ext cx="84449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2^1=1, 2^2=4, 2^3=9, 2^4=16, 2^5=25, 2^6=36, 2^7=49, 2^8=64, 2^9=81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2BB15-2522-DD7E-9750-5FE468E12CDB}"/>
              </a:ext>
            </a:extLst>
          </p:cNvPr>
          <p:cNvSpPr txBox="1"/>
          <p:nvPr/>
        </p:nvSpPr>
        <p:spPr>
          <a:xfrm>
            <a:off x="1497841" y="0"/>
            <a:ext cx="80981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', '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.join(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'2^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=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{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**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2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range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10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6B5CDE-B876-28A3-9C0E-0653FECB9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46703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10AF130-232B-DB0B-CC1E-78C4C299B1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00832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AF9B42-A5F5-6180-E52E-89E61EC16212}"/>
              </a:ext>
            </a:extLst>
          </p:cNvPr>
          <p:cNvSpPr txBox="1"/>
          <p:nvPr/>
        </p:nvSpPr>
        <p:spPr>
          <a:xfrm>
            <a:off x="1518744" y="0"/>
            <a:ext cx="8182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 = 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'Эмма Уотсон'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'Билли Пайпер'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897BB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1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5D8AFD-FCE0-FB16-27B9-626CCBBBB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077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2D947-4523-C08E-20E4-3A57C449012B}"/>
              </a:ext>
            </a:extLst>
          </p:cNvPr>
          <p:cNvSpPr txBox="1"/>
          <p:nvPr/>
        </p:nvSpPr>
        <p:spPr>
          <a:xfrm>
            <a:off x="1518745" y="0"/>
            <a:ext cx="90651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 = [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'Джон Кристофер Депп Второй родился 9 июня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'Сильвестр Сталлоне'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'Сильвестр 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Гарденцио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Сталлоне родился...'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'Эмма Уотсон'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'Эмма Шарлотта 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Дуерр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Уотсон родилась в семье...'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...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47ADF10-1747-227E-E72D-F70712C2E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420770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7EB15-D36F-0520-3D39-3413DBACD2F3}"/>
              </a:ext>
            </a:extLst>
          </p:cNvPr>
          <p:cNvSpPr txBox="1"/>
          <p:nvPr/>
        </p:nvSpPr>
        <p:spPr>
          <a:xfrm>
            <a:off x="1518745" y="0"/>
            <a:ext cx="90651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 = {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'Джон Кристофер Депп Второй родился 9 июня...'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'Сильвестр Сталлоне'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'Сильвестр 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Гарденцио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Сталлоне родился...'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'Эмма Уотсон'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'Эмма Шарлотта </a:t>
            </a:r>
            <a:r>
              <a:rPr lang="ru-RU" sz="1600" dirty="0" err="1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Дуерр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Уотсон родилась в семье...'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...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}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AF4821-07EA-18C6-2312-93C84A92A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339819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68DD3-6AC8-B663-2704-B1C923BA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666EE-29D8-1E00-8F99-7AF1372D1C9C}"/>
              </a:ext>
            </a:extLst>
          </p:cNvPr>
          <p:cNvSpPr txBox="1"/>
          <p:nvPr/>
        </p:nvSpPr>
        <p:spPr>
          <a:xfrm>
            <a:off x="4208304" y="307505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Словари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4D5795-649F-0E44-5CDE-7A02AA4AF8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3229327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BF7F3-4885-D9A5-1EED-D0E92971DA18}"/>
              </a:ext>
            </a:extLst>
          </p:cNvPr>
          <p:cNvSpPr txBox="1"/>
          <p:nvPr/>
        </p:nvSpPr>
        <p:spPr>
          <a:xfrm>
            <a:off x="1529256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 = </a:t>
            </a:r>
            <a:r>
              <a:rPr lang="en-US" sz="1600" dirty="0" err="1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dict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   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или так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 = {}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B06536-9456-FDBD-54C0-D46F9AEE6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687554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BC5023-CDBE-D466-BE54-54FF96CCA249}"/>
              </a:ext>
            </a:extLst>
          </p:cNvPr>
          <p:cNvSpPr txBox="1"/>
          <p:nvPr/>
        </p:nvSpPr>
        <p:spPr>
          <a:xfrm>
            <a:off x="152925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Эмма Уотсон'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158B96-A12C-CCA0-A08D-34D6652CC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511472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0" y="4244454"/>
            <a:ext cx="8098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Эмма Шарлотта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Дуерр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Уотсон родилась в семье...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D613B-C7A1-7065-FEFA-48D5B651B507}"/>
              </a:ext>
            </a:extLst>
          </p:cNvPr>
          <p:cNvSpPr txBox="1"/>
          <p:nvPr/>
        </p:nvSpPr>
        <p:spPr>
          <a:xfrm>
            <a:off x="152925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Эмма Уотсон'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BFDB7A-993E-E3DC-A3CD-A12974BE2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25626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0" y="4244454"/>
            <a:ext cx="80981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Эмма Шарлотта </a:t>
            </a:r>
            <a:r>
              <a:rPr lang="ru-RU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Дуерр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Уотсон родилась в семье...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KeyError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</a:t>
            </a:r>
            <a:r>
              <a:rPr lang="ru-RU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Несуществующий ключ'</a:t>
            </a:r>
            <a:endParaRPr lang="en-US" sz="1600" dirty="0">
              <a:solidFill>
                <a:srgbClr val="ED395F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4D613B-C7A1-7065-FEFA-48D5B651B507}"/>
              </a:ext>
            </a:extLst>
          </p:cNvPr>
          <p:cNvSpPr txBox="1"/>
          <p:nvPr/>
        </p:nvSpPr>
        <p:spPr>
          <a:xfrm>
            <a:off x="1529255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Эмма Уотсон’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  <a:p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Несуществующий ключ'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AD3503-4219-DADF-ACC2-0A855E832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503558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AFAFB8-147A-61FC-7F21-F295CCE74C9F}"/>
              </a:ext>
            </a:extLst>
          </p:cNvPr>
          <p:cNvSpPr txBox="1"/>
          <p:nvPr/>
        </p:nvSpPr>
        <p:spPr>
          <a:xfrm>
            <a:off x="1518746" y="0"/>
            <a:ext cx="872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Брэд Питт'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 =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'Уильям Брэдли Питт, более известный как...'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975751-FDD7-6852-DC55-CC20C86C7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729486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6DC982-0BB9-3926-4B6D-9872C24908A0}"/>
              </a:ext>
            </a:extLst>
          </p:cNvPr>
          <p:cNvSpPr txBox="1"/>
          <p:nvPr/>
        </p:nvSpPr>
        <p:spPr>
          <a:xfrm>
            <a:off x="1518746" y="0"/>
            <a:ext cx="8897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del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0B1B9CE-9C2E-F152-AD21-ABC105209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469120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6DC982-0BB9-3926-4B6D-9872C24908A0}"/>
              </a:ext>
            </a:extLst>
          </p:cNvPr>
          <p:cNvSpPr txBox="1"/>
          <p:nvPr/>
        </p:nvSpPr>
        <p:spPr>
          <a:xfrm>
            <a:off x="1518746" y="0"/>
            <a:ext cx="8897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del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9C9537-F57D-83EC-4821-BF93AA1FA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32491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244454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E5E4CB-41D5-4FFB-6A6A-A23B95C25FB8}"/>
              </a:ext>
            </a:extLst>
          </p:cNvPr>
          <p:cNvSpPr txBox="1"/>
          <p:nvPr/>
        </p:nvSpPr>
        <p:spPr>
          <a:xfrm>
            <a:off x="1497840" y="4244454"/>
            <a:ext cx="8098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KeyError</a:t>
            </a:r>
            <a:r>
              <a:rPr lang="en-US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: '</a:t>
            </a:r>
            <a:r>
              <a:rPr lang="ru-RU" sz="1600" dirty="0">
                <a:solidFill>
                  <a:srgbClr val="ED395F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endParaRPr lang="en-US" sz="1600" dirty="0">
              <a:solidFill>
                <a:srgbClr val="ED395F"/>
              </a:solidFill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36ADC-9810-6EA7-6E4E-A77451AC1DBB}"/>
              </a:ext>
            </a:extLst>
          </p:cNvPr>
          <p:cNvSpPr txBox="1"/>
          <p:nvPr/>
        </p:nvSpPr>
        <p:spPr>
          <a:xfrm>
            <a:off x="1518746" y="0"/>
            <a:ext cx="8897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del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actors[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(actors[</a:t>
            </a:r>
            <a:r>
              <a:rPr lang="en-US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])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BDC483-4809-714C-37E3-98065D844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807926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9900C-28C4-7155-12BD-0E0A030E047E}"/>
              </a:ext>
            </a:extLst>
          </p:cNvPr>
          <p:cNvSpPr txBox="1"/>
          <p:nvPr/>
        </p:nvSpPr>
        <p:spPr>
          <a:xfrm>
            <a:off x="1518746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deleted_value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actors.pop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E43001-780F-6937-FAA9-2F6FFACA7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96239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B01E79-09C8-268E-A598-E680EF64F481}"/>
              </a:ext>
            </a:extLst>
          </p:cNvPr>
          <p:cNvSpPr txBox="1"/>
          <p:nvPr/>
        </p:nvSpPr>
        <p:spPr>
          <a:xfrm>
            <a:off x="151874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deleted_value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actors.pop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None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C9C9F58-F067-D6FD-E1AB-B3354A59A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261647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73FC51-8A4F-A548-D792-616CF86088EA}"/>
              </a:ext>
            </a:extLst>
          </p:cNvPr>
          <p:cNvSpPr txBox="1"/>
          <p:nvPr/>
        </p:nvSpPr>
        <p:spPr>
          <a:xfrm>
            <a:off x="1518745" y="0"/>
            <a:ext cx="63797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if 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 </a:t>
            </a:r>
            <a:r>
              <a:rPr lang="en-US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print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 нас есть статья про Джонни Деппа'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b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0066E6-7B11-B8E5-CFE6-DF18FFCA0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322407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4682F7-F93E-BA36-D9EA-5383075B5532}"/>
              </a:ext>
            </a:extLst>
          </p:cNvPr>
          <p:cNvSpPr txBox="1"/>
          <p:nvPr/>
        </p:nvSpPr>
        <p:spPr>
          <a:xfrm>
            <a:off x="149772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article 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actors.get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5D094A-CEB6-642E-8526-BF50398D8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650679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0E612-DB12-2781-6EF7-B1126151D7D6}"/>
              </a:ext>
            </a:extLst>
          </p:cNvPr>
          <p:cNvSpPr txBox="1"/>
          <p:nvPr/>
        </p:nvSpPr>
        <p:spPr>
          <a:xfrm>
            <a:off x="1529256" y="0"/>
            <a:ext cx="9012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article =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actors.get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Джонни Депп'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'Статья о Джонни Деппе не найдена'</a:t>
            </a:r>
            <a:r>
              <a:rPr lang="ru-RU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)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A5F8A9-EF87-4E8E-7B75-90928BD93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099110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A3F873-1924-851C-0803-03B29364445A}"/>
              </a:ext>
            </a:extLst>
          </p:cNvPr>
          <p:cNvSpPr txBox="1"/>
          <p:nvPr/>
        </p:nvSpPr>
        <p:spPr>
          <a:xfrm>
            <a:off x="1508235" y="0"/>
            <a:ext cx="6379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actors_names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actors.keys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12C2CBA-1E6E-160A-CBAC-8AE12B0E5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0915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A3F873-1924-851C-0803-03B29364445A}"/>
              </a:ext>
            </a:extLst>
          </p:cNvPr>
          <p:cNvSpPr txBox="1"/>
          <p:nvPr/>
        </p:nvSpPr>
        <p:spPr>
          <a:xfrm>
            <a:off x="1508235" y="0"/>
            <a:ext cx="6379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actors_names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actors.keys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all_articles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actors.values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1593F6-98EC-1F59-ECD3-91A74D0E7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219876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A3F873-1924-851C-0803-03B29364445A}"/>
              </a:ext>
            </a:extLst>
          </p:cNvPr>
          <p:cNvSpPr txBox="1"/>
          <p:nvPr/>
        </p:nvSpPr>
        <p:spPr>
          <a:xfrm>
            <a:off x="1508235" y="0"/>
            <a:ext cx="63797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actors_names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effectLst/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actors.keys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  <a:p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all_articles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= </a:t>
            </a:r>
            <a:r>
              <a:rPr lang="en-US" sz="1600" dirty="0">
                <a:solidFill>
                  <a:srgbClr val="8888C6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list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actors.values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())</a:t>
            </a:r>
          </a:p>
          <a:p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for 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key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,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val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in </a:t>
            </a:r>
            <a:r>
              <a:rPr lang="en-US" sz="16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actors.items</a:t>
            </a: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():</a:t>
            </a:r>
            <a:b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</a:br>
            <a:r>
              <a:rPr lang="en-US" sz="1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   </a:t>
            </a:r>
            <a:r>
              <a:rPr lang="en-US" sz="1600" dirty="0">
                <a:solidFill>
                  <a:srgbClr val="CC7832"/>
                </a:solidFill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pass</a:t>
            </a:r>
            <a:endParaRPr lang="en-US" sz="1600" dirty="0">
              <a:latin typeface="JetBrains Mono NL" panose="02000009000000000000" pitchFamily="49" charset="0"/>
              <a:ea typeface="JetBrains Mono NL" panose="02000009000000000000" pitchFamily="49" charset="0"/>
              <a:cs typeface="JetBrains Mono NL" panose="02000009000000000000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B58DD5-7A8A-A112-E06F-38FD26C3C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757905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DA0614-2726-C4D7-6379-770D53CEBA90}"/>
              </a:ext>
            </a:extLst>
          </p:cNvPr>
          <p:cNvSpPr txBox="1"/>
          <p:nvPr/>
        </p:nvSpPr>
        <p:spPr>
          <a:xfrm>
            <a:off x="773186" y="25828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Press Start 2P" pitchFamily="2" charset="0"/>
              </a:rPr>
              <a:t>Материалы:</a:t>
            </a:r>
            <a:endParaRPr lang="en-RU" dirty="0">
              <a:latin typeface="Press Start 2P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D605C-DB8D-C9B4-7F21-4C0D94796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67" y="924910"/>
            <a:ext cx="2105563" cy="2937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4FCA45-135B-B558-7C3F-F45D8C5A5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729" y="924910"/>
            <a:ext cx="2089167" cy="2937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5B7E4F-E680-E9A9-0F57-DBEFDB095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395" y="915207"/>
            <a:ext cx="2089167" cy="2947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102E7C-FC9D-E648-C06B-601EBF04E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003" y="4159844"/>
            <a:ext cx="2877521" cy="1891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5458FE-1D96-D850-141F-889DC2466867}"/>
              </a:ext>
            </a:extLst>
          </p:cNvPr>
          <p:cNvSpPr txBox="1"/>
          <p:nvPr/>
        </p:nvSpPr>
        <p:spPr>
          <a:xfrm>
            <a:off x="73572" y="6230383"/>
            <a:ext cx="5568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flask.palletsprojects.com</a:t>
            </a:r>
            <a:r>
              <a:rPr lang="en-GB" dirty="0"/>
              <a:t>/</a:t>
            </a:r>
            <a:r>
              <a:rPr lang="en-GB" dirty="0" err="1"/>
              <a:t>en</a:t>
            </a:r>
            <a:r>
              <a:rPr lang="en-GB" dirty="0"/>
              <a:t>/3.0.x/tutorial/</a:t>
            </a:r>
            <a:endParaRPr lang="en-R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922ECA-488E-893E-DCC8-751389E073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312" y="4099410"/>
            <a:ext cx="2398614" cy="2305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DFC8D8-A65E-3AE3-FFC3-B399F715EEB7}"/>
              </a:ext>
            </a:extLst>
          </p:cNvPr>
          <p:cNvSpPr txBox="1"/>
          <p:nvPr/>
        </p:nvSpPr>
        <p:spPr>
          <a:xfrm>
            <a:off x="8715282" y="6217621"/>
            <a:ext cx="3231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stepik.org</a:t>
            </a:r>
            <a:r>
              <a:rPr lang="en-GB" dirty="0"/>
              <a:t>/course/67</a:t>
            </a:r>
            <a:endParaRPr lang="en-R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E64AAC-7C55-882F-A1AB-85272D8A81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282" y="5143821"/>
            <a:ext cx="2877521" cy="8719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D70D98-2DCB-0E6B-3754-3557E974F9F7}"/>
              </a:ext>
            </a:extLst>
          </p:cNvPr>
          <p:cNvSpPr txBox="1"/>
          <p:nvPr/>
        </p:nvSpPr>
        <p:spPr>
          <a:xfrm>
            <a:off x="8488550" y="281183"/>
            <a:ext cx="2796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 https://</a:t>
            </a:r>
            <a:r>
              <a:rPr lang="en-GB" dirty="0" err="1"/>
              <a:t>realpython.com</a:t>
            </a:r>
            <a:r>
              <a:rPr lang="en-GB" dirty="0"/>
              <a:t>/</a:t>
            </a:r>
          </a:p>
          <a:p>
            <a:endParaRPr lang="en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8F6716-033F-CF81-83E0-BBDCA9134476}"/>
              </a:ext>
            </a:extLst>
          </p:cNvPr>
          <p:cNvSpPr txBox="1"/>
          <p:nvPr/>
        </p:nvSpPr>
        <p:spPr>
          <a:xfrm>
            <a:off x="4823304" y="281183"/>
            <a:ext cx="228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dbader.org</a:t>
            </a:r>
            <a:r>
              <a:rPr lang="en-GB" dirty="0"/>
              <a:t>/</a:t>
            </a:r>
            <a:endParaRPr lang="en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D65AE5-6540-4206-9199-4EC500AAE4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963250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80EEC-1D15-7B47-EE5C-29C50E36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33" y="827690"/>
            <a:ext cx="3151300" cy="2398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659F2B-B2DF-8D1F-C4C5-D1E6420523A7}"/>
              </a:ext>
            </a:extLst>
          </p:cNvPr>
          <p:cNvSpPr txBox="1"/>
          <p:nvPr/>
        </p:nvSpPr>
        <p:spPr>
          <a:xfrm>
            <a:off x="1397877" y="304800"/>
            <a:ext cx="282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www.python.org</a:t>
            </a:r>
            <a:r>
              <a:rPr lang="en-GB" dirty="0"/>
              <a:t>/</a:t>
            </a:r>
            <a:endParaRPr lang="en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08383-8BF7-3EC1-67EF-E5D94B6E5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963" y="3667015"/>
            <a:ext cx="3771900" cy="2298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6BFB20-D295-243B-971E-75E6730A6719}"/>
              </a:ext>
            </a:extLst>
          </p:cNvPr>
          <p:cNvSpPr txBox="1"/>
          <p:nvPr/>
        </p:nvSpPr>
        <p:spPr>
          <a:xfrm>
            <a:off x="6232634" y="6211669"/>
            <a:ext cx="4797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www.jetbrains.com</a:t>
            </a:r>
            <a:r>
              <a:rPr lang="en-GB" dirty="0"/>
              <a:t>/</a:t>
            </a:r>
            <a:r>
              <a:rPr lang="en-GB" dirty="0" err="1"/>
              <a:t>ru-ru</a:t>
            </a:r>
            <a:r>
              <a:rPr lang="en-GB" dirty="0"/>
              <a:t>/</a:t>
            </a:r>
            <a:r>
              <a:rPr lang="en-GB" dirty="0" err="1"/>
              <a:t>pycharm</a:t>
            </a:r>
            <a:r>
              <a:rPr lang="en-GB" dirty="0"/>
              <a:t>/</a:t>
            </a:r>
          </a:p>
          <a:p>
            <a:endParaRPr lang="en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6A2257-E21E-C6C5-0867-12355DD749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33" y="3668716"/>
            <a:ext cx="3632200" cy="189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EF5118-03B3-94C1-DF0D-D82CADFAFC0D}"/>
              </a:ext>
            </a:extLst>
          </p:cNvPr>
          <p:cNvSpPr txBox="1"/>
          <p:nvPr/>
        </p:nvSpPr>
        <p:spPr>
          <a:xfrm>
            <a:off x="1261806" y="5707144"/>
            <a:ext cx="3423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www.sublimetext.com</a:t>
            </a:r>
            <a:r>
              <a:rPr lang="en-GB" dirty="0"/>
              <a:t>/</a:t>
            </a:r>
          </a:p>
          <a:p>
            <a:endParaRPr lang="en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B16B2B0-A77C-26F1-315E-7191FFD3B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963" y="827689"/>
            <a:ext cx="4203028" cy="236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185423-8527-5467-D779-43763E938856}"/>
              </a:ext>
            </a:extLst>
          </p:cNvPr>
          <p:cNvSpPr txBox="1"/>
          <p:nvPr/>
        </p:nvSpPr>
        <p:spPr>
          <a:xfrm>
            <a:off x="7349013" y="408252"/>
            <a:ext cx="344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https://code.visualstudio.com/</a:t>
            </a:r>
            <a:endParaRPr lang="en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2D5D16-7141-06AA-4BC4-1E93CC456C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85041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42DA1-E862-9535-EC51-1BA10AEF285E}"/>
              </a:ext>
            </a:extLst>
          </p:cNvPr>
          <p:cNvSpPr txBox="1"/>
          <p:nvPr/>
        </p:nvSpPr>
        <p:spPr>
          <a:xfrm>
            <a:off x="4218391" y="5347184"/>
            <a:ext cx="3923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alexbers.com</a:t>
            </a:r>
            <a:r>
              <a:rPr lang="en-GB" dirty="0"/>
              <a:t>/</a:t>
            </a:r>
            <a:r>
              <a:rPr lang="en-GB" dirty="0" err="1"/>
              <a:t>python_quiz</a:t>
            </a:r>
            <a:r>
              <a:rPr lang="en-GB" dirty="0"/>
              <a:t>/</a:t>
            </a:r>
          </a:p>
          <a:p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5248F-BF94-D051-167D-4E8D0A5DC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46" y="864485"/>
            <a:ext cx="10845708" cy="416997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D52C64-8EFA-8533-D22D-FEA62795E6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127177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FB682166-2463-5524-D520-5656F12B8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718" y="2412642"/>
            <a:ext cx="1883641" cy="188364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60795BE-6E5F-8B0C-EA1A-FD64A52C76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996532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4977745" y="3075057"/>
            <a:ext cx="22365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PATH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BE96CC-6D35-50BC-D865-97D8061E2F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9135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How to Add Python to 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070AE-57D2-FBD4-5041-02DCF768D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1789605"/>
            <a:ext cx="7772400" cy="1004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92593-A87E-C1CB-F384-CC442C0BF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45" y="3183539"/>
            <a:ext cx="7772400" cy="14746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3FEB73-6339-BA16-5A5E-9B8E2AD486F4}"/>
              </a:ext>
            </a:extLst>
          </p:cNvPr>
          <p:cNvSpPr txBox="1"/>
          <p:nvPr/>
        </p:nvSpPr>
        <p:spPr>
          <a:xfrm>
            <a:off x="8513380" y="3736197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 session Windows</a:t>
            </a:r>
            <a:endParaRPr lang="en-RU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25B202-18A7-2CC7-099B-7E73D27F4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45" y="4960253"/>
            <a:ext cx="7751764" cy="870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8361FF-E0C8-5B94-70CA-196AE076121E}"/>
              </a:ext>
            </a:extLst>
          </p:cNvPr>
          <p:cNvSpPr txBox="1"/>
          <p:nvPr/>
        </p:nvSpPr>
        <p:spPr>
          <a:xfrm>
            <a:off x="8513379" y="5210635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REPL session Linux</a:t>
            </a:r>
            <a:endParaRPr lang="en-RU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BE50E4-69D8-E39F-975B-3B045BDBB6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989452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682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How to Add Python to PATH on 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F26E9-0A2F-D4E7-1B74-C93187E5D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103" y="1642021"/>
            <a:ext cx="7500883" cy="45942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517EFF-ECEB-C93B-5285-06E59A222497}"/>
                  </a:ext>
                </a:extLst>
              </p14:cNvPr>
              <p14:cNvContentPartPr/>
              <p14:nvPr/>
            </p14:nvContentPartPr>
            <p14:xfrm>
              <a:off x="4279746" y="6151572"/>
              <a:ext cx="1933200" cy="1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517EFF-ECEB-C93B-5285-06E59A2224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2106" y="6133932"/>
                <a:ext cx="1968840" cy="471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3A98C8E-6AC6-5E74-8289-E4C0BE0EBF26}"/>
              </a:ext>
            </a:extLst>
          </p:cNvPr>
          <p:cNvSpPr txBox="1"/>
          <p:nvPr/>
        </p:nvSpPr>
        <p:spPr>
          <a:xfrm>
            <a:off x="4279746" y="1199469"/>
            <a:ext cx="282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www.python.org</a:t>
            </a:r>
            <a:r>
              <a:rPr lang="en-GB" dirty="0"/>
              <a:t>/</a:t>
            </a:r>
            <a:endParaRPr lang="en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20357E-EA9A-EF3C-715B-34E4C7AAB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375615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C7360-F486-3302-6968-E9A837A6716B}"/>
              </a:ext>
            </a:extLst>
          </p:cNvPr>
          <p:cNvSpPr txBox="1"/>
          <p:nvPr/>
        </p:nvSpPr>
        <p:spPr>
          <a:xfrm>
            <a:off x="504497" y="378372"/>
            <a:ext cx="682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How to Add Python to PATH on 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3ADA0-ECFC-4CFC-11BB-5295256F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55" y="1128548"/>
            <a:ext cx="9760282" cy="3222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D377A0-490D-8241-FB2D-3CBCFCD8CE5E}"/>
              </a:ext>
            </a:extLst>
          </p:cNvPr>
          <p:cNvSpPr txBox="1"/>
          <p:nvPr/>
        </p:nvSpPr>
        <p:spPr>
          <a:xfrm>
            <a:off x="4200513" y="4639793"/>
            <a:ext cx="4901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https://realpython.com/add-python-to-path/</a:t>
            </a:r>
            <a:endParaRPr lang="en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9AA641-E223-531B-7E39-022D2E8933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184694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DADBC-3CFE-B275-F35F-406D626A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95ECA-7876-C759-60C1-8498CF24798D}"/>
              </a:ext>
            </a:extLst>
          </p:cNvPr>
          <p:cNvSpPr txBox="1"/>
          <p:nvPr/>
        </p:nvSpPr>
        <p:spPr>
          <a:xfrm>
            <a:off x="504497" y="378372"/>
            <a:ext cx="6452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0" dirty="0">
                <a:solidFill>
                  <a:srgbClr val="22222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How to Add Python to PATH on Linux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C0039-586C-37FC-7012-A208C394E5DD}"/>
              </a:ext>
            </a:extLst>
          </p:cNvPr>
          <p:cNvSpPr txBox="1"/>
          <p:nvPr/>
        </p:nvSpPr>
        <p:spPr>
          <a:xfrm>
            <a:off x="4397654" y="5696806"/>
            <a:ext cx="4901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https://realpython.com/add-python-to-path/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B8353-D596-7A52-F5EB-0539BB6193F7}"/>
              </a:ext>
            </a:extLst>
          </p:cNvPr>
          <p:cNvSpPr txBox="1"/>
          <p:nvPr/>
        </p:nvSpPr>
        <p:spPr>
          <a:xfrm>
            <a:off x="504496" y="1344228"/>
            <a:ext cx="4235283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kern="0" dirty="0">
                <a:solidFill>
                  <a:srgbClr val="0080FF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>
                <a:solidFill>
                  <a:srgbClr val="0000FF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=$PATH:/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ru-RU" sz="1800" kern="100" dirty="0">
              <a:effectLst/>
              <a:highlight>
                <a:srgbClr val="F1F2F3"/>
              </a:highlight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FA7A9E-F765-0662-E5BA-143DFF5A1438}"/>
              </a:ext>
            </a:extLst>
          </p:cNvPr>
          <p:cNvSpPr txBox="1"/>
          <p:nvPr/>
        </p:nvSpPr>
        <p:spPr>
          <a:xfrm>
            <a:off x="6786356" y="1354188"/>
            <a:ext cx="182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Это не навсегда</a:t>
            </a:r>
            <a:endParaRPr lang="en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DC339-4A1B-76E2-9EDA-F06004224EC4}"/>
              </a:ext>
            </a:extLst>
          </p:cNvPr>
          <p:cNvSpPr txBox="1"/>
          <p:nvPr/>
        </p:nvSpPr>
        <p:spPr>
          <a:xfrm>
            <a:off x="504495" y="2248913"/>
            <a:ext cx="6173141" cy="40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kern="0" dirty="0">
                <a:solidFill>
                  <a:srgbClr val="0080FF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0" dirty="0">
                <a:solidFill>
                  <a:srgbClr val="0000FF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="$PATH:/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1800" b="1" kern="0" dirty="0">
                <a:solidFill>
                  <a:srgbClr val="FF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ru-RU" sz="1800" kern="0" dirty="0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~/.</a:t>
            </a:r>
            <a:r>
              <a:rPr lang="ru-RU" sz="1800" kern="0" dirty="0" err="1">
                <a:solidFill>
                  <a:srgbClr val="000000"/>
                </a:solidFill>
                <a:effectLst/>
                <a:highlight>
                  <a:srgbClr val="F1F2F3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bashrc</a:t>
            </a:r>
            <a:endParaRPr lang="ru-RU" sz="1800" kern="100" dirty="0">
              <a:effectLst/>
              <a:highlight>
                <a:srgbClr val="F1F2F3"/>
              </a:highlight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485664-D02E-5438-F93A-338212ADA39C}"/>
              </a:ext>
            </a:extLst>
          </p:cNvPr>
          <p:cNvSpPr txBox="1"/>
          <p:nvPr/>
        </p:nvSpPr>
        <p:spPr>
          <a:xfrm>
            <a:off x="6903694" y="2264250"/>
            <a:ext cx="152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Это навсегда</a:t>
            </a:r>
            <a:endParaRPr lang="en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E11FB9-A30A-4D58-2032-742D27A79F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628027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8F852-B314-AD32-6EA2-B538907F814C}"/>
              </a:ext>
            </a:extLst>
          </p:cNvPr>
          <p:cNvSpPr txBox="1"/>
          <p:nvPr/>
        </p:nvSpPr>
        <p:spPr>
          <a:xfrm>
            <a:off x="1030309" y="721218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Press Start 2P" pitchFamily="2" charset="0"/>
              </a:rPr>
              <a:t>TO BE CONTINUED...</a:t>
            </a:r>
            <a:endParaRPr lang="en-RU" sz="2800" dirty="0">
              <a:latin typeface="Press Start 2P" pitchFamily="2" charset="0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1BF42D6-53C6-440F-31B3-011B1220E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094" y="2296086"/>
            <a:ext cx="877194" cy="877194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A5586908-4016-5D83-2451-E0E74DFD7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930" y="5088724"/>
            <a:ext cx="834652" cy="834652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1C37454-E21D-E496-B531-6FADC9E658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576" y="3357229"/>
            <a:ext cx="1731495" cy="1731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5AAC98-87FF-5576-548C-307034BA4F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09" y="5275217"/>
            <a:ext cx="461666" cy="461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B59D50-DCE0-A74F-7398-DDE753F18C34}"/>
              </a:ext>
            </a:extLst>
          </p:cNvPr>
          <p:cNvSpPr txBox="1"/>
          <p:nvPr/>
        </p:nvSpPr>
        <p:spPr>
          <a:xfrm>
            <a:off x="1311303" y="5618516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ress Start 2P" pitchFamily="2" charset="0"/>
              </a:rPr>
              <a:t>100% - IT IS DONE!</a:t>
            </a:r>
            <a:endParaRPr lang="en-RU" sz="2000" dirty="0">
              <a:latin typeface="Press Start 2P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50105-E1A2-7309-489E-A8BAC5889741}"/>
              </a:ext>
            </a:extLst>
          </p:cNvPr>
          <p:cNvSpPr txBox="1"/>
          <p:nvPr/>
        </p:nvSpPr>
        <p:spPr>
          <a:xfrm>
            <a:off x="1030309" y="2064220"/>
            <a:ext cx="473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1F1F1"/>
                </a:solidFill>
                <a:latin typeface="Rockwell Nova" panose="02060503020205020403" pitchFamily="18" charset="0"/>
              </a:rPr>
              <a:t>Баранов Кирилл Евгеньевич</a:t>
            </a:r>
            <a:endParaRPr lang="en-RU" sz="2400" dirty="0">
              <a:solidFill>
                <a:srgbClr val="F1F1F1"/>
              </a:solidFill>
              <a:latin typeface="Rockwell Nova" panose="020605030202050204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411A5-689B-92C0-3C28-82F9F314559C}"/>
              </a:ext>
            </a:extLst>
          </p:cNvPr>
          <p:cNvSpPr txBox="1"/>
          <p:nvPr/>
        </p:nvSpPr>
        <p:spPr>
          <a:xfrm>
            <a:off x="1030309" y="2538822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1F1F1"/>
                </a:solidFill>
                <a:latin typeface="Press Start 2P" pitchFamily="2" charset="0"/>
                <a:hlinkClick r:id="rId7"/>
              </a:rPr>
              <a:t>xo3yin@yandex.ru</a:t>
            </a:r>
            <a:endParaRPr lang="ru-RU" sz="24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400" dirty="0">
                <a:solidFill>
                  <a:srgbClr val="F1F1F1"/>
                </a:solidFill>
                <a:latin typeface="Press Start 2P" pitchFamily="2" charset="0"/>
              </a:rPr>
              <a:t>Telegram</a:t>
            </a:r>
            <a:r>
              <a:rPr lang="en-US" sz="2400">
                <a:solidFill>
                  <a:srgbClr val="F1F1F1"/>
                </a:solidFill>
                <a:latin typeface="Press Start 2P" pitchFamily="2" charset="0"/>
              </a:rPr>
              <a:t>: @xo3yin</a:t>
            </a:r>
            <a:endParaRPr lang="en-RU" sz="24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2C2613-D87D-9C34-F368-D986FA5EF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ED3009-5309-4E8B-82EE-BE3ED7CAA7F1}" type="slidenum">
              <a:rPr lang="ru-RU" smtClean="0"/>
              <a:t>299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4435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D395F"/>
        </a:solidFill>
        <a:ln w="3024" cap="flat">
          <a:noFill/>
          <a:prstDash val="solid"/>
          <a:miter/>
        </a:ln>
      </a:spPr>
      <a:bodyPr rtlCol="0" anchor="ctr"/>
      <a:lstStyle>
        <a:defPPr algn="ctr">
          <a:defRPr sz="3200" b="1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26290</TotalTime>
  <Words>13937</Words>
  <Application>Microsoft Office PowerPoint</Application>
  <PresentationFormat>Широкоэкранный</PresentationFormat>
  <Paragraphs>2584</Paragraphs>
  <Slides>299</Slides>
  <Notes>16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299</vt:i4>
      </vt:variant>
    </vt:vector>
  </HeadingPairs>
  <TitlesOfParts>
    <vt:vector size="314" baseType="lpstr">
      <vt:lpstr>IBM Plex Mono</vt:lpstr>
      <vt:lpstr>Wingdings</vt:lpstr>
      <vt:lpstr>Press Start 2P</vt:lpstr>
      <vt:lpstr>Rockwell Nova</vt:lpstr>
      <vt:lpstr>Times New Roman</vt:lpstr>
      <vt:lpstr>Calibri</vt:lpstr>
      <vt:lpstr>JetBrains Mono NL</vt:lpstr>
      <vt:lpstr>Aptos</vt:lpstr>
      <vt:lpstr>Courier New</vt:lpstr>
      <vt:lpstr>Cambria</vt:lpstr>
      <vt:lpstr>Malgun Gothic</vt:lpstr>
      <vt:lpstr>Arial</vt:lpstr>
      <vt:lpstr>Lucida Console</vt:lpstr>
      <vt:lpstr>JetBrains Mono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Kirill Baranov</cp:lastModifiedBy>
  <cp:revision>197</cp:revision>
  <dcterms:created xsi:type="dcterms:W3CDTF">2019-04-06T05:20:47Z</dcterms:created>
  <dcterms:modified xsi:type="dcterms:W3CDTF">2024-11-27T05:29:38Z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2022-09-13T06:36:26Z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914a20fc-871c-4fdf-a9a4-a5192f74e966</vt:lpwstr>
  </property>
  <property fmtid="{D5CDD505-2E9C-101B-9397-08002B2CF9AE}" pid="7" name="MSIP_Label_defa4170-0d19-0005-0004-bc88714345d2_ActionId">
    <vt:lpwstr>8e089a9d-532f-4b6e-9cc2-a7efbbe200e8</vt:lpwstr>
  </property>
  <property fmtid="{D5CDD505-2E9C-101B-9397-08002B2CF9AE}" pid="8" name="MSIP_Label_defa4170-0d19-0005-0004-bc88714345d2_ContentBits">
    <vt:lpwstr>0</vt:lpwstr>
  </property>
</Properties>
</file>