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34.jpg" ContentType="image/jpeg"/>
  <Override PartName="/ppt/media/image36.jpg" ContentType="image/jpeg"/>
  <Override PartName="/ppt/media/image45.jpg" ContentType="image/jpeg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81" r:id="rId2"/>
  </p:sldMasterIdLst>
  <p:notesMasterIdLst>
    <p:notesMasterId r:id="rId228"/>
  </p:notesMasterIdLst>
  <p:handoutMasterIdLst>
    <p:handoutMasterId r:id="rId229"/>
  </p:handoutMasterIdLst>
  <p:sldIdLst>
    <p:sldId id="277" r:id="rId3"/>
    <p:sldId id="472" r:id="rId4"/>
    <p:sldId id="473" r:id="rId5"/>
    <p:sldId id="476" r:id="rId6"/>
    <p:sldId id="469" r:id="rId7"/>
    <p:sldId id="471" r:id="rId8"/>
    <p:sldId id="477" r:id="rId9"/>
    <p:sldId id="478" r:id="rId10"/>
    <p:sldId id="479" r:id="rId11"/>
    <p:sldId id="480" r:id="rId12"/>
    <p:sldId id="481" r:id="rId13"/>
    <p:sldId id="482" r:id="rId14"/>
    <p:sldId id="487" r:id="rId15"/>
    <p:sldId id="488" r:id="rId16"/>
    <p:sldId id="489" r:id="rId17"/>
    <p:sldId id="490" r:id="rId18"/>
    <p:sldId id="491" r:id="rId19"/>
    <p:sldId id="492" r:id="rId20"/>
    <p:sldId id="493" r:id="rId21"/>
    <p:sldId id="494" r:id="rId22"/>
    <p:sldId id="495" r:id="rId23"/>
    <p:sldId id="496" r:id="rId24"/>
    <p:sldId id="497" r:id="rId25"/>
    <p:sldId id="498" r:id="rId26"/>
    <p:sldId id="499" r:id="rId27"/>
    <p:sldId id="503" r:id="rId28"/>
    <p:sldId id="504" r:id="rId29"/>
    <p:sldId id="505" r:id="rId30"/>
    <p:sldId id="506" r:id="rId31"/>
    <p:sldId id="507" r:id="rId32"/>
    <p:sldId id="292" r:id="rId33"/>
    <p:sldId id="508" r:id="rId34"/>
    <p:sldId id="509" r:id="rId35"/>
    <p:sldId id="510" r:id="rId36"/>
    <p:sldId id="511" r:id="rId37"/>
    <p:sldId id="512" r:id="rId38"/>
    <p:sldId id="513" r:id="rId39"/>
    <p:sldId id="514" r:id="rId40"/>
    <p:sldId id="515" r:id="rId41"/>
    <p:sldId id="516" r:id="rId42"/>
    <p:sldId id="517" r:id="rId43"/>
    <p:sldId id="518" r:id="rId44"/>
    <p:sldId id="519" r:id="rId45"/>
    <p:sldId id="520" r:id="rId46"/>
    <p:sldId id="521" r:id="rId47"/>
    <p:sldId id="522" r:id="rId48"/>
    <p:sldId id="523" r:id="rId49"/>
    <p:sldId id="524" r:id="rId50"/>
    <p:sldId id="525" r:id="rId51"/>
    <p:sldId id="526" r:id="rId52"/>
    <p:sldId id="527" r:id="rId53"/>
    <p:sldId id="528" r:id="rId54"/>
    <p:sldId id="529" r:id="rId55"/>
    <p:sldId id="530" r:id="rId56"/>
    <p:sldId id="531" r:id="rId57"/>
    <p:sldId id="532" r:id="rId58"/>
    <p:sldId id="533" r:id="rId59"/>
    <p:sldId id="534" r:id="rId60"/>
    <p:sldId id="536" r:id="rId61"/>
    <p:sldId id="537" r:id="rId62"/>
    <p:sldId id="538" r:id="rId63"/>
    <p:sldId id="539" r:id="rId64"/>
    <p:sldId id="540" r:id="rId65"/>
    <p:sldId id="541" r:id="rId66"/>
    <p:sldId id="542" r:id="rId67"/>
    <p:sldId id="543" r:id="rId68"/>
    <p:sldId id="544" r:id="rId69"/>
    <p:sldId id="545" r:id="rId70"/>
    <p:sldId id="546" r:id="rId71"/>
    <p:sldId id="547" r:id="rId72"/>
    <p:sldId id="548" r:id="rId73"/>
    <p:sldId id="549" r:id="rId74"/>
    <p:sldId id="550" r:id="rId75"/>
    <p:sldId id="551" r:id="rId76"/>
    <p:sldId id="552" r:id="rId77"/>
    <p:sldId id="553" r:id="rId78"/>
    <p:sldId id="554" r:id="rId79"/>
    <p:sldId id="555" r:id="rId80"/>
    <p:sldId id="556" r:id="rId81"/>
    <p:sldId id="557" r:id="rId82"/>
    <p:sldId id="558" r:id="rId83"/>
    <p:sldId id="559" r:id="rId84"/>
    <p:sldId id="560" r:id="rId85"/>
    <p:sldId id="561" r:id="rId86"/>
    <p:sldId id="562" r:id="rId87"/>
    <p:sldId id="563" r:id="rId88"/>
    <p:sldId id="564" r:id="rId89"/>
    <p:sldId id="565" r:id="rId90"/>
    <p:sldId id="566" r:id="rId91"/>
    <p:sldId id="567" r:id="rId92"/>
    <p:sldId id="568" r:id="rId93"/>
    <p:sldId id="569" r:id="rId94"/>
    <p:sldId id="570" r:id="rId95"/>
    <p:sldId id="571" r:id="rId96"/>
    <p:sldId id="572" r:id="rId97"/>
    <p:sldId id="574" r:id="rId98"/>
    <p:sldId id="575" r:id="rId99"/>
    <p:sldId id="576" r:id="rId100"/>
    <p:sldId id="577" r:id="rId101"/>
    <p:sldId id="578" r:id="rId102"/>
    <p:sldId id="579" r:id="rId103"/>
    <p:sldId id="580" r:id="rId104"/>
    <p:sldId id="581" r:id="rId105"/>
    <p:sldId id="582" r:id="rId106"/>
    <p:sldId id="583" r:id="rId107"/>
    <p:sldId id="584" r:id="rId108"/>
    <p:sldId id="585" r:id="rId109"/>
    <p:sldId id="589" r:id="rId110"/>
    <p:sldId id="590" r:id="rId111"/>
    <p:sldId id="591" r:id="rId112"/>
    <p:sldId id="592" r:id="rId113"/>
    <p:sldId id="593" r:id="rId114"/>
    <p:sldId id="597" r:id="rId115"/>
    <p:sldId id="598" r:id="rId116"/>
    <p:sldId id="599" r:id="rId117"/>
    <p:sldId id="600" r:id="rId118"/>
    <p:sldId id="601" r:id="rId119"/>
    <p:sldId id="602" r:id="rId120"/>
    <p:sldId id="603" r:id="rId121"/>
    <p:sldId id="604" r:id="rId122"/>
    <p:sldId id="605" r:id="rId123"/>
    <p:sldId id="606" r:id="rId124"/>
    <p:sldId id="607" r:id="rId125"/>
    <p:sldId id="608" r:id="rId126"/>
    <p:sldId id="609" r:id="rId127"/>
    <p:sldId id="610" r:id="rId128"/>
    <p:sldId id="611" r:id="rId129"/>
    <p:sldId id="612" r:id="rId130"/>
    <p:sldId id="613" r:id="rId131"/>
    <p:sldId id="614" r:id="rId132"/>
    <p:sldId id="615" r:id="rId133"/>
    <p:sldId id="616" r:id="rId134"/>
    <p:sldId id="621" r:id="rId135"/>
    <p:sldId id="622" r:id="rId136"/>
    <p:sldId id="627" r:id="rId137"/>
    <p:sldId id="628" r:id="rId138"/>
    <p:sldId id="629" r:id="rId139"/>
    <p:sldId id="630" r:id="rId140"/>
    <p:sldId id="632" r:id="rId141"/>
    <p:sldId id="633" r:id="rId142"/>
    <p:sldId id="637" r:id="rId143"/>
    <p:sldId id="638" r:id="rId144"/>
    <p:sldId id="733" r:id="rId145"/>
    <p:sldId id="639" r:id="rId146"/>
    <p:sldId id="640" r:id="rId147"/>
    <p:sldId id="641" r:id="rId148"/>
    <p:sldId id="642" r:id="rId149"/>
    <p:sldId id="643" r:id="rId150"/>
    <p:sldId id="644" r:id="rId151"/>
    <p:sldId id="645" r:id="rId152"/>
    <p:sldId id="646" r:id="rId153"/>
    <p:sldId id="647" r:id="rId154"/>
    <p:sldId id="648" r:id="rId155"/>
    <p:sldId id="650" r:id="rId156"/>
    <p:sldId id="651" r:id="rId157"/>
    <p:sldId id="654" r:id="rId158"/>
    <p:sldId id="655" r:id="rId159"/>
    <p:sldId id="656" r:id="rId160"/>
    <p:sldId id="657" r:id="rId161"/>
    <p:sldId id="658" r:id="rId162"/>
    <p:sldId id="659" r:id="rId163"/>
    <p:sldId id="660" r:id="rId164"/>
    <p:sldId id="661" r:id="rId165"/>
    <p:sldId id="662" r:id="rId166"/>
    <p:sldId id="665" r:id="rId167"/>
    <p:sldId id="666" r:id="rId168"/>
    <p:sldId id="667" r:id="rId169"/>
    <p:sldId id="668" r:id="rId170"/>
    <p:sldId id="669" r:id="rId171"/>
    <p:sldId id="670" r:id="rId172"/>
    <p:sldId id="671" r:id="rId173"/>
    <p:sldId id="672" r:id="rId174"/>
    <p:sldId id="673" r:id="rId175"/>
    <p:sldId id="674" r:id="rId176"/>
    <p:sldId id="675" r:id="rId177"/>
    <p:sldId id="676" r:id="rId178"/>
    <p:sldId id="677" r:id="rId179"/>
    <p:sldId id="678" r:id="rId180"/>
    <p:sldId id="679" r:id="rId181"/>
    <p:sldId id="680" r:id="rId182"/>
    <p:sldId id="681" r:id="rId183"/>
    <p:sldId id="682" r:id="rId184"/>
    <p:sldId id="683" r:id="rId185"/>
    <p:sldId id="684" r:id="rId186"/>
    <p:sldId id="685" r:id="rId187"/>
    <p:sldId id="686" r:id="rId188"/>
    <p:sldId id="687" r:id="rId189"/>
    <p:sldId id="688" r:id="rId190"/>
    <p:sldId id="689" r:id="rId191"/>
    <p:sldId id="690" r:id="rId192"/>
    <p:sldId id="691" r:id="rId193"/>
    <p:sldId id="692" r:id="rId194"/>
    <p:sldId id="693" r:id="rId195"/>
    <p:sldId id="697" r:id="rId196"/>
    <p:sldId id="698" r:id="rId197"/>
    <p:sldId id="699" r:id="rId198"/>
    <p:sldId id="700" r:id="rId199"/>
    <p:sldId id="701" r:id="rId200"/>
    <p:sldId id="703" r:id="rId201"/>
    <p:sldId id="704" r:id="rId202"/>
    <p:sldId id="705" r:id="rId203"/>
    <p:sldId id="706" r:id="rId204"/>
    <p:sldId id="707" r:id="rId205"/>
    <p:sldId id="708" r:id="rId206"/>
    <p:sldId id="709" r:id="rId207"/>
    <p:sldId id="710" r:id="rId208"/>
    <p:sldId id="711" r:id="rId209"/>
    <p:sldId id="712" r:id="rId210"/>
    <p:sldId id="713" r:id="rId211"/>
    <p:sldId id="714" r:id="rId212"/>
    <p:sldId id="715" r:id="rId213"/>
    <p:sldId id="716" r:id="rId214"/>
    <p:sldId id="717" r:id="rId215"/>
    <p:sldId id="718" r:id="rId216"/>
    <p:sldId id="723" r:id="rId217"/>
    <p:sldId id="724" r:id="rId218"/>
    <p:sldId id="725" r:id="rId219"/>
    <p:sldId id="726" r:id="rId220"/>
    <p:sldId id="727" r:id="rId221"/>
    <p:sldId id="728" r:id="rId222"/>
    <p:sldId id="729" r:id="rId223"/>
    <p:sldId id="730" r:id="rId224"/>
    <p:sldId id="731" r:id="rId225"/>
    <p:sldId id="732" r:id="rId226"/>
    <p:sldId id="357" r:id="rId227"/>
  </p:sldIdLst>
  <p:sldSz cx="12192000" cy="6858000"/>
  <p:notesSz cx="6858000" cy="9144000"/>
  <p:embeddedFontLst>
    <p:embeddedFont>
      <p:font typeface="맑은 고딕" panose="020B0503020000020004" pitchFamily="34" charset="-127"/>
      <p:regular r:id="rId230"/>
      <p:bold r:id="rId231"/>
    </p:embeddedFont>
    <p:embeddedFont>
      <p:font typeface="IBM Plex Mono" panose="020B0509050203000203" pitchFamily="49" charset="-52"/>
      <p:regular r:id="rId232"/>
      <p:bold r:id="rId233"/>
      <p:italic r:id="rId234"/>
      <p:boldItalic r:id="rId235"/>
    </p:embeddedFont>
    <p:embeddedFont>
      <p:font typeface="JetBrains Mono" panose="020B0604020202020204" charset="0"/>
      <p:regular r:id="rId236"/>
      <p:bold r:id="rId237"/>
      <p:italic r:id="rId238"/>
      <p:boldItalic r:id="rId239"/>
    </p:embeddedFont>
    <p:embeddedFont>
      <p:font typeface="Press Start 2P" panose="020B0604020202020204" charset="0"/>
      <p:regular r:id="rId240"/>
      <p:bold r:id="rId241"/>
      <p:italic r:id="rId242"/>
      <p:boldItalic r:id="rId243"/>
    </p:embeddedFont>
    <p:embeddedFont>
      <p:font typeface="VT323" panose="020B0604020202020204" charset="0"/>
      <p:regular r:id="rId24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B3BF"/>
    <a:srgbClr val="00D8AD"/>
    <a:srgbClr val="ED395F"/>
    <a:srgbClr val="45C3FC"/>
    <a:srgbClr val="F9824C"/>
    <a:srgbClr val="1F68F8"/>
    <a:srgbClr val="F5F5F5"/>
    <a:srgbClr val="FFD745"/>
    <a:srgbClr val="8841FF"/>
    <a:srgbClr val="2B1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36" autoAdjust="0"/>
    <p:restoredTop sz="97436" autoAdjust="0"/>
  </p:normalViewPr>
  <p:slideViewPr>
    <p:cSldViewPr snapToGrid="0">
      <p:cViewPr varScale="1">
        <p:scale>
          <a:sx n="156" d="100"/>
          <a:sy n="156" d="100"/>
        </p:scale>
        <p:origin x="100" y="1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5004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226" Type="http://schemas.openxmlformats.org/officeDocument/2006/relationships/slide" Target="slides/slide224.xml"/><Relationship Id="rId247" Type="http://schemas.openxmlformats.org/officeDocument/2006/relationships/theme" Target="theme/theme1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16" Type="http://schemas.openxmlformats.org/officeDocument/2006/relationships/slide" Target="slides/slide214.xml"/><Relationship Id="rId237" Type="http://schemas.openxmlformats.org/officeDocument/2006/relationships/font" Target="fonts/font8.fntdata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227" Type="http://schemas.openxmlformats.org/officeDocument/2006/relationships/slide" Target="slides/slide225.xml"/><Relationship Id="rId248" Type="http://schemas.openxmlformats.org/officeDocument/2006/relationships/tableStyles" Target="tableStyles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217" Type="http://schemas.openxmlformats.org/officeDocument/2006/relationships/slide" Target="slides/slide215.xml"/><Relationship Id="rId6" Type="http://schemas.openxmlformats.org/officeDocument/2006/relationships/slide" Target="slides/slide4.xml"/><Relationship Id="rId238" Type="http://schemas.openxmlformats.org/officeDocument/2006/relationships/font" Target="fonts/font9.fntdata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228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18" Type="http://schemas.openxmlformats.org/officeDocument/2006/relationships/slide" Target="slides/slide216.xml"/><Relationship Id="rId239" Type="http://schemas.openxmlformats.org/officeDocument/2006/relationships/font" Target="fonts/font10.fntdata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slide" Target="slides/slide206.xml"/><Relationship Id="rId229" Type="http://schemas.openxmlformats.org/officeDocument/2006/relationships/handoutMaster" Target="handoutMasters/handoutMaster1.xml"/><Relationship Id="rId240" Type="http://schemas.openxmlformats.org/officeDocument/2006/relationships/font" Target="fonts/font11.fntdata"/><Relationship Id="rId14" Type="http://schemas.openxmlformats.org/officeDocument/2006/relationships/slide" Target="slides/slide12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8" Type="http://schemas.openxmlformats.org/officeDocument/2006/relationships/slide" Target="slides/slide6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219" Type="http://schemas.openxmlformats.org/officeDocument/2006/relationships/slide" Target="slides/slide217.xml"/><Relationship Id="rId230" Type="http://schemas.openxmlformats.org/officeDocument/2006/relationships/font" Target="fonts/font1.fntdata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220" Type="http://schemas.openxmlformats.org/officeDocument/2006/relationships/slide" Target="slides/slide218.xml"/><Relationship Id="rId241" Type="http://schemas.openxmlformats.org/officeDocument/2006/relationships/font" Target="fonts/font12.fntdata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10" Type="http://schemas.openxmlformats.org/officeDocument/2006/relationships/slide" Target="slides/slide208.xml"/><Relationship Id="rId215" Type="http://schemas.openxmlformats.org/officeDocument/2006/relationships/slide" Target="slides/slide213.xml"/><Relationship Id="rId236" Type="http://schemas.openxmlformats.org/officeDocument/2006/relationships/font" Target="fonts/font7.fntdata"/><Relationship Id="rId26" Type="http://schemas.openxmlformats.org/officeDocument/2006/relationships/slide" Target="slides/slide24.xml"/><Relationship Id="rId231" Type="http://schemas.openxmlformats.org/officeDocument/2006/relationships/font" Target="fonts/font2.fntdata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221" Type="http://schemas.openxmlformats.org/officeDocument/2006/relationships/slide" Target="slides/slide219.xml"/><Relationship Id="rId242" Type="http://schemas.openxmlformats.org/officeDocument/2006/relationships/font" Target="fonts/font13.fntdata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slide" Target="slides/slide209.xml"/><Relationship Id="rId232" Type="http://schemas.openxmlformats.org/officeDocument/2006/relationships/font" Target="fonts/font3.fntdata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222" Type="http://schemas.openxmlformats.org/officeDocument/2006/relationships/slide" Target="slides/slide220.xml"/><Relationship Id="rId243" Type="http://schemas.openxmlformats.org/officeDocument/2006/relationships/font" Target="fonts/font14.fntdata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33" Type="http://schemas.openxmlformats.org/officeDocument/2006/relationships/font" Target="fonts/font4.fntdata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223" Type="http://schemas.openxmlformats.org/officeDocument/2006/relationships/slide" Target="slides/slide221.xml"/><Relationship Id="rId244" Type="http://schemas.openxmlformats.org/officeDocument/2006/relationships/font" Target="fonts/font15.fntdata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slide" Target="slides/slide211.xml"/><Relationship Id="rId234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19" Type="http://schemas.openxmlformats.org/officeDocument/2006/relationships/slide" Target="slides/slide17.xml"/><Relationship Id="rId224" Type="http://schemas.openxmlformats.org/officeDocument/2006/relationships/slide" Target="slides/slide222.xml"/><Relationship Id="rId245" Type="http://schemas.openxmlformats.org/officeDocument/2006/relationships/presProps" Target="presProps.xml"/><Relationship Id="rId30" Type="http://schemas.openxmlformats.org/officeDocument/2006/relationships/slide" Target="slides/slide2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189" Type="http://schemas.openxmlformats.org/officeDocument/2006/relationships/slide" Target="slides/slide187.xml"/><Relationship Id="rId3" Type="http://schemas.openxmlformats.org/officeDocument/2006/relationships/slide" Target="slides/slide1.xml"/><Relationship Id="rId214" Type="http://schemas.openxmlformats.org/officeDocument/2006/relationships/slide" Target="slides/slide212.xml"/><Relationship Id="rId235" Type="http://schemas.openxmlformats.org/officeDocument/2006/relationships/font" Target="fonts/font6.fntdata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179" Type="http://schemas.openxmlformats.org/officeDocument/2006/relationships/slide" Target="slides/slide177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225" Type="http://schemas.openxmlformats.org/officeDocument/2006/relationships/slide" Target="slides/slide223.xml"/><Relationship Id="rId246" Type="http://schemas.openxmlformats.org/officeDocument/2006/relationships/viewProps" Target="viewProps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FB895E1-AE44-418F-9C83-ED60F3978E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3734A45-87C6-3240-3B1C-1657861295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978CA6-E2D8-4F50-AC70-2C90B899426F}" type="datetimeFigureOut">
              <a:rPr lang="ru-RU" smtClean="0"/>
              <a:t>30.11.2024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0026184-5A44-B8CE-ED34-9FDC7844BF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ECF110-24A3-CD83-F979-D8EDF24AF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6AE2B-B447-4C0A-8144-F7A82216E9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1296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4T13:18:24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0 410 24151,'47'-2'0,"24"-4"105,-22 2 1,4-1-106,15-2 0,5 0 0,5 0 0,3 0 0,8 0 0,1 1 0,-4 1 0,1 1 0,-3 1 0,0 1 35,-7-1 0,-3 1-35,-10-1 0,-3 1 18,-6-2 0,-2 0-18,43-4 53,-45 4 1,1 0-54,7-1 0,2 1 0,4-1 0,1 1 0,1 0 0,0 0 0,-2 1 0,0 0 0,2-1 0,1 1 0,7 0 0,2 1 0,11 0 0,4 1 0,3-1 0,2 2 0,-30-1 0,0 1 0,0 0 0,28 0 0,-2 0 0,-9 0 0,-2-1 0,-7 0 0,-2 0 0,-9-2 0,-3 0 0,-5-1 0,-3 0 0,43-4 0,-16 1 0,-19 3 0,-13 0 0,-11-1 0,-5 0 0,-1 1 0,-2 0 0,-3 0 0,1 1 0,3-1 0,7 0 0,6 0 0,4-1 0,-1-1 0,3 1 0,8 0 0,8-1 0,6-1 0,0-1 0,-7-2 0,-2 1 0,-2 1 0,13-1 0,11 2 0,6-1 0,-7 0 0,-22 2 0,-16-2 0,-3 3 0,2-1 0,3 1 0,-7 0 0,-10 1 0,-1 0 0,22 1 0,31 1 0,-30 1 0,2-1 0,-1 0 0,-1 1 0,23-2 0,-37 0 0,-25 1 0,-16 0 0,-1-1 0,0 0 0,1 0 0,1 2 0,2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4T13:18:25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1107 213 24575,'-43'0'0,"-25"-4"0,19 0 0,-3-1 0,-14-3 0,-4-2 0,-4-2 0,-1-2 0,4 0 0,1-2 0,9 2 0,3-1 0,-34-11 0,16 4 0,16 3 0,9 5 0,15 4 0,15 5 0,11 4 0,8 2 0,1-1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4T13:18:26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898 1 24575,'-20'13'0,"-10"4"0,-15 7 0,-12 6 0,-5 0 0,-3-1 0,2-7 0,4-6 0,6-3 0,10-4 0,8-1 0,10 0 0,6-1 0,1 1 0,0-1 0,-4 1 0,-7 2 0,-8 0 0,0 1 0,-8 2 0,2 1 0,9-3 0,9-3 0,16-6 0,8-2 0,-1 0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4T13:18:28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24575,'54'10'0,"-5"-1"0,9 3 0,9 0 0,9 1 0,7 1-1508,0 0 1,7 0 0,5 0 0,3 0 1507,-16-4 0,3 1 0,2 0 0,3-1 0,1 0 0,2 0-438,-4-1 0,1 0 0,3 0 0,0 0 0,2 0 0,-1-1 0,0 0 438,4 0 0,-1 0 0,2 0 0,0 0 0,-1-1 0,1 1 0,-1-1 0,-1 0 0,1 0 0,0-1 0,0 1 0,-1-1 0,-1 1 0,-1-1-85,-6 1 1,0-1 0,0 0 0,-2 1 0,0-1 0,-1 1 0,-1 0 84,8 0 0,-1 1 0,-2-1 0,0 1 0,-2 0 0,-1 0-210,6 0 1,-1 1 0,-2-1-1,-2 1 1,-2 0 209,6 1 0,-1 1 0,-4-1 0,-3 0 506,9 2 0,-5-2 1,-2 1-507,-13 0 0,-3 0 0,-1 0 0,25 4 0,-4 0 1717,-11-2 0,-3-1-1717,-11-2 0,-4-1 3253,37 2-3253,-14-1 1928,12 2-1928,-40-4 0,1 0 298,8 1 1,1 1-299,3-1 0,1-1 0,0 0 0,1 0 0,1-1 0,1 1 0,-1-1 0,0 1 0,2 0 0,-2 1 0,-5-1 0,-3 0 0,-6 0 0,-2-1 0,-2 1 0,-1 0 0,2 1 0,1 1 0,10 1 0,2 1 0,6 1 0,1 0 0,-4-1 0,-1 0 0,-12-3 0,-3-1 0,23 1 0,-21-5 0,-4 0 0,1 1 0,-3-1 0,-24-1 0,-10-3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4T13:18:29.6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889 639 24575,'-19'-10'0,"-11"-7"0,-16-12 0,-16-11 0,-18-19 0,32 23 0,0-3 0,-4-3 0,1 0 0,1 1 0,1 2 0,6 5 0,2 2 0,-33-23 0,9 10 0,10 8 0,14 11 0,19 14 0,13 9 0,6 2 0,2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04T13:18:30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1822 1 24575,'-38'0'0,"-16"0"0,-28 1 0,32 0 0,-1 0 0,-4 1 0,-1 0 0,3 0 0,1 0 0,-48 1 0,15-1 0,14 1 0,15 2 0,11 3 0,2 1 0,-4 3 0,-17 2 0,-19 5 0,34-9 0,-1 1 0,-3-1 0,0 1 0,-43 4 0,15-4 0,14-6 0,18-2 0,14-1 0,10 1 0,7 0 0,-4 1 0,-10 0 0,-6 2 0,4-1 0,11-2 0,14-1 0,6-2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49F08-9100-4AF5-BC0A-FC6A093BE3CC}" type="datetimeFigureOut">
              <a:rPr lang="ko-KR" altLang="en-US" smtClean="0"/>
              <a:t>2024-11-30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FC7D2-309F-4B1D-AF63-DB3D4B544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3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1FDEA265-14D8-4995-9D8D-004C2B9791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74"/>
          <a:stretch/>
        </p:blipFill>
        <p:spPr>
          <a:xfrm>
            <a:off x="8813520" y="3957553"/>
            <a:ext cx="3378480" cy="210577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5E6FDB3-1010-4384-BAA0-5AC772DDA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317" y="4543442"/>
            <a:ext cx="4449694" cy="21057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592535-1E59-4225-8FAB-BA55DA8CBF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1" y="3957553"/>
            <a:ext cx="4449694" cy="210577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2C1714-8D11-40C8-B56B-D858EA6639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240" y="4543442"/>
            <a:ext cx="977924" cy="15198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4E68922-A464-40C2-8559-0556AFF3C5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334" y="4980408"/>
            <a:ext cx="825380" cy="10829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B082778-F784-45A1-A273-DBD5111A650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24" y="3509490"/>
            <a:ext cx="1073175" cy="255383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BC80F5-75C8-450A-B0F9-BC45DE059E6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636" y="3158489"/>
            <a:ext cx="964782" cy="290483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6873A5-CEBD-4A3D-816C-D8F7459698A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98" y="630440"/>
            <a:ext cx="2093236" cy="10716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C3D2A6-8D14-4185-BCDF-D3486D874C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63324"/>
            <a:ext cx="2438400" cy="794676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E6825-E60A-4DC3-AD7E-6868544A91B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6063324"/>
            <a:ext cx="2438400" cy="79467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3CADD07-6BE4-4440-9D75-23FA585A9F2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6063324"/>
            <a:ext cx="2438400" cy="79467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D82072D-5CF0-417B-BB35-355B0609E6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063324"/>
            <a:ext cx="2438400" cy="79467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6E14643-868B-40FB-8914-6508AB669EE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6063324"/>
            <a:ext cx="2438400" cy="794676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2F47FCE-FD71-49B8-946C-1674A0B0984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182" y="1292126"/>
            <a:ext cx="2093236" cy="1071687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00E8B9-A247-D618-19F5-0C061D6CAB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48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BC3D2A6-8D14-4185-BCDF-D3486D874C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53600" y="6063324"/>
            <a:ext cx="2438400" cy="794676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1FDEA265-14D8-4995-9D8D-004C2B9791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74"/>
          <a:stretch/>
        </p:blipFill>
        <p:spPr>
          <a:xfrm flipH="1">
            <a:off x="0" y="3957553"/>
            <a:ext cx="3378480" cy="210577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5E6FDB3-1010-4384-BAA0-5AC772DDA2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6989" y="4543442"/>
            <a:ext cx="4449694" cy="21057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592535-1E59-4225-8FAB-BA55DA8CBF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49165" y="3957553"/>
            <a:ext cx="4449694" cy="210577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2C1714-8D11-40C8-B56B-D858EA6639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07836" y="4543442"/>
            <a:ext cx="977924" cy="15198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4E68922-A464-40C2-8559-0556AFF3C5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70286" y="4980408"/>
            <a:ext cx="825380" cy="10829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B082778-F784-45A1-A273-DBD5111A65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60501" y="3509490"/>
            <a:ext cx="1073175" cy="255383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BC80F5-75C8-450A-B0F9-BC45DE059E6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8582" y="3158489"/>
            <a:ext cx="964782" cy="290483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6873A5-CEBD-4A3D-816C-D8F7459698A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95666" y="630440"/>
            <a:ext cx="2093236" cy="107168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E6825-E60A-4DC3-AD7E-6868544A91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15200" y="6063324"/>
            <a:ext cx="2438400" cy="79467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3CADD07-6BE4-4440-9D75-23FA585A9F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76800" y="6063324"/>
            <a:ext cx="2438400" cy="79467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D82072D-5CF0-417B-BB35-355B0609E6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38400" y="6063324"/>
            <a:ext cx="2438400" cy="79467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6E14643-868B-40FB-8914-6508AB669E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6063324"/>
            <a:ext cx="2438400" cy="794676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2F47FCE-FD71-49B8-946C-1674A0B098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8582" y="1292126"/>
            <a:ext cx="2093236" cy="107168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3B58139-E3EC-8C86-E2E9-C918A65CB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591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406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00904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62691" y="5204803"/>
            <a:ext cx="698492" cy="108559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66029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90404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406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29443" y="966683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0963" y="474421"/>
            <a:ext cx="961493" cy="49226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E942BD3-B76A-BC88-266D-65C6749FB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46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74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195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826" y="5204803"/>
            <a:ext cx="698492" cy="108559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6813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981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57568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88981" y="461647"/>
            <a:ext cx="961493" cy="49226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7072" y="103322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181723-4782-8BEE-3725-AA08313F5F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406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40821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0000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7856" y="5204803"/>
            <a:ext cx="698492" cy="108559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826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84128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049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066" y="816774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68" y="474421"/>
            <a:ext cx="961493" cy="49226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3EDCB93-78C4-5597-31C4-CB2BA3CCE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234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48022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2820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497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47569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2920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71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627" y="47442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72" y="1231899"/>
            <a:ext cx="722265" cy="36978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A12CE9-D332-D34C-F2B9-0C36A8512E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473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203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11375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898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017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8974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9882" y="321475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784365" y="1231899"/>
            <a:ext cx="722265" cy="36978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C8B0F03-4120-6B83-BB3B-32504ECC2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464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BDDCB0E9-0375-4C42-A881-DA56888EF5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5769" y="5815973"/>
            <a:ext cx="1199403" cy="5676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405" y="5939267"/>
            <a:ext cx="938871" cy="4443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763814" y="5758575"/>
            <a:ext cx="1320691" cy="6250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62691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424159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52072" y="5758575"/>
            <a:ext cx="223482" cy="5318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405" y="5178487"/>
            <a:ext cx="369297" cy="111190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29443" y="966683"/>
            <a:ext cx="731594" cy="37455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0963" y="474421"/>
            <a:ext cx="731728" cy="37462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689A3B9-D2B9-DD8E-17E5-D2D620B19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875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DDF5612B-751E-4271-865F-3585A0BA2D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38109" y="6099775"/>
            <a:ext cx="599703" cy="2838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9374" y="5815973"/>
            <a:ext cx="1199405" cy="5676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195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32651" y="5652023"/>
            <a:ext cx="410741" cy="63837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1456" y="5410200"/>
            <a:ext cx="672563" cy="88241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982" y="5559723"/>
            <a:ext cx="307044" cy="73067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4478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45098" y="1033221"/>
            <a:ext cx="685732" cy="35107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1544" y="47442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60C4CD5-4249-EA81-772E-2C087420A5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424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A6DB23A4-90DC-478E-9567-41B0A013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35807" y="5928833"/>
            <a:ext cx="987915" cy="4675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396884" y="5916059"/>
            <a:ext cx="987915" cy="4675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035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7856" y="5460231"/>
            <a:ext cx="534144" cy="83016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825" y="5666887"/>
            <a:ext cx="475225" cy="6235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84128" y="5665681"/>
            <a:ext cx="262518" cy="62471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050" y="5559722"/>
            <a:ext cx="242678" cy="73067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428" y="47442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55" y="1126612"/>
            <a:ext cx="804646" cy="41196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B6BC821-EC89-091B-58AF-3BEB265A80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86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48022" y="5928563"/>
            <a:ext cx="961492" cy="4550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11618" y="5813187"/>
            <a:ext cx="1199403" cy="5676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497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47826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639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72" y="5559721"/>
            <a:ext cx="242678" cy="73067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264" y="76130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85" y="567605"/>
            <a:ext cx="722265" cy="36978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3134105-F161-42D9-B1B1-8F2CF6A86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603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0250F545-4DA6-42C4-BA9E-B8A6877842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40871" y="5815973"/>
            <a:ext cx="1068836" cy="5058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515103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183"/>
          <a:stretch/>
        </p:blipFill>
        <p:spPr>
          <a:xfrm flipH="1">
            <a:off x="-446" y="5665681"/>
            <a:ext cx="969884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324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121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6992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552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3452" y="988047"/>
            <a:ext cx="786022" cy="40242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96729" y="567606"/>
            <a:ext cx="961493" cy="49226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0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BDDCB0E9-0375-4C42-A881-DA56888EF5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830" y="5815973"/>
            <a:ext cx="1199403" cy="5676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726" y="5939267"/>
            <a:ext cx="938871" cy="4443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" y="5758575"/>
            <a:ext cx="1320691" cy="6250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181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08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448" y="5758575"/>
            <a:ext cx="223482" cy="5318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2300" y="5178487"/>
            <a:ext cx="369297" cy="111190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65" y="966683"/>
            <a:ext cx="731594" cy="37455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9311" y="474421"/>
            <a:ext cx="731728" cy="37462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27" name="그림 개체 틀 4">
            <a:extLst>
              <a:ext uri="{FF2B5EF4-FFF2-40B4-BE49-F238E27FC236}">
                <a16:creationId xmlns:a16="http://schemas.microsoft.com/office/drawing/2014/main" id="{9944C5BF-FDBB-4853-9712-3920D8F527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98620" y="888805"/>
            <a:ext cx="3804944" cy="5104202"/>
          </a:xfrm>
          <a:prstGeom prst="roundRect">
            <a:avLst>
              <a:gd name="adj" fmla="val 9658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2964DB-8EFD-1168-5D96-E1A88838B46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212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DDF5612B-751E-4271-865F-3585A0BA2D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190" y="6099775"/>
            <a:ext cx="599703" cy="2838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223" y="5815973"/>
            <a:ext cx="1199405" cy="5676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828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610" y="5652023"/>
            <a:ext cx="410741" cy="63837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983" y="5410200"/>
            <a:ext cx="672563" cy="88241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95976" y="5559723"/>
            <a:ext cx="307044" cy="73067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967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72" y="1033221"/>
            <a:ext cx="685732" cy="35107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8965" y="47442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7" name="그림 개체 틀 12">
            <a:extLst>
              <a:ext uri="{FF2B5EF4-FFF2-40B4-BE49-F238E27FC236}">
                <a16:creationId xmlns:a16="http://schemas.microsoft.com/office/drawing/2014/main" id="{072C8B7D-7FBE-4EE5-86D5-88B3376A858C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1503476" y="1896633"/>
            <a:ext cx="1947086" cy="194708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8" name="그림 개체 틀 12">
            <a:extLst>
              <a:ext uri="{FF2B5EF4-FFF2-40B4-BE49-F238E27FC236}">
                <a16:creationId xmlns:a16="http://schemas.microsoft.com/office/drawing/2014/main" id="{DB982D4B-E8D6-491D-A4E4-6E4B9A29F5F4}"/>
              </a:ext>
            </a:extLst>
          </p:cNvPr>
          <p:cNvSpPr>
            <a:spLocks noGrp="1"/>
          </p:cNvSpPr>
          <p:nvPr userDrawn="1">
            <p:ph type="pic" sz="quarter" idx="24" hasCustomPrompt="1"/>
          </p:nvPr>
        </p:nvSpPr>
        <p:spPr>
          <a:xfrm>
            <a:off x="8741438" y="1896633"/>
            <a:ext cx="1947086" cy="194708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9" name="그림 개체 틀 12">
            <a:extLst>
              <a:ext uri="{FF2B5EF4-FFF2-40B4-BE49-F238E27FC236}">
                <a16:creationId xmlns:a16="http://schemas.microsoft.com/office/drawing/2014/main" id="{679C3AA6-381F-446C-9783-EC596CDFC3D4}"/>
              </a:ext>
            </a:extLst>
          </p:cNvPr>
          <p:cNvSpPr>
            <a:spLocks noGrp="1"/>
          </p:cNvSpPr>
          <p:nvPr userDrawn="1">
            <p:ph type="pic" sz="quarter" idx="25" hasCustomPrompt="1"/>
          </p:nvPr>
        </p:nvSpPr>
        <p:spPr>
          <a:xfrm>
            <a:off x="6328784" y="1896633"/>
            <a:ext cx="1947086" cy="194708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30" name="그림 개체 틀 12">
            <a:extLst>
              <a:ext uri="{FF2B5EF4-FFF2-40B4-BE49-F238E27FC236}">
                <a16:creationId xmlns:a16="http://schemas.microsoft.com/office/drawing/2014/main" id="{737B1A37-15CE-4523-BD03-F20CA44A9D71}"/>
              </a:ext>
            </a:extLst>
          </p:cNvPr>
          <p:cNvSpPr>
            <a:spLocks noGrp="1"/>
          </p:cNvSpPr>
          <p:nvPr userDrawn="1">
            <p:ph type="pic" sz="quarter" idx="26" hasCustomPrompt="1"/>
          </p:nvPr>
        </p:nvSpPr>
        <p:spPr>
          <a:xfrm>
            <a:off x="3916130" y="1896633"/>
            <a:ext cx="1947086" cy="194708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4FAF8DB-6599-C592-7413-B9D0947CC67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465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A6DB23A4-90DC-478E-9567-41B0A013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280" y="5928833"/>
            <a:ext cx="987915" cy="4675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03" y="5916059"/>
            <a:ext cx="987915" cy="4675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8988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0002" y="5460231"/>
            <a:ext cx="534144" cy="83016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8952" y="5666887"/>
            <a:ext cx="475225" cy="6235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356" y="5665681"/>
            <a:ext cx="262518" cy="62471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3274" y="5559722"/>
            <a:ext cx="242678" cy="73067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0081" y="47442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83901" y="1126612"/>
            <a:ext cx="804646" cy="41196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27" name="그림 개체 틀 11">
            <a:extLst>
              <a:ext uri="{FF2B5EF4-FFF2-40B4-BE49-F238E27FC236}">
                <a16:creationId xmlns:a16="http://schemas.microsoft.com/office/drawing/2014/main" id="{4B76C1B4-FB76-4596-986B-121F22F7D7D4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7985125" y="815975"/>
            <a:ext cx="2454276" cy="5370289"/>
          </a:xfrm>
          <a:prstGeom prst="roundRect">
            <a:avLst>
              <a:gd name="adj" fmla="val 1345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lIns="72000" tIns="1188000" rIns="72000" bIns="36000" anchor="ctr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92747AF-139D-3588-D301-AF63A01F5C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68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88" y="5928563"/>
            <a:ext cx="961492" cy="4550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981" y="5813187"/>
            <a:ext cx="1199403" cy="5676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11375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641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5298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66852" y="5559721"/>
            <a:ext cx="242678" cy="73067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1245" y="76130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35752" y="567605"/>
            <a:ext cx="722265" cy="36978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26" name="그림 개체 틀 5">
            <a:extLst>
              <a:ext uri="{FF2B5EF4-FFF2-40B4-BE49-F238E27FC236}">
                <a16:creationId xmlns:a16="http://schemas.microsoft.com/office/drawing/2014/main" id="{DB4FEA70-389C-41CD-8EBE-B84BBEA1CA6A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7179468" y="866775"/>
            <a:ext cx="3779045" cy="5029200"/>
          </a:xfrm>
          <a:prstGeom prst="roundRect">
            <a:avLst>
              <a:gd name="adj" fmla="val 19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lIns="72000" tIns="1188000" rIns="72000" bIns="36000" anchor="ctr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EB36969-2555-B301-0D04-6CFEB96280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683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0250F545-4DA6-42C4-BA9E-B8A6877842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848" y="5815973"/>
            <a:ext cx="1068836" cy="5058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73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183"/>
          <a:stretch/>
        </p:blipFill>
        <p:spPr>
          <a:xfrm>
            <a:off x="11222117" y="5665681"/>
            <a:ext cx="969884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39101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6899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3498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1446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081" y="988047"/>
            <a:ext cx="786022" cy="40242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156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506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2855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205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446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07" y="443954"/>
            <a:ext cx="961493" cy="49226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49903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253" y="6290394"/>
            <a:ext cx="1741651" cy="567605"/>
          </a:xfrm>
          <a:prstGeom prst="rect">
            <a:avLst/>
          </a:prstGeom>
        </p:spPr>
      </p:pic>
      <p:sp>
        <p:nvSpPr>
          <p:cNvPr id="27" name="그림 개체 틀 8">
            <a:extLst>
              <a:ext uri="{FF2B5EF4-FFF2-40B4-BE49-F238E27FC236}">
                <a16:creationId xmlns:a16="http://schemas.microsoft.com/office/drawing/2014/main" id="{3379B5F2-3923-4882-ABDF-0901D833B10C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4592931" y="674688"/>
            <a:ext cx="6746582" cy="4597400"/>
          </a:xfrm>
          <a:prstGeom prst="roundRect">
            <a:avLst>
              <a:gd name="adj" fmla="val 100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lIns="72000" tIns="1188000" rIns="72000" bIns="36000" anchor="ctr" anchorCtr="1"/>
          <a:lstStyle>
            <a:lvl1pPr marL="228600" marR="0" indent="-22860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32CF89C-58C8-CFCC-AFD9-143C3FC7AE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493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5B7D852-E26A-860E-4110-037835000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841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F84C5C6-0633-ACF2-3EC0-5DCEBE11EF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278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1FDEA265-14D8-4995-9D8D-004C2B9791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74"/>
          <a:stretch/>
        </p:blipFill>
        <p:spPr>
          <a:xfrm>
            <a:off x="8813520" y="3957553"/>
            <a:ext cx="3378480" cy="210577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5E6FDB3-1010-4384-BAA0-5AC772DDA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317" y="4543442"/>
            <a:ext cx="4449694" cy="21057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592535-1E59-4225-8FAB-BA55DA8CBF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1" y="3957553"/>
            <a:ext cx="4449694" cy="210577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2C1714-8D11-40C8-B56B-D858EA6639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240" y="4543442"/>
            <a:ext cx="977924" cy="15198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4E68922-A464-40C2-8559-0556AFF3C5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334" y="4980408"/>
            <a:ext cx="825380" cy="10829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B082778-F784-45A1-A273-DBD5111A650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24" y="3509490"/>
            <a:ext cx="1073175" cy="255383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BC80F5-75C8-450A-B0F9-BC45DE059E6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8636" y="3158489"/>
            <a:ext cx="964782" cy="290483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6873A5-CEBD-4A3D-816C-D8F7459698A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98" y="630440"/>
            <a:ext cx="2093236" cy="10716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C3D2A6-8D14-4185-BCDF-D3486D874C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63324"/>
            <a:ext cx="2438400" cy="794676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E6825-E60A-4DC3-AD7E-6868544A91B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6063324"/>
            <a:ext cx="2438400" cy="79467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3CADD07-6BE4-4440-9D75-23FA585A9F2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6063324"/>
            <a:ext cx="2438400" cy="79467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D82072D-5CF0-417B-BB35-355B0609E6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063324"/>
            <a:ext cx="2438400" cy="79467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6E14643-868B-40FB-8914-6508AB669EE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6063324"/>
            <a:ext cx="2438400" cy="794676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2F47FCE-FD71-49B8-946C-1674A0B0984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182" y="1292126"/>
            <a:ext cx="2093236" cy="107168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44A4373-5F97-AD5B-4D01-EC9E856079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70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1FDEA265-14D8-4995-9D8D-004C2B9791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74"/>
          <a:stretch/>
        </p:blipFill>
        <p:spPr>
          <a:xfrm flipH="1">
            <a:off x="0" y="3957553"/>
            <a:ext cx="3378480" cy="210577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5E6FDB3-1010-4384-BAA0-5AC772DDA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46989" y="4543442"/>
            <a:ext cx="4449694" cy="210577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3592535-1E59-4225-8FAB-BA55DA8CBF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49165" y="3957553"/>
            <a:ext cx="4449694" cy="210577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2C1714-8D11-40C8-B56B-D858EA6639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07836" y="4543442"/>
            <a:ext cx="977924" cy="15198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4E68922-A464-40C2-8559-0556AFF3C5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70286" y="4980408"/>
            <a:ext cx="825380" cy="10829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B082778-F784-45A1-A273-DBD5111A650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60501" y="3509490"/>
            <a:ext cx="1073175" cy="255383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BC80F5-75C8-450A-B0F9-BC45DE059E6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8582" y="3158489"/>
            <a:ext cx="964782" cy="290483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6873A5-CEBD-4A3D-816C-D8F7459698A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495666" y="630440"/>
            <a:ext cx="2093236" cy="10716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BC3D2A6-8D14-4185-BCDF-D3486D874C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53600" y="6063324"/>
            <a:ext cx="2438400" cy="794676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E6825-E60A-4DC3-AD7E-6868544A91B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15200" y="6063324"/>
            <a:ext cx="2438400" cy="79467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3CADD07-6BE4-4440-9D75-23FA585A9F2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76800" y="6063324"/>
            <a:ext cx="2438400" cy="79467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D82072D-5CF0-417B-BB35-355B0609E6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38400" y="6063324"/>
            <a:ext cx="2438400" cy="794676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D6E14643-868B-40FB-8914-6508AB669EE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6063324"/>
            <a:ext cx="2438400" cy="794676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2F47FCE-FD71-49B8-946C-1674A0B0984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78582" y="1292126"/>
            <a:ext cx="2093236" cy="107168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9CFB2F4-A6CD-E904-72F2-EAEFE28616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31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406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00904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62691" y="5204803"/>
            <a:ext cx="698492" cy="108559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66029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90404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406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29443" y="966683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0963" y="474421"/>
            <a:ext cx="961493" cy="49226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F31DFD1-0B17-54BA-D1BE-513315221F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0049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74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195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826" y="5204803"/>
            <a:ext cx="698492" cy="108559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6813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981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57568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88981" y="461647"/>
            <a:ext cx="961493" cy="49226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7072" y="103322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F74B6B0-3DC0-B51B-725D-BF753E901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7567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40821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0000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7856" y="5204803"/>
            <a:ext cx="698492" cy="108559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826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84128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049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066" y="816774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568" y="474421"/>
            <a:ext cx="961493" cy="49226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4D67304-7B68-5212-6485-3AD0BDD9E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011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48022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2820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497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47569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2920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71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627" y="47442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72" y="1231899"/>
            <a:ext cx="722265" cy="36978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CB1C7F9-DF2F-1ECA-4DF8-3FB0EFC304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765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203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11375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898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017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8974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9882" y="321475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784365" y="1231899"/>
            <a:ext cx="722265" cy="36978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CF55A4C-AE0F-0184-9F4F-9CD087EAE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718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BDDCB0E9-0375-4C42-A881-DA56888EF5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25769" y="5815973"/>
            <a:ext cx="1199403" cy="5676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405" y="5939267"/>
            <a:ext cx="938871" cy="4443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763814" y="5758575"/>
            <a:ext cx="1320691" cy="6250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62691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424159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52072" y="5758575"/>
            <a:ext cx="223482" cy="5318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0405" y="5178487"/>
            <a:ext cx="369297" cy="111190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29443" y="966683"/>
            <a:ext cx="731594" cy="37455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0963" y="474421"/>
            <a:ext cx="731728" cy="37462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D262AF-357D-D6A6-A367-D716BC8F66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494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DDF5612B-751E-4271-865F-3585A0BA2D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38109" y="6099775"/>
            <a:ext cx="599703" cy="2838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89374" y="5815973"/>
            <a:ext cx="1199405" cy="5676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0195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32651" y="5652023"/>
            <a:ext cx="410741" cy="63837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1456" y="5410200"/>
            <a:ext cx="672563" cy="88241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982" y="5559723"/>
            <a:ext cx="307044" cy="73067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4478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45098" y="1033221"/>
            <a:ext cx="685732" cy="35107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1544" y="47442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AFBC665-0405-EB7D-293A-181ED27D8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346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A6DB23A4-90DC-478E-9567-41B0A013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835807" y="5928833"/>
            <a:ext cx="987915" cy="4675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396884" y="5916059"/>
            <a:ext cx="987915" cy="4675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69035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7856" y="5460231"/>
            <a:ext cx="534144" cy="83016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825" y="5666887"/>
            <a:ext cx="475225" cy="6235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84128" y="5665681"/>
            <a:ext cx="262518" cy="62471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050" y="5559722"/>
            <a:ext cx="242678" cy="73067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428" y="47442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55" y="1126612"/>
            <a:ext cx="804646" cy="41196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25585EE-B2B4-E9BB-2203-B8C996F2B4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478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48022" y="5928563"/>
            <a:ext cx="961492" cy="4550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11618" y="5813187"/>
            <a:ext cx="1199403" cy="5676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497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47826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639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72" y="5559721"/>
            <a:ext cx="242678" cy="73067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264" y="76130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85" y="567605"/>
            <a:ext cx="722265" cy="36978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5A9A19E-71D5-197B-F450-AD012AD7B2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611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0250F545-4DA6-42C4-BA9E-B8A6877842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40871" y="5815973"/>
            <a:ext cx="1068836" cy="5058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515103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183"/>
          <a:stretch/>
        </p:blipFill>
        <p:spPr>
          <a:xfrm flipH="1">
            <a:off x="-446" y="5665681"/>
            <a:ext cx="969884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324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121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6992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552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3452" y="988047"/>
            <a:ext cx="786022" cy="40242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96729" y="567606"/>
            <a:ext cx="961493" cy="49226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D0BB44A-470E-F1CB-F815-AA347D35E8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09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BDDCB0E9-0375-4C42-A881-DA56888EF5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830" y="5815973"/>
            <a:ext cx="1199403" cy="5676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726" y="5939267"/>
            <a:ext cx="938871" cy="4443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7" y="5758575"/>
            <a:ext cx="1320691" cy="6250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9181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08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448" y="5758575"/>
            <a:ext cx="223482" cy="5318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2300" y="5178487"/>
            <a:ext cx="369297" cy="111190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65" y="966683"/>
            <a:ext cx="731594" cy="37455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9311" y="474421"/>
            <a:ext cx="731728" cy="37462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27" name="그림 개체 틀 4">
            <a:extLst>
              <a:ext uri="{FF2B5EF4-FFF2-40B4-BE49-F238E27FC236}">
                <a16:creationId xmlns:a16="http://schemas.microsoft.com/office/drawing/2014/main" id="{9944C5BF-FDBB-4853-9712-3920D8F527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98620" y="888805"/>
            <a:ext cx="3804944" cy="5104202"/>
          </a:xfrm>
          <a:prstGeom prst="roundRect">
            <a:avLst>
              <a:gd name="adj" fmla="val 9658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tIns="828000" anchor="ctr" anchorCtr="1"/>
          <a:lstStyle>
            <a:lvl1pPr marL="0" indent="0">
              <a:buNone/>
              <a:defRPr sz="1400"/>
            </a:lvl1pPr>
          </a:lstStyle>
          <a:p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FA2BE33-4A2F-3A1D-AB96-B73DE340FD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293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DDF5612B-751E-4271-865F-3585A0BA2D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190" y="6099775"/>
            <a:ext cx="599703" cy="2838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223" y="5815973"/>
            <a:ext cx="1199405" cy="5676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7828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8610" y="5652023"/>
            <a:ext cx="410741" cy="63837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983" y="5410200"/>
            <a:ext cx="672563" cy="88241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95976" y="5559723"/>
            <a:ext cx="307044" cy="73067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967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72" y="1033221"/>
            <a:ext cx="685732" cy="35107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8965" y="47442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603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953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3302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652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700" y="6290394"/>
            <a:ext cx="1741651" cy="567605"/>
          </a:xfrm>
          <a:prstGeom prst="rect">
            <a:avLst/>
          </a:prstGeom>
        </p:spPr>
      </p:pic>
      <p:sp>
        <p:nvSpPr>
          <p:cNvPr id="27" name="그림 개체 틀 12">
            <a:extLst>
              <a:ext uri="{FF2B5EF4-FFF2-40B4-BE49-F238E27FC236}">
                <a16:creationId xmlns:a16="http://schemas.microsoft.com/office/drawing/2014/main" id="{072C8B7D-7FBE-4EE5-86D5-88B3376A858C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1503476" y="1896633"/>
            <a:ext cx="1947086" cy="194708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8" name="그림 개체 틀 12">
            <a:extLst>
              <a:ext uri="{FF2B5EF4-FFF2-40B4-BE49-F238E27FC236}">
                <a16:creationId xmlns:a16="http://schemas.microsoft.com/office/drawing/2014/main" id="{DB982D4B-E8D6-491D-A4E4-6E4B9A29F5F4}"/>
              </a:ext>
            </a:extLst>
          </p:cNvPr>
          <p:cNvSpPr>
            <a:spLocks noGrp="1"/>
          </p:cNvSpPr>
          <p:nvPr userDrawn="1">
            <p:ph type="pic" sz="quarter" idx="24" hasCustomPrompt="1"/>
          </p:nvPr>
        </p:nvSpPr>
        <p:spPr>
          <a:xfrm>
            <a:off x="8741438" y="1896633"/>
            <a:ext cx="1947086" cy="194708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9" name="그림 개체 틀 12">
            <a:extLst>
              <a:ext uri="{FF2B5EF4-FFF2-40B4-BE49-F238E27FC236}">
                <a16:creationId xmlns:a16="http://schemas.microsoft.com/office/drawing/2014/main" id="{679C3AA6-381F-446C-9783-EC596CDFC3D4}"/>
              </a:ext>
            </a:extLst>
          </p:cNvPr>
          <p:cNvSpPr>
            <a:spLocks noGrp="1"/>
          </p:cNvSpPr>
          <p:nvPr userDrawn="1">
            <p:ph type="pic" sz="quarter" idx="25" hasCustomPrompt="1"/>
          </p:nvPr>
        </p:nvSpPr>
        <p:spPr>
          <a:xfrm>
            <a:off x="6328784" y="1896633"/>
            <a:ext cx="1947086" cy="194708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30" name="그림 개체 틀 12">
            <a:extLst>
              <a:ext uri="{FF2B5EF4-FFF2-40B4-BE49-F238E27FC236}">
                <a16:creationId xmlns:a16="http://schemas.microsoft.com/office/drawing/2014/main" id="{737B1A37-15CE-4523-BD03-F20CA44A9D71}"/>
              </a:ext>
            </a:extLst>
          </p:cNvPr>
          <p:cNvSpPr>
            <a:spLocks noGrp="1"/>
          </p:cNvSpPr>
          <p:nvPr userDrawn="1">
            <p:ph type="pic" sz="quarter" idx="26" hasCustomPrompt="1"/>
          </p:nvPr>
        </p:nvSpPr>
        <p:spPr>
          <a:xfrm>
            <a:off x="3916130" y="1896633"/>
            <a:ext cx="1947086" cy="1947084"/>
          </a:xfrm>
          <a:prstGeom prst="rect">
            <a:avLst/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b" anchorCtr="1"/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E9182CE-4715-C5DD-B87A-E059C4BC150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580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A6DB23A4-90DC-478E-9567-41B0A013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280" y="5928833"/>
            <a:ext cx="987915" cy="46752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03" y="5916059"/>
            <a:ext cx="987915" cy="46752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8988" y="5665681"/>
            <a:ext cx="1543979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0002" y="5460231"/>
            <a:ext cx="534144" cy="83016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8952" y="5666887"/>
            <a:ext cx="475225" cy="62350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356" y="5665681"/>
            <a:ext cx="262518" cy="62471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3274" y="5559722"/>
            <a:ext cx="242678" cy="73067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0081" y="47442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883901" y="1126612"/>
            <a:ext cx="804646" cy="41196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27" name="그림 개체 틀 11">
            <a:extLst>
              <a:ext uri="{FF2B5EF4-FFF2-40B4-BE49-F238E27FC236}">
                <a16:creationId xmlns:a16="http://schemas.microsoft.com/office/drawing/2014/main" id="{4B76C1B4-FB76-4596-986B-121F22F7D7D4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7985125" y="815975"/>
            <a:ext cx="2454276" cy="5370289"/>
          </a:xfrm>
          <a:prstGeom prst="roundRect">
            <a:avLst>
              <a:gd name="adj" fmla="val 1345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lIns="72000" tIns="1188000" rIns="72000" bIns="36000" anchor="ctr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BB0255D-1659-2C88-DD0D-542A936504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2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88" y="5928563"/>
            <a:ext cx="961492" cy="4550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981" y="5813187"/>
            <a:ext cx="1199403" cy="56760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11375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641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5298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66852" y="5559721"/>
            <a:ext cx="242678" cy="73067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1245" y="761301"/>
            <a:ext cx="961493" cy="49226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748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398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049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99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350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35752" y="567605"/>
            <a:ext cx="722265" cy="36978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51" y="6290394"/>
            <a:ext cx="1741651" cy="567605"/>
          </a:xfrm>
          <a:prstGeom prst="rect">
            <a:avLst/>
          </a:prstGeom>
        </p:spPr>
      </p:pic>
      <p:sp>
        <p:nvSpPr>
          <p:cNvPr id="26" name="그림 개체 틀 5">
            <a:extLst>
              <a:ext uri="{FF2B5EF4-FFF2-40B4-BE49-F238E27FC236}">
                <a16:creationId xmlns:a16="http://schemas.microsoft.com/office/drawing/2014/main" id="{DB4FEA70-389C-41CD-8EBE-B84BBEA1CA6A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7179468" y="866775"/>
            <a:ext cx="3779045" cy="5029200"/>
          </a:xfrm>
          <a:prstGeom prst="roundRect">
            <a:avLst>
              <a:gd name="adj" fmla="val 1926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lIns="72000" tIns="1188000" rIns="72000" bIns="36000" anchor="ctr" anchorCtr="1"/>
          <a:lstStyle>
            <a:lvl1pPr>
              <a:defRPr lang="ko-KR" altLang="en-US" sz="2000" dirty="0"/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34F8FBA-8DC3-966E-FA36-972E4DBC3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9817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0250F545-4DA6-42C4-BA9E-B8A6877842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1848" y="5815973"/>
            <a:ext cx="1068836" cy="5058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A905DE-736D-41FB-914F-7EC6480AC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73" y="5652907"/>
            <a:ext cx="1543979" cy="7306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5D391F-6D1E-4DA0-94BE-A85391279B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183"/>
          <a:stretch/>
        </p:blipFill>
        <p:spPr>
          <a:xfrm>
            <a:off x="11222117" y="5665681"/>
            <a:ext cx="969884" cy="73067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50FB3C8-5214-4F8E-B7B6-9DDDC85E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39101" y="5559721"/>
            <a:ext cx="470130" cy="73067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43A595-CFEB-42E1-94DE-6484C94250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6899" y="5516911"/>
            <a:ext cx="589535" cy="77348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924684F-1148-4E5A-BF41-DE3BD7DA83B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3498" y="5335980"/>
            <a:ext cx="401065" cy="95441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865AAF0-3FBB-412A-AD7D-52E94383263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1446" y="5204803"/>
            <a:ext cx="360557" cy="108559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884B30B-DD19-43F1-8824-0189EF2B8DB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2081" y="988047"/>
            <a:ext cx="786022" cy="40242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FBCEDAB-D12C-460D-82F1-5A6FF9720A2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66156" y="6290394"/>
            <a:ext cx="1741651" cy="56760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D6E42A-CEB6-4825-936C-DA5505B5E89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24506" y="6290394"/>
            <a:ext cx="1741651" cy="56760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58FD4FA-B7B9-4BC5-B3A9-ED95447F0A8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2855" y="6290394"/>
            <a:ext cx="1741651" cy="56760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E8FD089-3B45-4966-95AB-20B24E7B6C1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41205" y="6290394"/>
            <a:ext cx="1741651" cy="5676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19A38C5-8E06-49E3-9209-1D668C91F38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446" y="6290394"/>
            <a:ext cx="1741651" cy="5676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D7F4355-BEBB-4B69-9A29-799C5CD831F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07" y="443954"/>
            <a:ext cx="961493" cy="49226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6EBC1EB-4528-411A-8134-FBD52A4DC36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49903" y="6290394"/>
            <a:ext cx="1741651" cy="56760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E2F0DD-FC3C-4047-9CA3-F463BD99545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08253" y="6290394"/>
            <a:ext cx="1741651" cy="567605"/>
          </a:xfrm>
          <a:prstGeom prst="rect">
            <a:avLst/>
          </a:prstGeom>
        </p:spPr>
      </p:pic>
      <p:sp>
        <p:nvSpPr>
          <p:cNvPr id="27" name="그림 개체 틀 8">
            <a:extLst>
              <a:ext uri="{FF2B5EF4-FFF2-40B4-BE49-F238E27FC236}">
                <a16:creationId xmlns:a16="http://schemas.microsoft.com/office/drawing/2014/main" id="{3379B5F2-3923-4882-ABDF-0901D833B10C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4592931" y="674688"/>
            <a:ext cx="6746582" cy="4597400"/>
          </a:xfrm>
          <a:prstGeom prst="roundRect">
            <a:avLst>
              <a:gd name="adj" fmla="val 1000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lIns="72000" tIns="1188000" rIns="72000" bIns="36000" anchor="ctr" anchorCtr="1"/>
          <a:lstStyle>
            <a:lvl1pPr marL="228600" marR="0" indent="-22860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dirty="0"/>
              <a:t>Click icon to add picture</a:t>
            </a:r>
            <a:endParaRPr lang="ko-KR" altLang="en-US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BF0FB65-5A99-FB1C-56BC-C49C40B4C8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434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FBAD9B5-527E-22A6-CE86-2902144A9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700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MON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88FD838-194D-7EB3-12C2-FD993DBE5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843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C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1BC0B25-3766-1DFA-3A81-27E2B20EE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32E28-89ED-457B-B7C2-96C51DA6F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6" r:id="rId2"/>
    <p:sldLayoutId id="214748366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49" r:id="rId18"/>
    <p:sldLayoutId id="2147483664" r:id="rId19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C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1311538-C91F-E3D0-7E91-5F1467B4B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4265C-386F-4628-BC88-6681E3EBC2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39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8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8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8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8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8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38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8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38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38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8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38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8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8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8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13" Type="http://schemas.openxmlformats.org/officeDocument/2006/relationships/customXml" Target="../ink/ink5.xml"/><Relationship Id="rId3" Type="http://schemas.openxmlformats.org/officeDocument/2006/relationships/image" Target="../media/image38.jpg"/><Relationship Id="rId7" Type="http://schemas.openxmlformats.org/officeDocument/2006/relationships/customXml" Target="../ink/ink2.xml"/><Relationship Id="rId12" Type="http://schemas.openxmlformats.org/officeDocument/2006/relationships/image" Target="../media/image450.png"/><Relationship Id="rId2" Type="http://schemas.openxmlformats.org/officeDocument/2006/relationships/image" Target="../media/image10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420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440.png"/><Relationship Id="rId4" Type="http://schemas.openxmlformats.org/officeDocument/2006/relationships/image" Target="../media/image45.jpg"/><Relationship Id="rId9" Type="http://schemas.openxmlformats.org/officeDocument/2006/relationships/customXml" Target="../ink/ink3.xml"/><Relationship Id="rId14" Type="http://schemas.openxmlformats.org/officeDocument/2006/relationships/image" Target="../media/image46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6.xml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9.xml"/><Relationship Id="rId6" Type="http://schemas.openxmlformats.org/officeDocument/2006/relationships/hyperlink" Target="mailto:xo3yin@yandex.ru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226681C-FDD9-49C8-95B0-1DFF26F47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342" y="4081274"/>
            <a:ext cx="4871317" cy="13553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3916CD-0812-4FCF-8208-FCB6C374A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97" y="1039528"/>
            <a:ext cx="5856006" cy="28382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F5D63A-26F2-4234-A7A6-9C98798739C5}"/>
              </a:ext>
            </a:extLst>
          </p:cNvPr>
          <p:cNvSpPr txBox="1"/>
          <p:nvPr/>
        </p:nvSpPr>
        <p:spPr>
          <a:xfrm>
            <a:off x="3455977" y="1796921"/>
            <a:ext cx="5280046" cy="1323439"/>
          </a:xfrm>
          <a:prstGeom prst="rect">
            <a:avLst/>
          </a:prstGeom>
          <a:noFill/>
          <a:effectLst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US" altLang="ko-KR" sz="8000" dirty="0">
                <a:latin typeface="+mj-lt"/>
                <a:cs typeface="Arial" panose="020B0604020202020204" pitchFamily="34" charset="0"/>
              </a:rPr>
              <a:t>Python</a:t>
            </a:r>
            <a:endParaRPr lang="ko-KR" altLang="en-US" sz="8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42BB0-0913-40E1-AF1A-2AF747815293}"/>
              </a:ext>
            </a:extLst>
          </p:cNvPr>
          <p:cNvSpPr txBox="1"/>
          <p:nvPr/>
        </p:nvSpPr>
        <p:spPr>
          <a:xfrm>
            <a:off x="3779520" y="4497362"/>
            <a:ext cx="4632960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GB" altLang="ko-KR" sz="2800" dirty="0">
                <a:cs typeface="Arial" panose="020B0604020202020204" pitchFamily="34" charset="0"/>
              </a:rPr>
              <a:t>#2: Functions</a:t>
            </a:r>
            <a:r>
              <a:rPr lang="en-US" altLang="ko-KR" sz="2800" dirty="0">
                <a:cs typeface="Arial" panose="020B0604020202020204" pitchFamily="34" charset="0"/>
              </a:rPr>
              <a:t>, </a:t>
            </a:r>
            <a:r>
              <a:rPr lang="en-US" altLang="ko-KR" sz="2800" dirty="0" err="1">
                <a:cs typeface="Arial" panose="020B0604020202020204" pitchFamily="34" charset="0"/>
              </a:rPr>
              <a:t>iter</a:t>
            </a:r>
            <a:r>
              <a:rPr lang="en-US" altLang="ko-KR" sz="2800" dirty="0">
                <a:cs typeface="Arial" panose="020B0604020202020204" pitchFamily="34" charset="0"/>
              </a:rPr>
              <a:t>, libs...</a:t>
            </a:r>
            <a:endParaRPr lang="ko-KR" altLang="en-US" sz="2800" dirty="0"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AAF091-4F2A-BC5E-081A-193C8C7906F1}"/>
              </a:ext>
            </a:extLst>
          </p:cNvPr>
          <p:cNvSpPr txBox="1"/>
          <p:nvPr/>
        </p:nvSpPr>
        <p:spPr>
          <a:xfrm>
            <a:off x="0" y="6477768"/>
            <a:ext cx="286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solidFill>
                  <a:srgbClr val="F1F1F1"/>
                </a:solidFill>
                <a:latin typeface="IBM Plex Mono" panose="020B0509050203000203" pitchFamily="49" charset="77"/>
              </a:rPr>
              <a:t>Баранов Кирилл Евгеньевич</a:t>
            </a:r>
            <a:endParaRPr lang="en-RU" sz="1400" b="1" dirty="0">
              <a:solidFill>
                <a:srgbClr val="F1F1F1"/>
              </a:solidFill>
              <a:latin typeface="IBM Plex Mono" panose="020B0509050203000203" pitchFamily="49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9F6E1-1AE2-C7C6-7A69-07D1E1C4259D}"/>
              </a:ext>
            </a:extLst>
          </p:cNvPr>
          <p:cNvSpPr txBox="1"/>
          <p:nvPr/>
        </p:nvSpPr>
        <p:spPr>
          <a:xfrm>
            <a:off x="8412480" y="6477767"/>
            <a:ext cx="1577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1F1F1"/>
                </a:solidFill>
                <a:latin typeface="Press Start 2P" pitchFamily="2" charset="0"/>
              </a:rPr>
              <a:t>Telegram: @</a:t>
            </a:r>
            <a:r>
              <a:rPr lang="en-GB" sz="1400" dirty="0">
                <a:solidFill>
                  <a:srgbClr val="F1F1F1"/>
                </a:solidFill>
                <a:latin typeface="Press Start 2P" pitchFamily="2" charset="0"/>
              </a:rPr>
              <a:t>xo3yin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79931-C59C-4D34-DFCD-117DE7CBD469}"/>
              </a:ext>
            </a:extLst>
          </p:cNvPr>
          <p:cNvSpPr txBox="1"/>
          <p:nvPr/>
        </p:nvSpPr>
        <p:spPr>
          <a:xfrm>
            <a:off x="6535084" y="6485160"/>
            <a:ext cx="1625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1F1F1"/>
                </a:solidFill>
                <a:latin typeface="Press Start 2P" pitchFamily="2" charset="0"/>
              </a:rPr>
              <a:t>xo3yin@yandex.ru</a:t>
            </a:r>
            <a:endParaRPr lang="ru-RU" sz="1400" b="1" dirty="0">
              <a:solidFill>
                <a:srgbClr val="F1F1F1"/>
              </a:solidFill>
              <a:latin typeface="Press Start 2P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31B7658-F8F7-7529-4022-07D18EEC0A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14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7C177B-D27A-4445-9700-FE7CEFED35B7}"/>
              </a:ext>
            </a:extLst>
          </p:cNvPr>
          <p:cNvSpPr txBox="1"/>
          <p:nvPr/>
        </p:nvSpPr>
        <p:spPr>
          <a:xfrm>
            <a:off x="2004646" y="499760"/>
            <a:ext cx="81827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Что делает код?</a:t>
            </a:r>
            <a:endParaRPr lang="en-US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 = [-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27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mm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mx = -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 += e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 &lt; mm: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mm = e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 &gt; mx: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mx = e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 / 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(t))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(mm)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(mx)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Picture 6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B67F870C-01FC-CA44-9078-064ED528C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06" y="2499563"/>
            <a:ext cx="1073428" cy="107342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BC4299-4E72-0A9B-16F9-22A73BB9BD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730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B85309-1039-7545-AC94-7D9979556CC3}"/>
              </a:ext>
            </a:extLst>
          </p:cNvPr>
          <p:cNvSpPr txBox="1"/>
          <p:nvPr/>
        </p:nvSpPr>
        <p:spPr>
          <a:xfrm>
            <a:off x="2004646" y="450954"/>
            <a:ext cx="81827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Та же программа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temperatures = [-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27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average_temperature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(temperatures) / 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(temperatures)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average_temperature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(temperatures))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(temperatures))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1D86FD2-61A5-4358-024D-CE4D6E6B56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95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5A9B0C8-C6F9-499F-9961-68B3238D4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477" y="1670173"/>
            <a:ext cx="1638300" cy="163830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9314AF2D-281F-4C61-82DB-5B926D02C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851" y="1670173"/>
            <a:ext cx="1638300" cy="16383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3256EFD9-0732-498C-B3B1-45A83450B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223" y="1670173"/>
            <a:ext cx="1638300" cy="16383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30289BD-B740-4C72-92A0-FA999618C14C}"/>
              </a:ext>
            </a:extLst>
          </p:cNvPr>
          <p:cNvSpPr/>
          <p:nvPr/>
        </p:nvSpPr>
        <p:spPr>
          <a:xfrm>
            <a:off x="1079004" y="3531665"/>
            <a:ext cx="3095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latin typeface="+mj-lt"/>
              </a:rPr>
              <a:t>for (loop)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C1E426-B0E2-4C09-9620-4FDFFF5C51D2}"/>
              </a:ext>
            </a:extLst>
          </p:cNvPr>
          <p:cNvSpPr/>
          <p:nvPr/>
        </p:nvSpPr>
        <p:spPr>
          <a:xfrm>
            <a:off x="8017752" y="3531665"/>
            <a:ext cx="3095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latin typeface="+mj-lt"/>
              </a:rPr>
              <a:t>function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8BABBE9-BE82-49C4-B7FE-0C0347C636E5}"/>
              </a:ext>
            </a:extLst>
          </p:cNvPr>
          <p:cNvSpPr/>
          <p:nvPr/>
        </p:nvSpPr>
        <p:spPr>
          <a:xfrm>
            <a:off x="4548378" y="3531665"/>
            <a:ext cx="3095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latin typeface="+mj-lt"/>
              </a:rPr>
              <a:t>while (loop)</a:t>
            </a:r>
          </a:p>
        </p:txBody>
      </p:sp>
      <p:pic>
        <p:nvPicPr>
          <p:cNvPr id="10" name="Graphic 9" descr="Badge 5 with solid fill">
            <a:extLst>
              <a:ext uri="{FF2B5EF4-FFF2-40B4-BE49-F238E27FC236}">
                <a16:creationId xmlns:a16="http://schemas.microsoft.com/office/drawing/2014/main" id="{CF149BEC-38AE-9A41-BA7E-3F65AEB6E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9426" y="2032123"/>
            <a:ext cx="914400" cy="914400"/>
          </a:xfrm>
          <a:prstGeom prst="rect">
            <a:avLst/>
          </a:prstGeom>
        </p:spPr>
      </p:pic>
      <p:pic>
        <p:nvPicPr>
          <p:cNvPr id="12" name="Graphic 11" descr="Infinity with solid fill">
            <a:extLst>
              <a:ext uri="{FF2B5EF4-FFF2-40B4-BE49-F238E27FC236}">
                <a16:creationId xmlns:a16="http://schemas.microsoft.com/office/drawing/2014/main" id="{59510AF7-CF26-464C-B09F-73FD59918D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800" y="2041727"/>
            <a:ext cx="914400" cy="914400"/>
          </a:xfrm>
          <a:prstGeom prst="rect">
            <a:avLst/>
          </a:prstGeom>
        </p:spPr>
      </p:pic>
      <p:pic>
        <p:nvPicPr>
          <p:cNvPr id="14" name="Graphic 13" descr="Morse Code with solid fill">
            <a:extLst>
              <a:ext uri="{FF2B5EF4-FFF2-40B4-BE49-F238E27FC236}">
                <a16:creationId xmlns:a16="http://schemas.microsoft.com/office/drawing/2014/main" id="{45BCD21D-A000-C04F-BD07-D39290C5DE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08174" y="2041727"/>
            <a:ext cx="914400" cy="9144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5FE696-17D2-6EC3-5CD9-51F09C89E8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179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D103D1-2C8D-D043-BB7A-801964FCE509}"/>
              </a:ext>
            </a:extLst>
          </p:cNvPr>
          <p:cNvSpPr txBox="1"/>
          <p:nvPr/>
        </p:nvSpPr>
        <p:spPr>
          <a:xfrm>
            <a:off x="2137424" y="598670"/>
            <a:ext cx="63304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Синтаксис определения функции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имя функции&gt;([аргументы]):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&lt;тело функции&gt;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Синтаксис вызова функции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&lt;имя функции&gt;([аргументы])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2DA3ED5-EA4C-FE44-EE67-572026ABE9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367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6D9663-517B-AB40-932B-A6B11BCC831E}"/>
              </a:ext>
            </a:extLst>
          </p:cNvPr>
          <p:cNvSpPr txBox="1"/>
          <p:nvPr/>
        </p:nvSpPr>
        <p:spPr>
          <a:xfrm>
            <a:off x="2117035" y="638554"/>
            <a:ext cx="62020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Определение функции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simple_greetings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username!'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Вызов функции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simple_greetings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08298A-2809-EBCD-31A3-62DE56C2F6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5197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endParaRPr lang="en-GB" sz="1200" dirty="0"/>
          </a:p>
          <a:p>
            <a:r>
              <a:rPr lang="en-GB" sz="12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Traceback (most recent call last):</a:t>
            </a:r>
            <a:br>
              <a:rPr lang="en-GB" sz="12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File "/Users/</a:t>
            </a:r>
            <a:r>
              <a:rPr lang="en-GB" sz="1200" dirty="0" err="1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levbrave</a:t>
            </a:r>
            <a:r>
              <a:rPr lang="en-GB" sz="12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</a:t>
            </a:r>
            <a:r>
              <a:rPr lang="en-GB" sz="1200" dirty="0" err="1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test.py</a:t>
            </a:r>
            <a:r>
              <a:rPr lang="en-GB" sz="12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line 3, in &lt;module&gt;</a:t>
            </a:r>
            <a:br>
              <a:rPr lang="en-GB" sz="12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simple_greetings2()</a:t>
            </a:r>
            <a:br>
              <a:rPr lang="en-GB" sz="12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200" dirty="0" err="1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NameError</a:t>
            </a:r>
            <a:r>
              <a:rPr lang="en-GB" sz="12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name 'simple_greetings2' is not defined</a:t>
            </a:r>
            <a:endParaRPr lang="en-RU" sz="1200" b="1" dirty="0">
              <a:solidFill>
                <a:srgbClr val="ED395F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983FD-78D6-E447-9DA8-988C70112420}"/>
              </a:ext>
            </a:extLst>
          </p:cNvPr>
          <p:cNvSpPr txBox="1"/>
          <p:nvPr/>
        </p:nvSpPr>
        <p:spPr>
          <a:xfrm>
            <a:off x="2004646" y="410308"/>
            <a:ext cx="81827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Порядок вызова имеет значение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simple_greetings2()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simple_greetings2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username!'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F6DAE4-9EFC-BA46-A4CC-02CB32ACF370}"/>
              </a:ext>
            </a:extLst>
          </p:cNvPr>
          <p:cNvCxnSpPr/>
          <p:nvPr/>
        </p:nvCxnSpPr>
        <p:spPr>
          <a:xfrm>
            <a:off x="2004646" y="442371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1795D7A-2D5A-A407-C7B8-716DF83CF4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273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863D1-4C25-B04D-9537-9E3191568928}"/>
              </a:ext>
            </a:extLst>
          </p:cNvPr>
          <p:cNvSpPr txBox="1"/>
          <p:nvPr/>
        </p:nvSpPr>
        <p:spPr>
          <a:xfrm>
            <a:off x="2004646" y="410308"/>
            <a:ext cx="620201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Как упростить эту программу?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Как тебя зовут?'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name_1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name_1)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 тебя?'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name_2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name_2)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 твоего пса?'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name_3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name_3)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7204D43-4094-4BB8-2501-EEB458BFA2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389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E23B0-F18A-0245-93EE-B0003F48F40C}"/>
              </a:ext>
            </a:extLst>
          </p:cNvPr>
          <p:cNvSpPr txBox="1"/>
          <p:nvPr/>
        </p:nvSpPr>
        <p:spPr>
          <a:xfrm>
            <a:off x="1969477" y="410308"/>
            <a:ext cx="62020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уменьшает дублирование кода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name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Как тебя зовут?'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 тебя?'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 твоего пса?'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greet()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1BB4768-9442-49EF-8881-08388C34AC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95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GB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</a:t>
            </a:r>
          </a:p>
          <a:p>
            <a:r>
              <a:rPr lang="en-GB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world</a:t>
            </a:r>
          </a:p>
          <a:p>
            <a:endParaRPr lang="en-GB" sz="16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GB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123</a:t>
            </a:r>
          </a:p>
          <a:p>
            <a:r>
              <a:rPr lang="en-GB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456</a:t>
            </a:r>
          </a:p>
          <a:p>
            <a:r>
              <a:rPr lang="en-GB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789</a:t>
            </a:r>
            <a:endParaRPr lang="en-RU" sz="16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BFAB6-AAC9-0C42-9930-652109DF7DA1}"/>
              </a:ext>
            </a:extLst>
          </p:cNvPr>
          <p:cNvSpPr txBox="1"/>
          <p:nvPr/>
        </p:nvSpPr>
        <p:spPr>
          <a:xfrm>
            <a:off x="2004646" y="410308"/>
            <a:ext cx="62020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Использование аргументов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(array):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(element)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'Hello'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'world'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456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789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E8CBEE-3502-FF4A-81EF-39BD6469EF23}"/>
              </a:ext>
            </a:extLst>
          </p:cNvPr>
          <p:cNvCxnSpPr/>
          <p:nvPr/>
        </p:nvCxnSpPr>
        <p:spPr>
          <a:xfrm>
            <a:off x="1969477" y="41084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F7ACD18-EB53-AF36-0304-1124EC9C3E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4666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06782-7AA1-EB4D-810D-8D3C704783E7}"/>
              </a:ext>
            </a:extLst>
          </p:cNvPr>
          <p:cNvSpPr txBox="1"/>
          <p:nvPr/>
        </p:nvSpPr>
        <p:spPr>
          <a:xfrm>
            <a:off x="2004646" y="410308"/>
            <a:ext cx="620201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Порядок вычисления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'Hello'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+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'world'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Сначала будет выполнено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['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Hello'] + ['world']  -&gt;  ['Hello', 'world’]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GB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Затем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'Hello'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'world'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2D1E5C2-DF1C-2199-F351-620B3FCA1C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24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en-GB" sz="1200" b="1" dirty="0">
              <a:solidFill>
                <a:sysClr val="windowText" lastClr="00000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ru-RU" sz="16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GB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comrade</a:t>
            </a:r>
          </a:p>
          <a:p>
            <a:r>
              <a:rPr lang="en-GB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Petrov</a:t>
            </a:r>
          </a:p>
          <a:p>
            <a:r>
              <a:rPr lang="en-GB" sz="1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</a:t>
            </a:r>
            <a:endParaRPr lang="en-RU" sz="1600" b="1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E8CBEE-3502-FF4A-81EF-39BD6469EF23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421A02F-9777-9240-92C7-B0CCB2435F71}"/>
              </a:ext>
            </a:extLst>
          </p:cNvPr>
          <p:cNvSpPr txBox="1"/>
          <p:nvPr/>
        </p:nvSpPr>
        <p:spPr>
          <a:xfrm>
            <a:off x="1969477" y="410308"/>
            <a:ext cx="620201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Порядок вычисления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print_hello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arg_1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arg_2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'hello'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print_comrade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'comrade'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print_petrov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'Petrov'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print_hello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print_comrade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print_petrov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2BBC418-CDA5-D0E4-DF80-47B1E58568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4290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889250" y="2908737"/>
            <a:ext cx="6413500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Возвращаемые значения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078FA54-23F1-833A-A20C-872AFEC94C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128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499613-19B6-2C4B-9267-186059C619F9}"/>
              </a:ext>
            </a:extLst>
          </p:cNvPr>
          <p:cNvSpPr txBox="1"/>
          <p:nvPr/>
        </p:nvSpPr>
        <p:spPr>
          <a:xfrm>
            <a:off x="2004646" y="410308"/>
            <a:ext cx="758385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Синтаксис возврата значения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double_it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radius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double_it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3.14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* radius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Как только выполнение доходит до инструкции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return, 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выполнение  функции завершается и интерпретатор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возвращается к месту, где  функция была вызвана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72DA573-A68B-CCCA-175C-E63CCB9972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28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6EABA5-59A1-4D40-B31A-F86A38A20766}"/>
              </a:ext>
            </a:extLst>
          </p:cNvPr>
          <p:cNvSpPr txBox="1"/>
          <p:nvPr/>
        </p:nvSpPr>
        <p:spPr>
          <a:xfrm>
            <a:off x="2004646" y="420779"/>
            <a:ext cx="81827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Синтаксис возврата значения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double_it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radius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double_it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3.14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* radius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Будет вычислено в: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6.28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radius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Значение, переданное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будет </a:t>
            </a:r>
            <a:endParaRPr lang="en-US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результатом вычисления функции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64A2C36-A1E0-D6DA-0CD2-E83DCC49B7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739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C4D22E-44B6-4242-808E-7B30B6DBA66C}"/>
              </a:ext>
            </a:extLst>
          </p:cNvPr>
          <p:cNvSpPr txBox="1"/>
          <p:nvPr/>
        </p:nvSpPr>
        <p:spPr>
          <a:xfrm>
            <a:off x="1969476" y="410308"/>
            <a:ext cx="82178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Результат функции можно использовать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 других вычислениях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double_pi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double_it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3.14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double_pi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double_pi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* radius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0CCDCEB-60C6-C1C3-9453-06873B01E6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891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2B73A2-5C82-5E49-AECB-7978D81773D0}"/>
              </a:ext>
            </a:extLst>
          </p:cNvPr>
          <p:cNvSpPr txBox="1"/>
          <p:nvPr/>
        </p:nvSpPr>
        <p:spPr>
          <a:xfrm>
            <a:off x="2004646" y="410308"/>
            <a:ext cx="818270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Удобная техника – использование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локальной переменной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my_sum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result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result += element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my_sum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6A35428-953A-8BCA-4CE6-A747FB057A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319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9B912B-B1AB-CE48-A3C3-3E25D382AADB}"/>
              </a:ext>
            </a:extLst>
          </p:cNvPr>
          <p:cNvSpPr txBox="1"/>
          <p:nvPr/>
        </p:nvSpPr>
        <p:spPr>
          <a:xfrm>
            <a:off x="1969477" y="410308"/>
            <a:ext cx="82178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Возвращаемое значение и область видимости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my_sum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result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result += element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my_sum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my_sum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89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95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После выхода из функции переменной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 существует.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Но само значение результата никуда не исчезает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 может получить новое имя снаружи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938DD93-3081-C90C-EBEC-07577A176F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989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8">
            <a:extLst>
              <a:ext uri="{FF2B5EF4-FFF2-40B4-BE49-F238E27FC236}">
                <a16:creationId xmlns:a16="http://schemas.microsoft.com/office/drawing/2014/main" id="{61895E9F-C157-2B4C-82E9-CE968A0CF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889250" y="2539405"/>
            <a:ext cx="6413500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Множественные точки  возврата из функции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E9E6DE4-3A96-73C4-E2FC-4460C9C45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7154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DBC84-C911-9744-85EC-9F0C1BBFAAAD}"/>
              </a:ext>
            </a:extLst>
          </p:cNvPr>
          <p:cNvSpPr txBox="1"/>
          <p:nvPr/>
        </p:nvSpPr>
        <p:spPr>
          <a:xfrm>
            <a:off x="2004646" y="410308"/>
            <a:ext cx="6197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Несколько ветвей вычисления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my_abs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&gt;=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result = x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result = -x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Упростим функцию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E205299-F76B-37A2-A7AD-03374F8448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548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CFB65-28B4-9542-81FE-55A3C78A52C2}"/>
              </a:ext>
            </a:extLst>
          </p:cNvPr>
          <p:cNvSpPr txBox="1"/>
          <p:nvPr/>
        </p:nvSpPr>
        <p:spPr>
          <a:xfrm>
            <a:off x="1969477" y="410308"/>
            <a:ext cx="6197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Несколько точек возврата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my_abs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&gt;=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result = x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result = -x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Упростим функцию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59EEA49-82F2-58A2-EC58-930EEF71F3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340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103AD-196F-024E-9C00-8B0A09CD81E2}"/>
              </a:ext>
            </a:extLst>
          </p:cNvPr>
          <p:cNvSpPr txBox="1"/>
          <p:nvPr/>
        </p:nvSpPr>
        <p:spPr>
          <a:xfrm>
            <a:off x="2004646" y="410308"/>
            <a:ext cx="6197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Несколько точек возврата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my_abs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&gt;=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-x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1DE967A-FEAA-D6A3-318A-79DAF8730D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585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889250" y="2539405"/>
            <a:ext cx="6413500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Возврат из глубины  функции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7212DF2-8232-8105-79E7-80F4F4F7CE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6726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F7762-BACA-494A-87B5-7E557E4B8003}"/>
              </a:ext>
            </a:extLst>
          </p:cNvPr>
          <p:cNvSpPr txBox="1"/>
          <p:nvPr/>
        </p:nvSpPr>
        <p:spPr>
          <a:xfrm>
            <a:off x="2004646" y="420779"/>
            <a:ext cx="6197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Выход из нескольких уровней вложенности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matrix_has_close_value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(matrix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eps):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found =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row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matrix: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cell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row: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(cell - value) &lt;= eps: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found =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break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found: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found: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True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else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False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3F21057-F98A-DCB1-3858-17B8D374D5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0569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9033CE-00B5-CE4C-A53D-0943D0882D81}"/>
              </a:ext>
            </a:extLst>
          </p:cNvPr>
          <p:cNvSpPr txBox="1"/>
          <p:nvPr/>
        </p:nvSpPr>
        <p:spPr>
          <a:xfrm>
            <a:off x="1969476" y="410308"/>
            <a:ext cx="761902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Выход из нескольких уровней вложенности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matrix_has_close_value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(matrix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eps):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row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matrix: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cell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row: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(cell - value) &lt;= eps: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True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return False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Оператор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позволяет выйти с любого уровня 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вложенности функции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75FAEF4-8FC4-7349-7E8D-C0B6A56C0E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6397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889250" y="2539405"/>
            <a:ext cx="6413500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Возврат нескольких  значений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D6814B1-09AB-0C48-D7F1-C641D02039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69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4581FE-BC0E-6A46-8FD3-5DCDEB9A4073}"/>
              </a:ext>
            </a:extLst>
          </p:cNvPr>
          <p:cNvSpPr txBox="1"/>
          <p:nvPr/>
        </p:nvSpPr>
        <p:spPr>
          <a:xfrm>
            <a:off x="1969476" y="410308"/>
            <a:ext cx="821787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Возврат нескольких значений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get_coordinates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get_coordinates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(1, 2)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Команда возврата нескольких значений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Практически идентична команде возврата кортежа </a:t>
            </a:r>
            <a:endParaRPr lang="en-US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 этими значениями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ACF4881-19D4-B35A-5D4E-62DA6BE360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4137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194CB-CAA2-6743-9DCB-03B42D9219C8}"/>
              </a:ext>
            </a:extLst>
          </p:cNvPr>
          <p:cNvSpPr txBox="1"/>
          <p:nvPr/>
        </p:nvSpPr>
        <p:spPr>
          <a:xfrm>
            <a:off x="2004646" y="481732"/>
            <a:ext cx="81827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Возврат нескольких значений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Полученный кортеж можно записать целиком в переменную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get_coordinates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get_coordinates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(result)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(1, 2)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90E84CE-661F-8852-0CE4-E41C83AA88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065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F6EB5C-F384-8C4C-BAE1-BAA1B85897F6}"/>
              </a:ext>
            </a:extLst>
          </p:cNvPr>
          <p:cNvSpPr txBox="1"/>
          <p:nvPr/>
        </p:nvSpPr>
        <p:spPr>
          <a:xfrm>
            <a:off x="1969476" y="410308"/>
            <a:ext cx="821787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Возврат нескольких значений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Вместо этого можно воспользоваться множественным присваиванием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get_coordinates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get_coordinates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1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(y)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2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5C225C9-EB0E-29A7-454D-23766B7136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136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C50905-1619-5544-8EFB-A1E0B51BBABB}"/>
              </a:ext>
            </a:extLst>
          </p:cNvPr>
          <p:cNvSpPr txBox="1"/>
          <p:nvPr/>
        </p:nvSpPr>
        <p:spPr>
          <a:xfrm>
            <a:off x="2004646" y="410308"/>
            <a:ext cx="818270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Согласованность возвращаемых значений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Всегда возвращайте однотипные данные в разных точках возврата.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Иначе программы будут «хрупкими»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get_coordinates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(index):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index %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2.5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2.5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get_coordinates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ломается на нечётных индексах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get_coordinates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ломается на чётных индексах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D972BCF-6A5D-1EF9-EA9B-5A6E405D07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030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1E0022-A919-44AF-8078-87723532D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97" y="1336121"/>
            <a:ext cx="5856006" cy="2838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42F346-FC6A-493B-995E-DB2FC357CBE3}"/>
              </a:ext>
            </a:extLst>
          </p:cNvPr>
          <p:cNvSpPr txBox="1"/>
          <p:nvPr/>
        </p:nvSpPr>
        <p:spPr>
          <a:xfrm>
            <a:off x="3721860" y="2710447"/>
            <a:ext cx="4696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+mj-lt"/>
                <a:cs typeface="Arial" panose="020B0604020202020204" pitchFamily="34" charset="0"/>
              </a:rPr>
              <a:t>Time-out</a:t>
            </a:r>
            <a:endParaRPr lang="ko-KR" altLang="en-US" sz="44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8036D483-EE8C-FE4B-A44F-1813496D2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23" y="1690324"/>
            <a:ext cx="1079500" cy="1079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C2317C6-3DDC-19DD-81D4-E06DC60158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769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98C39D-11DA-BC4D-9DF6-9769B731E444}"/>
              </a:ext>
            </a:extLst>
          </p:cNvPr>
          <p:cNvSpPr txBox="1"/>
          <p:nvPr/>
        </p:nvSpPr>
        <p:spPr>
          <a:xfrm>
            <a:off x="2004646" y="410308"/>
            <a:ext cx="81827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Локальные переменные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(array):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(element)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'Hello'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'world'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456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789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Переменные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 –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локальные 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Они не существуют снаружи от функции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42E3BAA-E717-E359-29E5-FC5F04CDE8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733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64A01F-F235-7341-87D2-EDAFD0D24C5D}"/>
              </a:ext>
            </a:extLst>
          </p:cNvPr>
          <p:cNvSpPr txBox="1"/>
          <p:nvPr/>
        </p:nvSpPr>
        <p:spPr>
          <a:xfrm>
            <a:off x="1969477" y="410308"/>
            <a:ext cx="82178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Несколько имён одной переменной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DADF912-C0A0-B349-B38A-7285F2C2B9CA}"/>
              </a:ext>
            </a:extLst>
          </p:cNvPr>
          <p:cNvSpPr/>
          <p:nvPr/>
        </p:nvSpPr>
        <p:spPr>
          <a:xfrm>
            <a:off x="6096000" y="1041400"/>
            <a:ext cx="45719" cy="4495800"/>
          </a:xfrm>
          <a:custGeom>
            <a:avLst/>
            <a:gdLst/>
            <a:ahLst/>
            <a:cxnLst/>
            <a:rect l="l" t="t" r="r" b="b"/>
            <a:pathLst>
              <a:path h="9116060">
                <a:moveTo>
                  <a:pt x="0" y="0"/>
                </a:moveTo>
                <a:lnTo>
                  <a:pt x="0" y="9115685"/>
                </a:lnTo>
              </a:path>
            </a:pathLst>
          </a:custGeom>
          <a:ln w="31414">
            <a:solidFill>
              <a:srgbClr val="80808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24261-30EB-C842-AE6A-5C760997EA82}"/>
              </a:ext>
            </a:extLst>
          </p:cNvPr>
          <p:cNvSpPr txBox="1"/>
          <p:nvPr/>
        </p:nvSpPr>
        <p:spPr>
          <a:xfrm>
            <a:off x="1969477" y="1041400"/>
            <a:ext cx="36296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(array):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(element)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'Hello'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'world'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(words)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Обращаемся к массиву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 имени аргумента –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локальная переменная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7C5A5F-6F05-AD42-9CCF-ACCBB63F712D}"/>
              </a:ext>
            </a:extLst>
          </p:cNvPr>
          <p:cNvSpPr txBox="1"/>
          <p:nvPr/>
        </p:nvSpPr>
        <p:spPr>
          <a:xfrm>
            <a:off x="6137552" y="1041400"/>
            <a:ext cx="405397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(element)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'Hello'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'world'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(words)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Обращаемся к массиву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 имени внешней переменной –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глобальная переменная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2A178D5-FC87-D29D-7CAC-995B8F1DE8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8898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DADF912-C0A0-B349-B38A-7285F2C2B9CA}"/>
              </a:ext>
            </a:extLst>
          </p:cNvPr>
          <p:cNvSpPr/>
          <p:nvPr/>
        </p:nvSpPr>
        <p:spPr>
          <a:xfrm>
            <a:off x="6095481" y="1041400"/>
            <a:ext cx="122438" cy="4368789"/>
          </a:xfrm>
          <a:custGeom>
            <a:avLst/>
            <a:gdLst/>
            <a:ahLst/>
            <a:cxnLst/>
            <a:rect l="l" t="t" r="r" b="b"/>
            <a:pathLst>
              <a:path h="9116060">
                <a:moveTo>
                  <a:pt x="0" y="0"/>
                </a:moveTo>
                <a:lnTo>
                  <a:pt x="0" y="9115685"/>
                </a:lnTo>
              </a:path>
            </a:pathLst>
          </a:custGeom>
          <a:ln w="31414">
            <a:solidFill>
              <a:srgbClr val="80808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8F9418-CCEB-E24E-B024-5D68A7CA04E8}"/>
              </a:ext>
            </a:extLst>
          </p:cNvPr>
          <p:cNvSpPr txBox="1"/>
          <p:nvPr/>
        </p:nvSpPr>
        <p:spPr>
          <a:xfrm>
            <a:off x="1965309" y="410308"/>
            <a:ext cx="81369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Глобальные переменные плохи для передачи значения в функцию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0C1A0-8801-6141-83A0-0C5865FB698C}"/>
              </a:ext>
            </a:extLst>
          </p:cNvPr>
          <p:cNvSpPr txBox="1"/>
          <p:nvPr/>
        </p:nvSpPr>
        <p:spPr>
          <a:xfrm>
            <a:off x="2000478" y="1041400"/>
            <a:ext cx="363832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(array):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(element)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'Hello'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'world'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abc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'def'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5A341-79CD-5948-8CE2-69EC978E483C}"/>
              </a:ext>
            </a:extLst>
          </p:cNvPr>
          <p:cNvSpPr txBox="1"/>
          <p:nvPr/>
        </p:nvSpPr>
        <p:spPr>
          <a:xfrm>
            <a:off x="6172720" y="1041400"/>
            <a:ext cx="359260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(element)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'Hello'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'world'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abc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'def'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219D0C-2BF7-4C4F-BCD6-B17D549CEFA5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16CA86-A626-184F-96FD-292DADCA9B16}"/>
              </a:ext>
            </a:extLst>
          </p:cNvPr>
          <p:cNvSpPr txBox="1"/>
          <p:nvPr/>
        </p:nvSpPr>
        <p:spPr>
          <a:xfrm>
            <a:off x="2000478" y="4370494"/>
            <a:ext cx="2692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abc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315427-94BB-5E4C-8610-D021380AEAC3}"/>
              </a:ext>
            </a:extLst>
          </p:cNvPr>
          <p:cNvSpPr txBox="1"/>
          <p:nvPr/>
        </p:nvSpPr>
        <p:spPr>
          <a:xfrm>
            <a:off x="6172720" y="4370494"/>
            <a:ext cx="2743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world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96A54DC-F116-46A0-8011-1DEAA48FA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314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9E8F8-E8F7-9C4D-82BF-8866AB0876B7}"/>
              </a:ext>
            </a:extLst>
          </p:cNvPr>
          <p:cNvSpPr txBox="1"/>
          <p:nvPr/>
        </p:nvSpPr>
        <p:spPr>
          <a:xfrm>
            <a:off x="2004646" y="410308"/>
            <a:ext cx="818270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Глобальные переменные – «константы»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ENGLISH_RAINBOW_COLORS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'red'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'orange'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'yellow'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'green'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'blue'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'indigo'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'violet'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RUSSIAN_RAINBOW_COLORS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красный'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'оранжевый'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'желтый'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'зеленый'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'голубой'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'синий'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'фиолетовый'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rainbow_color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(index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russian_or_english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russian_or_english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russian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(RUSSIAN_RAINBOW_COLORS[index])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elif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russian_or_english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english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(ENGLISH_RAINBOW_COLORS[index])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Неверный язык'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rainbow_color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russian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rainbow_color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english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0B0F1B3-3EC7-6156-6661-F41574C37D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125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CF81E2-869A-A145-9549-DC863DAF16F4}"/>
              </a:ext>
            </a:extLst>
          </p:cNvPr>
          <p:cNvSpPr txBox="1"/>
          <p:nvPr/>
        </p:nvSpPr>
        <p:spPr>
          <a:xfrm>
            <a:off x="2004646" y="410308"/>
            <a:ext cx="818270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Иногда константы лучше внести внутрь функции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rainbow_color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(index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russian_or_english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ENGLISH_RAINBOW_COLORS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'red'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'orange'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'yellow'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'green'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   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'blue'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'indigo'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'violet'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RUSSIAN_RAINBOW_COLORS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красный'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'оранжевый'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'желтый'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'зеленый'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'голубой'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'синий'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'фиолетовый'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russian_or_english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russian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(RUSSIAN_RAINBOW_COLORS[index])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elif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russian_or_english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english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(ENGLISH_RAINBOW_COLORS[index])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Неверный язык'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rainbow_color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russian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rainbow_color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english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9EEE9D8-FB6E-C114-F839-E809897CAF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493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6E44B6-2267-F242-9815-E6165C10CD11}"/>
              </a:ext>
            </a:extLst>
          </p:cNvPr>
          <p:cNvSpPr txBox="1"/>
          <p:nvPr/>
        </p:nvSpPr>
        <p:spPr>
          <a:xfrm>
            <a:off x="1969477" y="410308"/>
            <a:ext cx="6197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Чтение внешних переменных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3.14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print_circle_length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(radius):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perimeter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Pi * radius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Длина окружности: 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perimeter)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print_circle_length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B5881BC-ED87-9B32-4C57-323BEF89B7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433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AD116-1294-D64C-9541-3309F54ACB69}"/>
              </a:ext>
            </a:extLst>
          </p:cNvPr>
          <p:cNvSpPr txBox="1"/>
          <p:nvPr/>
        </p:nvSpPr>
        <p:spPr>
          <a:xfrm>
            <a:off x="2004646" y="410308"/>
            <a:ext cx="61976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Запись внешних переменных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area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Красная площадь'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print_square_area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(length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area = length * width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Площадь площади: 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area)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Место встречи: 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area)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print_square_area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330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75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Повторяю, место встречи: 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area)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6C7C54F-5E64-4208-C614-717CFB1221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4121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800" spc="45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Сокрытие</a:t>
            </a:r>
            <a:r>
              <a:rPr lang="ru-RU" sz="4800" spc="-19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 </a:t>
            </a:r>
            <a:r>
              <a:rPr lang="ru-RU" sz="4800" spc="345">
                <a:latin typeface="fs songarak 1" pitchFamily="2" charset="0"/>
                <a:ea typeface="fs songarak 1" pitchFamily="2" charset="0"/>
                <a:cs typeface="fs songarak 1" pitchFamily="2" charset="0"/>
              </a:rPr>
              <a:t>(</a:t>
            </a:r>
            <a:r>
              <a:rPr lang="en-GB" sz="4800" spc="345">
                <a:latin typeface="fs songarak 1" pitchFamily="2" charset="0"/>
                <a:ea typeface="fs songarak 1" pitchFamily="2" charset="0"/>
                <a:cs typeface="fs songarak 1" pitchFamily="2" charset="0"/>
              </a:rPr>
              <a:t>shadowing)</a:t>
            </a:r>
            <a:r>
              <a:rPr lang="en-GB" sz="4800" spc="-19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 </a:t>
            </a:r>
            <a:r>
              <a:rPr lang="ru-RU" sz="4800" spc="35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переменных</a:t>
            </a:r>
            <a:endParaRPr lang="ru-RU" sz="4800" dirty="0"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7EC42620-2946-9E4D-94C6-B3C16313B6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0999" y="1618840"/>
            <a:ext cx="6790001" cy="4488313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0695D1-BF08-8BDA-BAFD-7F4513D06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190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B115F6-6DD4-9545-8C05-A23D9900E25B}"/>
              </a:ext>
            </a:extLst>
          </p:cNvPr>
          <p:cNvSpPr txBox="1"/>
          <p:nvPr/>
        </p:nvSpPr>
        <p:spPr>
          <a:xfrm>
            <a:off x="2004646" y="420779"/>
            <a:ext cx="6197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Использование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print_square_area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(length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area = length * width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Площадь площади: 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area)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area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Красная площадь'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Место встречи: 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area)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print_square_area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330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75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Повторяю, место встречи: 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area)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main()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6136477-81DB-BE1C-560F-1B4880E0B7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504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800" spc="45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Разделение областей видимости</a:t>
            </a:r>
            <a:endParaRPr lang="ru-RU" sz="4800" dirty="0"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34AE2653-E9AC-4C41-8C5E-0208E7B8DF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177" y="1308416"/>
            <a:ext cx="5319645" cy="4965384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3FE8FD9-02C2-27A1-EB38-81DCBC6F31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5023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47AF0-A120-134A-801D-F0A335AE1E1F}"/>
              </a:ext>
            </a:extLst>
          </p:cNvPr>
          <p:cNvSpPr txBox="1"/>
          <p:nvPr/>
        </p:nvSpPr>
        <p:spPr>
          <a:xfrm>
            <a:off x="2004646" y="420779"/>
            <a:ext cx="80283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Присваивание глобальных переменных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ask_number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ask_again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global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ask_number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ask_number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ask_number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Ты спрашиваешь меня уже в'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ask_number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'-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й раз'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ask_again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ask_again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ask_again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0F6DAC9-CBA9-F4AC-9DBC-87573F5041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199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solidFill>
              <a:srgbClr val="ED395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47AF0-A120-134A-801D-F0A335AE1E1F}"/>
              </a:ext>
            </a:extLst>
          </p:cNvPr>
          <p:cNvSpPr txBox="1"/>
          <p:nvPr/>
        </p:nvSpPr>
        <p:spPr>
          <a:xfrm>
            <a:off x="2004646" y="420779"/>
            <a:ext cx="80283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Присваивание глобальных переменных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ask_number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ask_again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global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ask_number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ask_number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ask_number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Ты спрашиваешь меня уже в'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ask_number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'-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й раз'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ask_again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ask_again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ask_again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657F9C-F98B-DF4C-890E-6649604E9CF4}"/>
              </a:ext>
            </a:extLst>
          </p:cNvPr>
          <p:cNvCxnSpPr/>
          <p:nvPr/>
        </p:nvCxnSpPr>
        <p:spPr>
          <a:xfrm>
            <a:off x="2514600" y="2070100"/>
            <a:ext cx="2247900" cy="0"/>
          </a:xfrm>
          <a:prstGeom prst="line">
            <a:avLst/>
          </a:prstGeom>
          <a:ln w="25400">
            <a:solidFill>
              <a:srgbClr val="ED395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AED025-B51B-1343-924A-A868D3F22C4F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4F5B8E1-F371-594A-8996-ECE5E0C5DBAF}"/>
              </a:ext>
            </a:extLst>
          </p:cNvPr>
          <p:cNvSpPr txBox="1"/>
          <p:nvPr/>
        </p:nvSpPr>
        <p:spPr>
          <a:xfrm>
            <a:off x="1905978" y="4324328"/>
            <a:ext cx="82813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4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Traceback (most recent call last):</a:t>
            </a:r>
          </a:p>
          <a:p>
            <a:r>
              <a:rPr lang="en-RU" sz="14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...</a:t>
            </a:r>
          </a:p>
          <a:p>
            <a:r>
              <a:rPr lang="en-RU" sz="1400" dirty="0">
                <a:solidFill>
                  <a:srgbClr val="ED395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UnboundLocalError: local variable 'ask_number' referenced before assignment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125A22A-FD43-BCEE-0D12-D865CBF9E9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166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solidFill>
              <a:srgbClr val="ED395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AED025-B51B-1343-924A-A868D3F22C4F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11173AA-E676-AD43-A74B-780BBEF97CEE}"/>
              </a:ext>
            </a:extLst>
          </p:cNvPr>
          <p:cNvSpPr txBox="1"/>
          <p:nvPr/>
        </p:nvSpPr>
        <p:spPr>
          <a:xfrm>
            <a:off x="2004645" y="410307"/>
            <a:ext cx="81475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Аргумент функции используется так же как локальная переменная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(name):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name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товарищ'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Здравствуй,'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Вася'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3F29AE-B2A3-7C4A-B49A-68E43650BDC5}"/>
              </a:ext>
            </a:extLst>
          </p:cNvPr>
          <p:cNvSpPr txBox="1"/>
          <p:nvPr/>
        </p:nvSpPr>
        <p:spPr>
          <a:xfrm>
            <a:off x="2004645" y="4407240"/>
            <a:ext cx="619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Вася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Здравствуй, товарищ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EECF719-24C7-5040-A1DB-21EEF12002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203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solidFill>
              <a:srgbClr val="ED395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AED025-B51B-1343-924A-A868D3F22C4F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63F29AE-B2A3-7C4A-B49A-68E43650BDC5}"/>
              </a:ext>
            </a:extLst>
          </p:cNvPr>
          <p:cNvSpPr txBox="1"/>
          <p:nvPr/>
        </p:nvSpPr>
        <p:spPr>
          <a:xfrm>
            <a:off x="2004645" y="4407240"/>
            <a:ext cx="619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Вася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7FC9B2-DD82-A644-AE11-674458C42837}"/>
              </a:ext>
            </a:extLst>
          </p:cNvPr>
          <p:cNvSpPr txBox="1"/>
          <p:nvPr/>
        </p:nvSpPr>
        <p:spPr>
          <a:xfrm>
            <a:off x="2004644" y="410308"/>
            <a:ext cx="783785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Аргумент функции, как локальная переменная,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перекрывает глобальную переменную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Петя'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(name):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Вася'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BFD0C97-9F92-AF94-66FE-9418B0B65D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166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1E0022-A919-44AF-8078-87723532D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97" y="1336121"/>
            <a:ext cx="5856006" cy="2838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42F346-FC6A-493B-995E-DB2FC357CBE3}"/>
              </a:ext>
            </a:extLst>
          </p:cNvPr>
          <p:cNvSpPr txBox="1"/>
          <p:nvPr/>
        </p:nvSpPr>
        <p:spPr>
          <a:xfrm>
            <a:off x="3721860" y="2710447"/>
            <a:ext cx="4696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+mj-lt"/>
                <a:cs typeface="Arial" panose="020B0604020202020204" pitchFamily="34" charset="0"/>
              </a:rPr>
              <a:t>Time-out</a:t>
            </a:r>
            <a:endParaRPr lang="ko-KR" altLang="en-US" sz="44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8036D483-EE8C-FE4B-A44F-1813496D2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23" y="1690324"/>
            <a:ext cx="1079500" cy="1079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5FE7076-69B6-E3F8-CFAB-2F7D0CF3D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8377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889250" y="2539405"/>
            <a:ext cx="6413500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Возврат нескольких  значений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D2EAF23-EA68-9767-EB77-6189836E6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1534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0AA7D-451D-574F-A2A9-F9574D42C542}"/>
              </a:ext>
            </a:extLst>
          </p:cNvPr>
          <p:cNvSpPr txBox="1"/>
          <p:nvPr/>
        </p:nvSpPr>
        <p:spPr>
          <a:xfrm>
            <a:off x="2004646" y="410308"/>
            <a:ext cx="818270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Меняет ли функция значения внешних переменных?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Петя'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(name):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name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товарищ'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Здравствуй,"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greet(name)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"Name:"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Что будет выведено в функции?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Чему будет равен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Name?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8" name="Picture 7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51F41F97-82C2-BA46-A28E-9644C3DD1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06" y="2499563"/>
            <a:ext cx="1073428" cy="107342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FB77FE-ABF3-C988-5ED4-0F7A91D453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331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80AA7D-451D-574F-A2A9-F9574D42C542}"/>
              </a:ext>
            </a:extLst>
          </p:cNvPr>
          <p:cNvSpPr txBox="1"/>
          <p:nvPr/>
        </p:nvSpPr>
        <p:spPr>
          <a:xfrm>
            <a:off x="2004646" y="410308"/>
            <a:ext cx="81827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Меняет ли функция значения внешних переменных?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Петя'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(name):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name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товарищ'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Здравствуй,"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greet(name)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"Name:"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2E5BA5-58F9-5E46-9E4E-BCB0DBFFF809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367525-5022-4442-857D-6C0950D4A66C}"/>
              </a:ext>
            </a:extLst>
          </p:cNvPr>
          <p:cNvSpPr txBox="1"/>
          <p:nvPr/>
        </p:nvSpPr>
        <p:spPr>
          <a:xfrm>
            <a:off x="2004646" y="4324328"/>
            <a:ext cx="619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 Петя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Здравствуй, товарищ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Name: Петя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B4B84A7-2786-6E9A-A5E4-BFBF23CD87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97304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BA074-9296-C346-977D-E90D4E9039D3}"/>
              </a:ext>
            </a:extLst>
          </p:cNvPr>
          <p:cNvSpPr txBox="1"/>
          <p:nvPr/>
        </p:nvSpPr>
        <p:spPr>
          <a:xfrm>
            <a:off x="2004646" y="420779"/>
            <a:ext cx="81827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Семантика вызова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print_goodbye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'Goodbye'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print_cruel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'cruel'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print_world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'world'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Как скомбинировать функции, чтобы напечатать </a:t>
            </a:r>
            <a:endParaRPr lang="en-US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Goodbye cruel world”?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8" name="Picture 7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E8EF38C5-CCA1-6F43-B997-FC2B27545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06" y="2499563"/>
            <a:ext cx="1073428" cy="107342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5260BA2-EBE0-A019-C7F9-72572A5BD8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493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461D0F-D54B-C146-AD52-E130E2B9246D}"/>
              </a:ext>
            </a:extLst>
          </p:cNvPr>
          <p:cNvSpPr txBox="1"/>
          <p:nvPr/>
        </p:nvSpPr>
        <p:spPr>
          <a:xfrm>
            <a:off x="2004646" y="410308"/>
            <a:ext cx="818270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Семантика вызова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print_goodbye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'Goodbye'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print_cruel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'cruel'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print_world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'world'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Ответ: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print_world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print_cruel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print_goodbye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None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6FD97F0-6821-AE29-0EEF-E4ED6A5506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211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1E17EE-B1DB-E74F-8F57-20710DBEDA97}"/>
              </a:ext>
            </a:extLst>
          </p:cNvPr>
          <p:cNvSpPr txBox="1"/>
          <p:nvPr/>
        </p:nvSpPr>
        <p:spPr>
          <a:xfrm>
            <a:off x="2004646" y="410308"/>
            <a:ext cx="61976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Переименуем переменные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Петя'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(name):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name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товарищ'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Здравствуй,"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greet(name)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"Name:"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A290A40-016C-1F61-69A2-B98403C3A8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326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740FF-C3D7-7347-A8ED-CD61ACA359C9}"/>
              </a:ext>
            </a:extLst>
          </p:cNvPr>
          <p:cNvSpPr txBox="1"/>
          <p:nvPr/>
        </p:nvSpPr>
        <p:spPr>
          <a:xfrm>
            <a:off x="2004646" y="410308"/>
            <a:ext cx="61976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Переименуем переменные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Петя'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(person):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Привет,"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person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товарищ'</a:t>
            </a:r>
            <a:b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Здравствуй,"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greet(name)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"Name:"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5282108-8115-074A-A291-9185B262FD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639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829C0B7D-E721-C14D-9EB7-527AF35BAE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6072" y="771319"/>
            <a:ext cx="8999855" cy="565488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68A9F3-D365-4D45-6FAC-A7E9896641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8051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889250" y="2539405"/>
            <a:ext cx="6413500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Функции, изменяющие  значение аргумента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50C7F30-7B6C-8293-3AE3-2F952F3A3B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7921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2E5BA5-58F9-5E46-9E4E-BCB0DBFFF809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8374246-D5B1-1443-BA27-A15EBC95EBBE}"/>
              </a:ext>
            </a:extLst>
          </p:cNvPr>
          <p:cNvSpPr txBox="1"/>
          <p:nvPr/>
        </p:nvSpPr>
        <p:spPr>
          <a:xfrm>
            <a:off x="2004646" y="410307"/>
            <a:ext cx="720285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меняет значения элементов внешнего списка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convert_to_squares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(array):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(array)):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array[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array[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**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convert_to_squares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E8DFA2-13EE-F344-8F87-C24E1D1F3EA5}"/>
              </a:ext>
            </a:extLst>
          </p:cNvPr>
          <p:cNvSpPr txBox="1"/>
          <p:nvPr/>
        </p:nvSpPr>
        <p:spPr>
          <a:xfrm>
            <a:off x="2004646" y="4342863"/>
            <a:ext cx="619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[1, 4, 9, 16, 25, 36, 49, 64, 81]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0435719-FEBA-71AA-EB8D-C08977D264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04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5B4E2-2BC3-0348-8B7F-720C2B5B0818}"/>
              </a:ext>
            </a:extLst>
          </p:cNvPr>
          <p:cNvSpPr txBox="1"/>
          <p:nvPr/>
        </p:nvSpPr>
        <p:spPr>
          <a:xfrm>
            <a:off x="2004646" y="410308"/>
            <a:ext cx="6197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Меняет ли эта функция список?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list_of_squares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(array):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new_array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(array)):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new_array.append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(array[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**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new_array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list_of_squares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Что выведет?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8" name="Picture 7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E25E7C6C-32BC-3C4D-8407-5AA537E49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06" y="2499563"/>
            <a:ext cx="1073428" cy="107342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9B05BE3-136E-9C0A-0128-54D945F7BF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288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889250" y="2539404"/>
            <a:ext cx="6413500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Объекты: одни и те же  или одинаковые?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A9B8628-C050-40AF-0055-8A30296384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8716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AB017E2-561C-4BA5-8A8B-E33D3EBC4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500" y="4161246"/>
            <a:ext cx="1606550" cy="16065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2868096-103D-42D2-8649-D9E45877F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090204"/>
            <a:ext cx="10401300" cy="3989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0CF278-37AF-4223-99CD-BED440948CD2}"/>
              </a:ext>
            </a:extLst>
          </p:cNvPr>
          <p:cNvSpPr txBox="1"/>
          <p:nvPr/>
        </p:nvSpPr>
        <p:spPr>
          <a:xfrm>
            <a:off x="1847850" y="1348448"/>
            <a:ext cx="9112250" cy="25545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У каждого объекта есть уникальный номер – </a:t>
            </a:r>
            <a:r>
              <a:rPr lang="en-GB" altLang="ko-KR" sz="4000" b="1" dirty="0">
                <a:ea typeface="fs songarak 1" pitchFamily="2" charset="0"/>
                <a:cs typeface="fs songarak 1" pitchFamily="2" charset="0"/>
              </a:rPr>
              <a:t>id</a:t>
            </a:r>
          </a:p>
          <a:p>
            <a:pPr algn="ctr"/>
            <a:r>
              <a:rPr lang="ru-RU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Объекты можно сравнивать по значению, а можно  сравнивать по </a:t>
            </a:r>
            <a:r>
              <a:rPr lang="en-GB" altLang="ko-KR" sz="4000" b="1" dirty="0">
                <a:ea typeface="fs songarak 1" pitchFamily="2" charset="0"/>
                <a:cs typeface="fs songarak 1" pitchFamily="2" charset="0"/>
              </a:rPr>
              <a:t>id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6B207DC-97F6-19ED-7D7F-173424C389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8582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AB017E2-561C-4BA5-8A8B-E33D3EBC4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500" y="4161246"/>
            <a:ext cx="1606550" cy="16065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2868096-103D-42D2-8649-D9E45877F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090204"/>
            <a:ext cx="10401300" cy="3989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0CF278-37AF-4223-99CD-BED440948CD2}"/>
              </a:ext>
            </a:extLst>
          </p:cNvPr>
          <p:cNvSpPr txBox="1"/>
          <p:nvPr/>
        </p:nvSpPr>
        <p:spPr>
          <a:xfrm>
            <a:off x="1847850" y="1348448"/>
            <a:ext cx="9112250" cy="255454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GB" altLang="ko-KR" sz="4000" b="1" dirty="0">
                <a:ea typeface="fs songarak 1" pitchFamily="2" charset="0"/>
                <a:cs typeface="fs songarak 1" pitchFamily="2" charset="0"/>
              </a:rPr>
              <a:t>a == b </a:t>
            </a:r>
            <a:r>
              <a:rPr lang="en-GB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– </a:t>
            </a:r>
            <a:r>
              <a:rPr lang="ru-RU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объекты (значения) </a:t>
            </a:r>
            <a:r>
              <a:rPr lang="en-GB" altLang="ko-KR" sz="4000" dirty="0">
                <a:ea typeface="fs songarak 1" pitchFamily="2" charset="0"/>
                <a:cs typeface="fs songarak 1" pitchFamily="2" charset="0"/>
              </a:rPr>
              <a:t>a</a:t>
            </a:r>
            <a:r>
              <a:rPr lang="en-GB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 </a:t>
            </a:r>
            <a:r>
              <a:rPr lang="ru-RU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и </a:t>
            </a:r>
            <a:r>
              <a:rPr lang="en-GB" altLang="ko-KR" sz="4000" dirty="0">
                <a:ea typeface="fs songarak 1" pitchFamily="2" charset="0"/>
                <a:cs typeface="fs songarak 1" pitchFamily="2" charset="0"/>
              </a:rPr>
              <a:t>b</a:t>
            </a:r>
            <a:r>
              <a:rPr lang="en-GB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 – </a:t>
            </a:r>
            <a:r>
              <a:rPr lang="ru-RU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одинаковые</a:t>
            </a:r>
          </a:p>
          <a:p>
            <a:pPr algn="ctr"/>
            <a:r>
              <a:rPr lang="en-GB" altLang="ko-KR" sz="4000" b="1" dirty="0">
                <a:ea typeface="fs songarak 1" pitchFamily="2" charset="0"/>
                <a:cs typeface="fs songarak 1" pitchFamily="2" charset="0"/>
              </a:rPr>
              <a:t>a is b </a:t>
            </a:r>
            <a:r>
              <a:rPr lang="en-GB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– </a:t>
            </a:r>
            <a:r>
              <a:rPr lang="ru-RU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объекты </a:t>
            </a:r>
            <a:r>
              <a:rPr lang="en-GB" altLang="ko-KR" sz="4000" dirty="0">
                <a:ea typeface="fs songarak 1" pitchFamily="2" charset="0"/>
                <a:cs typeface="fs songarak 1" pitchFamily="2" charset="0"/>
              </a:rPr>
              <a:t>a</a:t>
            </a:r>
            <a:r>
              <a:rPr lang="en-GB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 </a:t>
            </a:r>
            <a:r>
              <a:rPr lang="ru-RU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и </a:t>
            </a:r>
            <a:r>
              <a:rPr lang="en-GB" altLang="ko-KR" sz="4000" dirty="0">
                <a:ea typeface="fs songarak 1" pitchFamily="2" charset="0"/>
                <a:cs typeface="fs songarak 1" pitchFamily="2" charset="0"/>
              </a:rPr>
              <a:t>b</a:t>
            </a:r>
            <a:r>
              <a:rPr lang="en-GB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 – </a:t>
            </a:r>
            <a:r>
              <a:rPr lang="ru-RU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это один и тот же объект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4DBAB91-40ED-9DD5-F061-868BC03AF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429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AB017E2-561C-4BA5-8A8B-E33D3EBC4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500" y="4161246"/>
            <a:ext cx="1606550" cy="16065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2868096-103D-42D2-8649-D9E45877F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090204"/>
            <a:ext cx="10401300" cy="3989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0CF278-37AF-4223-99CD-BED440948CD2}"/>
              </a:ext>
            </a:extLst>
          </p:cNvPr>
          <p:cNvSpPr txBox="1"/>
          <p:nvPr/>
        </p:nvSpPr>
        <p:spPr>
          <a:xfrm>
            <a:off x="1847850" y="1964001"/>
            <a:ext cx="9112250" cy="132343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n-GB" altLang="ko-KR" sz="4000" b="1" dirty="0">
                <a:ea typeface="fs songarak 1" pitchFamily="2" charset="0"/>
                <a:cs typeface="fs songarak 1" pitchFamily="2" charset="0"/>
              </a:rPr>
              <a:t>id(a) == id(b) </a:t>
            </a:r>
            <a:r>
              <a:rPr lang="en-GB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– </a:t>
            </a:r>
            <a:r>
              <a:rPr lang="ru-RU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тогда и только тогда их </a:t>
            </a:r>
            <a:r>
              <a:rPr lang="en-GB" altLang="ko-KR" sz="4000" dirty="0">
                <a:ea typeface="fs songarak 1" pitchFamily="2" charset="0"/>
                <a:cs typeface="fs songarak 1" pitchFamily="2" charset="0"/>
              </a:rPr>
              <a:t>id</a:t>
            </a:r>
            <a:r>
              <a:rPr lang="en-GB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 </a:t>
            </a:r>
            <a:r>
              <a:rPr lang="ru-RU" altLang="ko-KR" sz="4000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совпадает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75271D8-427B-BAA8-F7F3-9043814C3C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2809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543A2-0C40-5446-B450-07EB5D624563}"/>
              </a:ext>
            </a:extLst>
          </p:cNvPr>
          <p:cNvSpPr txBox="1"/>
          <p:nvPr/>
        </p:nvSpPr>
        <p:spPr>
          <a:xfrm>
            <a:off x="2004646" y="437460"/>
            <a:ext cx="81827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Изменяемые и неизменяемые объекты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Числа – неизменяемые (</a:t>
            </a:r>
            <a:r>
              <a:rPr lang="ru-RU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иммутабельные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id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объекта "число 1"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+=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id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изменился,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-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это объект другого числа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E856D94-36BB-39CF-1A5A-406DCCDE6F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744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9EDA0A0E-5701-C645-81DE-95F80F157E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9033" y="497957"/>
            <a:ext cx="6673933" cy="6080643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2BB7706-F1BA-A1C0-03BD-7928433FE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3264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F6663-C2B7-8A4F-BB37-A607D1A64F69}"/>
              </a:ext>
            </a:extLst>
          </p:cNvPr>
          <p:cNvSpPr txBox="1"/>
          <p:nvPr/>
        </p:nvSpPr>
        <p:spPr>
          <a:xfrm>
            <a:off x="2004646" y="410308"/>
            <a:ext cx="81827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Изменяемые и неизменяемые объекты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Строки – неизменяемые (</a:t>
            </a:r>
            <a:r>
              <a:rPr lang="ru-RU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иммутабельные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'Hello'</a:t>
            </a:r>
            <a:b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id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строки "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Hello"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 +=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world'</a:t>
            </a:r>
            <a:b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id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другого объекта - строки "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Hello world"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B97ADF3-166F-FF46-C91B-CCB3B8075B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4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591749CE-7D32-DE41-B1E3-E632C108A86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5390" y="614949"/>
            <a:ext cx="7061219" cy="5856701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6C0C8D7-A5BA-8F3B-2C38-8758DCAB73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8431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84CC2A-284E-4641-958C-BE19B473366D}"/>
              </a:ext>
            </a:extLst>
          </p:cNvPr>
          <p:cNvSpPr txBox="1"/>
          <p:nvPr/>
        </p:nvSpPr>
        <p:spPr>
          <a:xfrm>
            <a:off x="2004646" y="410308"/>
            <a:ext cx="80664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Изменяемые и неизменяемые объекты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Списки – изменяемые (</a:t>
            </a:r>
            <a:r>
              <a:rPr lang="ru-RU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мутабельные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объекты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 = 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(s))  </a:t>
            </a:r>
            <a:r>
              <a:rPr lang="en-GB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id </a:t>
            </a: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списка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 += 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(s))  </a:t>
            </a:r>
            <a:r>
              <a:rPr lang="en-GB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тот же </a:t>
            </a:r>
            <a:r>
              <a:rPr lang="en-GB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 </a:t>
            </a: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для того же списка, но с измененным содержимым</a:t>
            </a:r>
            <a:endParaRPr lang="en-RU" sz="14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A398C26-FA96-F3A7-3128-C7457174CE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011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210D35BA-3FCD-904B-8A94-B817990AA67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0431" y="672957"/>
            <a:ext cx="6491138" cy="5969143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E525DDB-3E26-593A-94F3-743A510846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98533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636A7-8A37-6442-A87B-3F875BAC57A7}"/>
              </a:ext>
            </a:extLst>
          </p:cNvPr>
          <p:cNvSpPr txBox="1"/>
          <p:nvPr/>
        </p:nvSpPr>
        <p:spPr>
          <a:xfrm>
            <a:off x="2004646" y="410308"/>
            <a:ext cx="81827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То, что объекты одинаковые не значит, </a:t>
            </a:r>
          </a:p>
          <a:p>
            <a:r>
              <a:rPr lang="en-US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что это один и тот же объект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молоко'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'яйца'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'овощи'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my_friends_fridge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молоко'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'яйца'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'овощи'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my_friends_fridge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Выведет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==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my_friends_fridge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Выведет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A505F88-10AF-6331-2B07-4C60F22105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389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1722E3-52A4-7545-B75F-24B8DAF448F0}"/>
              </a:ext>
            </a:extLst>
          </p:cNvPr>
          <p:cNvSpPr txBox="1"/>
          <p:nvPr/>
        </p:nvSpPr>
        <p:spPr>
          <a:xfrm>
            <a:off x="2004646" y="410308"/>
            <a:ext cx="81827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То, что объекты одинаковые не значит, </a:t>
            </a:r>
            <a:endParaRPr lang="en-US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что это один и тот же объект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молоко'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'яйца'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'овощи'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my_parents_fridge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my_fridge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my_parents_fridge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Выведет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==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my_parents_fridge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Выведет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ADD9CDB-2474-4BFC-074F-BBAAF40849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863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2E5BA5-58F9-5E46-9E4E-BCB0DBFFF809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0B05923-CD0B-EF41-8C9D-94E48A0A9CC4}"/>
              </a:ext>
            </a:extLst>
          </p:cNvPr>
          <p:cNvSpPr txBox="1"/>
          <p:nvPr/>
        </p:nvSpPr>
        <p:spPr>
          <a:xfrm>
            <a:off x="2004645" y="467480"/>
            <a:ext cx="8147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Один и тот же объект может иметь несколько имён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молоко'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'яйца'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'овощи'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my_parents_fridge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my_fridge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my_parents_fridge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мясо'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my_fridge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3A7251-B871-7347-B46F-40194783A2B5}"/>
              </a:ext>
            </a:extLst>
          </p:cNvPr>
          <p:cNvSpPr txBox="1"/>
          <p:nvPr/>
        </p:nvSpPr>
        <p:spPr>
          <a:xfrm>
            <a:off x="1969477" y="4412904"/>
            <a:ext cx="619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['молоко', 'яйца', 'овощи', 'мясо']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B4E2EE1-95FE-730F-AD54-E976DF248E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544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ECFE59-E5E3-E14E-8F80-DC2EB6EDD2A3}"/>
              </a:ext>
            </a:extLst>
          </p:cNvPr>
          <p:cNvSpPr txBox="1"/>
          <p:nvPr/>
        </p:nvSpPr>
        <p:spPr>
          <a:xfrm>
            <a:off x="2004646" y="410308"/>
            <a:ext cx="81827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Создание копии списка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Чтобы не изменить исходный список </a:t>
            </a:r>
            <a:endParaRPr lang="en-US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иногда требуется сделать копию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arr_copy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[:]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arr_copy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 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[1, 2, 3]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arr_copy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[42, 2, 3]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0B391CD-7C48-17AC-1FC4-B7055E3512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849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6D9DF-2588-904C-B6CE-077153475B1F}"/>
              </a:ext>
            </a:extLst>
          </p:cNvPr>
          <p:cNvSpPr txBox="1"/>
          <p:nvPr/>
        </p:nvSpPr>
        <p:spPr>
          <a:xfrm>
            <a:off x="2004646" y="410308"/>
            <a:ext cx="81827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Создание копии списка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 создании копии списка, элементы нового списка – те же самые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объекты, что элементы исходного списка (а не копии)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arr_copy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[:]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arr_copy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].append(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42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 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[[1, 42], [2], [3]]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arr_copy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[[1, 42], [2], [3]]</a:t>
            </a:r>
            <a:endParaRPr lang="ru-RU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arr_copy.append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ru-RU" sz="1600" dirty="0">
                <a:solidFill>
                  <a:srgbClr val="6897BB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 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[[1, 42], [2], [3]]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arr_copy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[[1, 42], [2], [3]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33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0E907D0-522E-539E-460F-2A42078333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53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EF5E60-CC07-DD47-80DF-BA0DEC72C752}"/>
              </a:ext>
            </a:extLst>
          </p:cNvPr>
          <p:cNvSpPr txBox="1"/>
          <p:nvPr/>
        </p:nvSpPr>
        <p:spPr>
          <a:xfrm>
            <a:off x="2004646" y="410308"/>
            <a:ext cx="750765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Создание 100% копии списка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copy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arr_copy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copy.deepcopy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arr_copy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].append(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42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 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[[1], [2], [3]]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arr_copy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[[1, 42], [2], [3]]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D30FA58-4213-4862-EB60-49CE2FB65A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0556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889250" y="2539404"/>
            <a:ext cx="6413500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Вопросы для  самопроверки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C8DED7E-B114-FD69-0B42-AE3AD3FE9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0047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40FAA-B654-8241-B739-FFB0CA1F39A5}"/>
              </a:ext>
            </a:extLst>
          </p:cNvPr>
          <p:cNvSpPr txBox="1"/>
          <p:nvPr/>
        </p:nvSpPr>
        <p:spPr>
          <a:xfrm>
            <a:off x="2004646" y="410308"/>
            <a:ext cx="75076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Что выведет на экран следующая программа и почему?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arr.sort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8" name="Picture 7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78A41951-7273-5941-B6DE-483A8DD9D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06" y="2499563"/>
            <a:ext cx="1073428" cy="107342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89BC234-CE3B-DC36-B85B-D34DD60042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580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40FAA-B654-8241-B739-FFB0CA1F39A5}"/>
              </a:ext>
            </a:extLst>
          </p:cNvPr>
          <p:cNvSpPr txBox="1"/>
          <p:nvPr/>
        </p:nvSpPr>
        <p:spPr>
          <a:xfrm>
            <a:off x="2004646" y="410308"/>
            <a:ext cx="75076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Что выведет на экран следующая программа и почему?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arr.sort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022B45-91BF-A642-B0C6-1EB6A5BB9488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4062E2-2623-0741-B304-687785BEA91A}"/>
              </a:ext>
            </a:extLst>
          </p:cNvPr>
          <p:cNvSpPr txBox="1"/>
          <p:nvPr/>
        </p:nvSpPr>
        <p:spPr>
          <a:xfrm>
            <a:off x="2004646" y="4345841"/>
            <a:ext cx="619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[2, 5, 90]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None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[2, 5, 90]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10B9B76-876F-06BB-81BB-9C52372670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508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pic>
        <p:nvPicPr>
          <p:cNvPr id="8" name="Picture 7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78A41951-7273-5941-B6DE-483A8DD9D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06" y="2499563"/>
            <a:ext cx="1073428" cy="10734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49EBA9-30A0-134F-A58E-EE1FA6F4FCB1}"/>
              </a:ext>
            </a:extLst>
          </p:cNvPr>
          <p:cNvSpPr txBox="1"/>
          <p:nvPr/>
        </p:nvSpPr>
        <p:spPr>
          <a:xfrm>
            <a:off x="2004646" y="410308"/>
            <a:ext cx="790135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Что выведет на экран следующая программа и почему?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double_x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global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x *=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double_x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8F24C35-D983-6548-92C2-881410577C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3545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9EBA9-30A0-134F-A58E-EE1FA6F4FCB1}"/>
              </a:ext>
            </a:extLst>
          </p:cNvPr>
          <p:cNvSpPr txBox="1"/>
          <p:nvPr/>
        </p:nvSpPr>
        <p:spPr>
          <a:xfrm>
            <a:off x="2004646" y="410308"/>
            <a:ext cx="790135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Что выведет на экран следующая программа и почему?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double_x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global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x *=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double_x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D9230B-D276-3F4F-B76D-8BBAE9C3AE3D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E52E4EC-5034-5147-AD1A-9E70131C6D09}"/>
              </a:ext>
            </a:extLst>
          </p:cNvPr>
          <p:cNvSpPr txBox="1"/>
          <p:nvPr/>
        </p:nvSpPr>
        <p:spPr>
          <a:xfrm>
            <a:off x="2004646" y="4345841"/>
            <a:ext cx="619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None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56AD702-8F7C-F047-AB51-1E29700F71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95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1E0022-A919-44AF-8078-87723532D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97" y="1336121"/>
            <a:ext cx="5856006" cy="2838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42F346-FC6A-493B-995E-DB2FC357CBE3}"/>
              </a:ext>
            </a:extLst>
          </p:cNvPr>
          <p:cNvSpPr txBox="1"/>
          <p:nvPr/>
        </p:nvSpPr>
        <p:spPr>
          <a:xfrm>
            <a:off x="3721860" y="2710447"/>
            <a:ext cx="4696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+mj-lt"/>
                <a:cs typeface="Arial" panose="020B0604020202020204" pitchFamily="34" charset="0"/>
              </a:rPr>
              <a:t>Time-out</a:t>
            </a:r>
            <a:endParaRPr lang="ko-KR" altLang="en-US" sz="44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8036D483-EE8C-FE4B-A44F-1813496D2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23" y="1690324"/>
            <a:ext cx="1079500" cy="1079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2641E53-AC7C-37BD-B639-9D0163842B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2578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889250" y="2539404"/>
            <a:ext cx="6413500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Распаковка</a:t>
            </a:r>
          </a:p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и запаковка значений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DC150A-18C3-BF8B-56B6-A4D6FFDAB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82859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E2B08D-CBE8-B54F-95CC-0183699CBE63}"/>
              </a:ext>
            </a:extLst>
          </p:cNvPr>
          <p:cNvSpPr txBox="1"/>
          <p:nvPr/>
        </p:nvSpPr>
        <p:spPr>
          <a:xfrm>
            <a:off x="2004646" y="410308"/>
            <a:ext cx="81827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Множественное присваивание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get_coordinates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get_coordinates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x =&gt; 1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(y)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y =&gt; 2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Результат функции, возвращающей несколько значений, </a:t>
            </a:r>
            <a:endParaRPr lang="en-US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можно разложить по отдельным переменным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9C830E7-1B9F-7267-A27C-96ED5492B6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365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479DA-FEF5-E444-AA44-08FA846CBE84}"/>
              </a:ext>
            </a:extLst>
          </p:cNvPr>
          <p:cNvSpPr txBox="1"/>
          <p:nvPr/>
        </p:nvSpPr>
        <p:spPr>
          <a:xfrm>
            <a:off x="2004646" y="410308"/>
            <a:ext cx="81827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Множественное присваивание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Это происходит, поскольку функция возвращает кортеж.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 кортеж можно разложить на составляющие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= 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2.5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со списком тоже работает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= 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2.5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x =&gt; 1.5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(y)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y =&gt; 2.5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B52131E-C2D8-1D22-7595-D31A7D1A16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843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70A77-F726-BD45-8CA7-FB7383DCEBF5}"/>
              </a:ext>
            </a:extLst>
          </p:cNvPr>
          <p:cNvSpPr txBox="1"/>
          <p:nvPr/>
        </p:nvSpPr>
        <p:spPr>
          <a:xfrm>
            <a:off x="2004646" y="410308"/>
            <a:ext cx="80918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Запаковывание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и распаковывание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Примеры: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= 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2.5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x = 1.5; y = 2.5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  = 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2.5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z = (1.5, 2.5)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2.5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x = 1.5; y = 2.5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Общие правила: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- Если справа от знака равенства больше одного значения,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  они запаковываются  в кортеж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- Если слева от знака равенства больше одной переменной,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  то присваиваемое  значение распаковывается по отдельным </a:t>
            </a:r>
            <a:endParaRPr lang="en-US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 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переменным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- </a:t>
            </a:r>
            <a:r>
              <a:rPr lang="ru-RU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Запаковывание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может комбинироваться с распаковыванием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DD030C5-3564-D6DA-67C4-1389D839AA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101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9DECD-69DB-E544-BD4A-6B0234D467EB}"/>
              </a:ext>
            </a:extLst>
          </p:cNvPr>
          <p:cNvSpPr txBox="1"/>
          <p:nvPr/>
        </p:nvSpPr>
        <p:spPr>
          <a:xfrm>
            <a:off x="2004646" y="481732"/>
            <a:ext cx="81827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Переменные со звёздочкой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Если перед именем переменной стоит звёздочка,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то все “лишние” значения  запаковываются в список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 записываются в эту переменную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*rest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 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1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(y) 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2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(rest)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[3, 4, 5, 6]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F94E0E5-BBB3-D2FB-4534-AE0D0D5BFC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646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F5CD17-0ACA-314D-AD5E-6CBFE16D4991}"/>
              </a:ext>
            </a:extLst>
          </p:cNvPr>
          <p:cNvSpPr txBox="1"/>
          <p:nvPr/>
        </p:nvSpPr>
        <p:spPr>
          <a:xfrm>
            <a:off x="2004646" y="410308"/>
            <a:ext cx="79521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Переменные со звёздочкой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Переменная со звёздочкой всегда будет списком,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даже если элементов один или ноль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*rest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(rest)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[3, 4, 5, 6]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*rest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(rest)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[3]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*rest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(rest)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[]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*rest 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Ошибка выполнения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54F5EE1-7DF9-E590-0ACF-9D55572BCA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160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28702-2F95-CD44-9D02-54DD57A9BBCD}"/>
              </a:ext>
            </a:extLst>
          </p:cNvPr>
          <p:cNvSpPr txBox="1"/>
          <p:nvPr/>
        </p:nvSpPr>
        <p:spPr>
          <a:xfrm>
            <a:off x="2004646" y="410308"/>
            <a:ext cx="818270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Возможности звёздочки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Переменная со звёздочкой может стоять на любом месте: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 конце списка, в начале, в середине.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Но может быть не больше одной такой переменной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names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surname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Анна Мария Луиза Медичи'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split()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(names)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['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Анна', 'Мария', 'Луиза']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(surname)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Медичи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9B3453-F5A4-F1FC-3CCD-A118726CBE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280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ECE62-C1FA-9447-BF34-A9263ED48856}"/>
              </a:ext>
            </a:extLst>
          </p:cNvPr>
          <p:cNvSpPr txBox="1"/>
          <p:nvPr/>
        </p:nvSpPr>
        <p:spPr>
          <a:xfrm>
            <a:off x="2004646" y="420779"/>
            <a:ext cx="818270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Возможности звёздочки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 помощи скобочек можно распаковывать даже вложенные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кортежи и списки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(b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c)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 = 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Если вы хотите распаковать единственное значение в кортеже,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то после имени переменной должна идти запятая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= 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(1,)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(b)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1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DA719A0-7CEB-47C8-48E1-70E2E25649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112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9C1FE4-66B4-FE4E-9257-ED488A63449B}"/>
              </a:ext>
            </a:extLst>
          </p:cNvPr>
          <p:cNvSpPr txBox="1"/>
          <p:nvPr/>
        </p:nvSpPr>
        <p:spPr>
          <a:xfrm>
            <a:off x="2004646" y="410308"/>
            <a:ext cx="6197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Список аргументов со звёздочкой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Звёздочка в списке аргументов позволяет передавать в функцию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произвольное число дополнительных аргументов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product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(first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*rest):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result = first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rest: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result *= value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product(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210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5EBEF68-6B71-3C3F-B5F8-42F4E80F0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433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6A4E7F-C280-AC42-8EC5-3688E9343115}"/>
              </a:ext>
            </a:extLst>
          </p:cNvPr>
          <p:cNvSpPr txBox="1"/>
          <p:nvPr/>
        </p:nvSpPr>
        <p:spPr>
          <a:xfrm>
            <a:off x="2004646" y="399267"/>
            <a:ext cx="809185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Распаковка аргументов при вызове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Звёздочка в передаваемых аргументах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позволяет распаковать список или кортеж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'cd'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gh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Здесь мы передаем просто список как один аргумент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['cd', '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', '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gh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']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 здесь мы раскрыли список 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получила три отдельных аргумента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cd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gh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Это аналогично вызову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gh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cd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gh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Раскрытие списка можно комбинировать с любыми аргументами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'ab'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yz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ab cd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gh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yz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 раскрытии может быть несколько аргументов со звездочкой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cd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gh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cd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ef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gh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C2BD730-764D-A0BD-A747-7B7FE47DE5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916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889250" y="2539403"/>
            <a:ext cx="6413500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Аргументы</a:t>
            </a:r>
          </a:p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по умолчанию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5882FF4-1AE6-4456-CF74-D8B76CDD4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03204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B4C022-91AE-3C49-B8B3-3E4DA9048D62}"/>
              </a:ext>
            </a:extLst>
          </p:cNvPr>
          <p:cNvSpPr txBox="1"/>
          <p:nvPr/>
        </p:nvSpPr>
        <p:spPr>
          <a:xfrm>
            <a:off x="2004646" y="410308"/>
            <a:ext cx="80918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Аргументы по умолчанию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'101'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101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'101'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101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'101'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5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Функция `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int`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имеет два аргумента,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но второй из них по умолчанию равен 10 </a:t>
            </a:r>
            <a:endParaRPr lang="en-US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его зачастую не указывают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D538F21-B1E1-7640-2C74-2C2752931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716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55779-6556-5D42-AD63-1CCE8DBFB5B7}"/>
              </a:ext>
            </a:extLst>
          </p:cNvPr>
          <p:cNvSpPr txBox="1"/>
          <p:nvPr/>
        </p:nvSpPr>
        <p:spPr>
          <a:xfrm>
            <a:off x="2004646" y="410308"/>
            <a:ext cx="81827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Аргументы по умолчанию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make_burger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typeOfMeat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withOnion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withTomato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withOnion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Луковые колечки'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withTomato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Ломтик помидора'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Котлета из'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typeOfMeat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Булочка'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make_burger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курица'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бургер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из курицы без лука, с помидорами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make_burger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курица'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 луком и помидорами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make_burger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курица'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True, False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 луком, без помидоров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A55DA8F-66B7-1070-C497-35B5E3AF3D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157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889250" y="2908734"/>
            <a:ext cx="6413500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Именованные аргументы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5560D50-C93E-B2C8-84D0-E19BD0E8F2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8756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DFA4E6-F814-B94F-97FB-8D991617390D}"/>
              </a:ext>
            </a:extLst>
          </p:cNvPr>
          <p:cNvSpPr txBox="1"/>
          <p:nvPr/>
        </p:nvSpPr>
        <p:spPr>
          <a:xfrm>
            <a:off x="2004646" y="410308"/>
            <a:ext cx="81827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Именованные аргументы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Когда-то у нас была функция проверки того,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есть ли в матрице элемент.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Вспомните сигнатуру без конспекта: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matrix_has_value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(matrix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Или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matrix_has_value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(value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matrix)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051BEA4-04F3-8C16-AFDF-8871437A29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19640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04B4C9-D03F-A548-930A-5A5C26D13EF3}"/>
              </a:ext>
            </a:extLst>
          </p:cNvPr>
          <p:cNvSpPr txBox="1"/>
          <p:nvPr/>
        </p:nvSpPr>
        <p:spPr>
          <a:xfrm>
            <a:off x="2004646" y="410308"/>
            <a:ext cx="81827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Именованные аргументы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Чтобы не приходилось запоминать неважные детали,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аргументы можно передавать не по порядку, а по имени: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 так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matrix_has_value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matrix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=[[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так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matrix_has_value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matrix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=[[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]])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F8D3FDD-7118-0B15-8CDB-4DC3CBDDE8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65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1E1482-C2AA-794B-AE1A-389C0EF6FC21}"/>
              </a:ext>
            </a:extLst>
          </p:cNvPr>
          <p:cNvSpPr txBox="1"/>
          <p:nvPr/>
        </p:nvSpPr>
        <p:spPr>
          <a:xfrm>
            <a:off x="1969477" y="410308"/>
            <a:ext cx="825304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Именованные аргументы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 определении функции ничего менять не требуется.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 вызове вы можете определять только те значения по умолчанию,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которые требуется: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make_burger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typeOfMeat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withOnion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=False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withTomato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=True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&lt;...&gt;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make_burger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typeOfMeat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говядина'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withTomato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5E4587E-2A33-106B-3407-86B4DB8E95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6671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1955800" y="2539402"/>
            <a:ext cx="8585200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Инструкция </a:t>
            </a:r>
            <a:r>
              <a:rPr lang="en-GB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pass.  </a:t>
            </a:r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Согласованность  аргументов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D288DE6-B710-C392-6372-60BCBB803E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64575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22D59D-C557-A04F-AA8A-93F27576383F}"/>
              </a:ext>
            </a:extLst>
          </p:cNvPr>
          <p:cNvSpPr txBox="1"/>
          <p:nvPr/>
        </p:nvSpPr>
        <p:spPr>
          <a:xfrm>
            <a:off x="2004646" y="410308"/>
            <a:ext cx="81827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Инструкция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pass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pass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используется, когда вам нужно сказать «ничего не делать»,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 синтаксис  требует наличия команды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game_over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pass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To Do: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написать вывод итогового результата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BAD9B1D-5DEC-92B7-B3CE-AD50F71B97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616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D094B1-BE15-4343-B1F3-45316C729647}"/>
              </a:ext>
            </a:extLst>
          </p:cNvPr>
          <p:cNvSpPr txBox="1"/>
          <p:nvPr/>
        </p:nvSpPr>
        <p:spPr>
          <a:xfrm>
            <a:off x="2004646" y="410308"/>
            <a:ext cx="81827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ничегонеделанья. Попытка №1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pass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Это работает, но неудобно, что мы не можем использовать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её с аргументами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6CE9FDD-4DD0-6F57-2382-BD826BFB4D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171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9928B-FDE6-5D44-A3E0-ACDCD07977FA}"/>
              </a:ext>
            </a:extLst>
          </p:cNvPr>
          <p:cNvSpPr txBox="1"/>
          <p:nvPr/>
        </p:nvSpPr>
        <p:spPr>
          <a:xfrm>
            <a:off x="2004646" y="410308"/>
            <a:ext cx="802835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ничегонеделанья. Попытка №2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*rest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pass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Любое"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"сказанное"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"вами слово"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"будет проигнорировано"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100500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None,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Теперь мы можем заменить любую функцию на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r>
              <a:rPr lang="en-GB" sz="1600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 меняя аргументы. 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7BB1B8-4DA0-1549-8A40-00FE0E1EB6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780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831B55-A5D4-2C44-A32B-3A5B27319C32}"/>
              </a:ext>
            </a:extLst>
          </p:cNvPr>
          <p:cNvSpPr txBox="1"/>
          <p:nvPr/>
        </p:nvSpPr>
        <p:spPr>
          <a:xfrm>
            <a:off x="2004646" y="410308"/>
            <a:ext cx="80918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Задание: «сломайте» функцию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Придумайте такой набор аргументов,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чтобы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 ними работал, а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–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 работал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*rest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pass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(&lt;???&gt;)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Работает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(&lt;???&gt;)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Выдаёт ошибку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8" name="Picture 7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A785D9ED-6876-9240-A1BC-2CF3E13CD4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06" y="2499563"/>
            <a:ext cx="1073428" cy="107342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8E8C770-37B2-AC86-07CE-12E5CCFAFD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246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B2039-B049-1943-A425-FE307EA72FAC}"/>
              </a:ext>
            </a:extLst>
          </p:cNvPr>
          <p:cNvSpPr txBox="1"/>
          <p:nvPr/>
        </p:nvSpPr>
        <p:spPr>
          <a:xfrm>
            <a:off x="2004646" y="410308"/>
            <a:ext cx="818270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Задание: «сломайте» функцию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Функция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 принимает именованные аргументы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', 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Работает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', 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Выдаёт ошибку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Можно исправить так: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*rest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sep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=None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end=None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pass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7807913-A5D3-DEFE-5521-F39A4D8957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511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1BC1F-8EE4-C547-B4E6-1DD52E7B19BB}"/>
              </a:ext>
            </a:extLst>
          </p:cNvPr>
          <p:cNvSpPr txBox="1"/>
          <p:nvPr/>
        </p:nvSpPr>
        <p:spPr>
          <a:xfrm>
            <a:off x="2004646" y="410308"/>
            <a:ext cx="8182708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Аргумент с двумя звёздочками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Аргумент с одной звёздочкой «захватывает» все позиционные параметры,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 двумя звёздочками – все именованные.</a:t>
            </a:r>
            <a:b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Звёздочка записывает всё в список. </a:t>
            </a:r>
            <a:endParaRPr lang="en-US" sz="14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4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Две звёздочки – в так называемый словарь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*rest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600" dirty="0" err="1">
                <a:solidFill>
                  <a:srgbClr val="72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pass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debug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debug.log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86580B5-7856-BDD7-02AC-AEFB297185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016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58988-742C-6E4C-B856-9F881AF9033B}"/>
              </a:ext>
            </a:extLst>
          </p:cNvPr>
          <p:cNvSpPr txBox="1"/>
          <p:nvPr/>
        </p:nvSpPr>
        <p:spPr>
          <a:xfrm>
            <a:off x="2004646" y="420779"/>
            <a:ext cx="81827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Аргумент с двумя звёздочками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profile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(name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surname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city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*children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additional_info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Имя:"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Фамилия:"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surname)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Город проживания:"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city)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(children) &gt;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Дети:"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", "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join(children))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additional_info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profile(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Сергей"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"Михалков"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"Москва"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"Никита Михалков"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"Андрей Кончаловский"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occupation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"writer"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diedIn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2009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2BB439-F181-7B45-B280-5B4638F992D5}"/>
              </a:ext>
            </a:extLst>
          </p:cNvPr>
          <p:cNvCxnSpPr/>
          <p:nvPr/>
        </p:nvCxnSpPr>
        <p:spPr>
          <a:xfrm>
            <a:off x="1969477" y="37909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20C7950-9ED4-DC41-B581-30F592AB6A6D}"/>
              </a:ext>
            </a:extLst>
          </p:cNvPr>
          <p:cNvSpPr txBox="1"/>
          <p:nvPr/>
        </p:nvSpPr>
        <p:spPr>
          <a:xfrm>
            <a:off x="1969477" y="3838668"/>
            <a:ext cx="6197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Имя: Сергей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Фамилия: Михалков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Город проживания: Москва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Дети: Никита Михалков, Андрей Кончаловский</a:t>
            </a:r>
          </a:p>
          <a:p>
            <a:r>
              <a:rPr lang="en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{'occupation': 'writer', 'diedIn': 2009}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9E35FA9-CEB1-9A11-914A-5A18814B44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840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2B185-C457-1145-A2D4-32E4C6759A05}"/>
              </a:ext>
            </a:extLst>
          </p:cNvPr>
          <p:cNvSpPr txBox="1"/>
          <p:nvPr/>
        </p:nvSpPr>
        <p:spPr>
          <a:xfrm>
            <a:off x="2004646" y="386862"/>
            <a:ext cx="818270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Запаковка-распаковка параметров функции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 помощью аргументов с одной и двумя звёздочками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можно передать любой список аргументов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другой функции неизменным: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perforated_print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kwargs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'-'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perforated_print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Теперь текст выводится с линией перфорации.'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perforated_print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'можно'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'использовать'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'любые'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'опции'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':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perforated_print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'end'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sep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прочие'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', 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'!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BAB25C4-3782-22D1-2D06-B39CD11662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293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1E0022-A919-44AF-8078-87723532D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97" y="1336121"/>
            <a:ext cx="5856006" cy="2838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42F346-FC6A-493B-995E-DB2FC357CBE3}"/>
              </a:ext>
            </a:extLst>
          </p:cNvPr>
          <p:cNvSpPr txBox="1"/>
          <p:nvPr/>
        </p:nvSpPr>
        <p:spPr>
          <a:xfrm>
            <a:off x="3721860" y="2710447"/>
            <a:ext cx="4696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+mj-lt"/>
                <a:cs typeface="Arial" panose="020B0604020202020204" pitchFamily="34" charset="0"/>
              </a:rPr>
              <a:t>Time-out</a:t>
            </a:r>
            <a:endParaRPr lang="ko-KR" altLang="en-US" sz="44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8036D483-EE8C-FE4B-A44F-1813496D2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23" y="1690324"/>
            <a:ext cx="1079500" cy="1079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34EAE4A-3BAF-CB2D-72AF-1122385F85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883322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1955800" y="2908733"/>
            <a:ext cx="8585200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Функция как объект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07C1CF9-9ADD-7114-5AC1-50C8E3B450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60119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499286-20DA-6348-AAEA-AE26E6AAD277}"/>
              </a:ext>
            </a:extLst>
          </p:cNvPr>
          <p:cNvSpPr txBox="1"/>
          <p:nvPr/>
        </p:nvSpPr>
        <p:spPr>
          <a:xfrm>
            <a:off x="2004646" y="410308"/>
            <a:ext cx="6197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как объект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Получим объект функции ввода: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b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Выведем его на экран: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&lt;built-in function input&gt;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297CB32-0321-4FAB-788C-BC5A2C239C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180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07609E-C901-9946-A225-9E0BE89EFC57}"/>
              </a:ext>
            </a:extLst>
          </p:cNvPr>
          <p:cNvSpPr txBox="1"/>
          <p:nvPr/>
        </p:nvSpPr>
        <p:spPr>
          <a:xfrm>
            <a:off x="2004646" y="410924"/>
            <a:ext cx="6197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как объект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Если объект можно получить, его можно записать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 переменную, а затем использовать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vyvod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b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vyvod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'Privet mir!'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EE61BD9-07DA-9CD0-F10D-2A944F83C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4588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D5639C-5581-B946-B8DA-DC487026C0DE}"/>
              </a:ext>
            </a:extLst>
          </p:cNvPr>
          <p:cNvSpPr txBox="1"/>
          <p:nvPr/>
        </p:nvSpPr>
        <p:spPr>
          <a:xfrm>
            <a:off x="2004646" y="410308"/>
            <a:ext cx="81827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как объект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Заведем две функции для печати списков: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print_boxed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arr_stringified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(element)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mid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| 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.join(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arr_stringified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bar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'-'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(mid))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bar +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'| '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mid +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|'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bar +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print_simple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arr_stringified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(element)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', 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.join(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arr_stringified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CE5FCD3-FF1C-BBDD-CB84-C290AB9429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565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45425-20D2-D346-9D6D-A847CE10069E}"/>
              </a:ext>
            </a:extLst>
          </p:cNvPr>
          <p:cNvSpPr txBox="1"/>
          <p:nvPr/>
        </p:nvSpPr>
        <p:spPr>
          <a:xfrm>
            <a:off x="1969476" y="410308"/>
            <a:ext cx="825304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как объект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Теперь мы можем выбирать стиль форматирования для всей программы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formatting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'boxed'</a:t>
            </a:r>
            <a:b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formatting ==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'boxed'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print_formatted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print_boxed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print_formatted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print_simple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Дальше в программе можно использовать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print_formatted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повсюду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print_formatted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21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print_formatted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16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64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128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print_formatted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abc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'def'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ghi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95A1651-B027-C49E-CBDB-C9A5EE0F49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02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1955800" y="2539401"/>
            <a:ext cx="8585200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Функции высшего  порядка. Функция </a:t>
            </a:r>
            <a:r>
              <a:rPr lang="en-GB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filter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15F2E94-A5A8-A561-7D71-1EF3F3861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09358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F1E1DD-8860-0E4B-89EF-9FCD424126C6}"/>
              </a:ext>
            </a:extLst>
          </p:cNvPr>
          <p:cNvSpPr txBox="1"/>
          <p:nvPr/>
        </p:nvSpPr>
        <p:spPr>
          <a:xfrm>
            <a:off x="1969477" y="410308"/>
            <a:ext cx="825304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 –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отбор элементов по критерию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критерий – функция проверки элемента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is_word_long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(word):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(word) &gt;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'новом'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'списке'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'останутся'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'только'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'длинные'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 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'слова'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аргументы функции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filter: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критерий и список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is_word_long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(word)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останутся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длинные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5802C50-CA21-43B0-5CAE-C4A9D38EA2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598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FD60E-6CB2-074D-9A7A-E7714771C21A}"/>
              </a:ext>
            </a:extLst>
          </p:cNvPr>
          <p:cNvSpPr txBox="1"/>
          <p:nvPr/>
        </p:nvSpPr>
        <p:spPr>
          <a:xfrm>
            <a:off x="2004646" y="410308"/>
            <a:ext cx="81827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 –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отбор элементов по критерию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возвращает не список, а специальный итерируемый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(перебираемый циклом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for)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объект: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is_word_long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&lt;filter object at 0x...&gt;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Функция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превращает этот объект в список: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long_words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is_word_long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words))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0CEA407-C8F2-A388-1051-D7BF2A9239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773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1955800" y="2908732"/>
            <a:ext cx="8585200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Лямбда-функции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49D321E-0E82-F743-088C-B578F1433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6234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FB7DB0-5BFC-3046-9851-699C724A3119}"/>
              </a:ext>
            </a:extLst>
          </p:cNvPr>
          <p:cNvSpPr txBox="1"/>
          <p:nvPr/>
        </p:nvSpPr>
        <p:spPr>
          <a:xfrm>
            <a:off x="2004646" y="410308"/>
            <a:ext cx="81827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Лямбда-функции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Часто требуются очень простые функции,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например Как критерий отбора.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Они используются единожды и им не нужно даже имя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Такие безымянные функции называются лямбда-функциями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 создаются так: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аргументы&gt;: &lt;выражение&gt;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AA6E03A-0F3B-720D-2516-6E1C254FC7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910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210E7-15B5-1841-A820-418A6DAC67FD}"/>
              </a:ext>
            </a:extLst>
          </p:cNvPr>
          <p:cNvSpPr txBox="1"/>
          <p:nvPr/>
        </p:nvSpPr>
        <p:spPr>
          <a:xfrm>
            <a:off x="2004646" y="410308"/>
            <a:ext cx="818270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Лямбда-функции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Критерий того, что слово длиннее 6 букв: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word: 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(word) &gt;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Применим его как аргумент функции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filter: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long_words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word: 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(word) &gt;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words))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E38F065-2A8E-1850-927F-CB0B38FEEE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733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F9073-6B47-514A-B0D1-14A120EB885A}"/>
              </a:ext>
            </a:extLst>
          </p:cNvPr>
          <p:cNvSpPr txBox="1"/>
          <p:nvPr/>
        </p:nvSpPr>
        <p:spPr>
          <a:xfrm>
            <a:off x="2004646" y="410308"/>
            <a:ext cx="81827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Лямбда-функции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Лямбда-функция – полноценная, хоть и безымянная функция.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Её можно записать в переменную и использовать: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add =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y: x + y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add(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8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add(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add(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6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013C7BE-811B-6175-835E-28FF36C1D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0026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98B0A-F71E-544E-9644-2E72F514A5C5}"/>
              </a:ext>
            </a:extLst>
          </p:cNvPr>
          <p:cNvSpPr txBox="1"/>
          <p:nvPr/>
        </p:nvSpPr>
        <p:spPr>
          <a:xfrm>
            <a:off x="2004646" y="410308"/>
            <a:ext cx="81827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Лямбда-функции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Лямбда-функция – может содержать только одно выражение.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 этом ему не обязательно зависеть от аргумента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Например, критерий, чтобы выбрать все элементы списка: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x: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6885E24-0277-D9B8-4905-9699742F7E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347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9CC4AA-D633-674C-BE0D-9D31A7593BBB}"/>
              </a:ext>
            </a:extLst>
          </p:cNvPr>
          <p:cNvSpPr txBox="1"/>
          <p:nvPr/>
        </p:nvSpPr>
        <p:spPr>
          <a:xfrm>
            <a:off x="2004646" y="410308"/>
            <a:ext cx="81827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Лямбда-функции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print_some_primes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(criterion):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primes = 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17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19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29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number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(criterion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primes):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(number)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print_some_primes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x: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[2, 3, 5, 7, 11, 13, 17, 19, 23, 29]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7E30455-F764-76D3-129E-45CB502A68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164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1955800" y="2908731"/>
            <a:ext cx="8585200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Как написать свой </a:t>
            </a:r>
            <a:r>
              <a:rPr lang="en-GB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filter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721C219-1787-0CCD-6E0E-D558CB6769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76166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569989-873C-8647-9257-66A765EDFC06}"/>
              </a:ext>
            </a:extLst>
          </p:cNvPr>
          <p:cNvSpPr txBox="1"/>
          <p:nvPr/>
        </p:nvSpPr>
        <p:spPr>
          <a:xfrm>
            <a:off x="2004646" y="410308"/>
            <a:ext cx="81827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Убираем магию. Пишем свой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lang="en-GB" sz="1600" dirty="0" err="1"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simple_filter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(criterion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result = []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criterion(element):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result.append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(element)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simple_filter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x: x %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[7, 19, 31, 43, 55, 67, 79, 91]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7508E59-3DF6-2A47-23B8-A34F737062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197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1955800" y="2908731"/>
            <a:ext cx="8585200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Функция </a:t>
            </a:r>
            <a:r>
              <a:rPr lang="en-GB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map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8912338-B2E3-28B1-62C4-81BE3DF4D6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11693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2C7C4-AA8A-7444-8E96-1C9F2B7A46C1}"/>
              </a:ext>
            </a:extLst>
          </p:cNvPr>
          <p:cNvSpPr txBox="1"/>
          <p:nvPr/>
        </p:nvSpPr>
        <p:spPr>
          <a:xfrm>
            <a:off x="2004646" y="410308"/>
            <a:ext cx="81827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 –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преобразования списков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берёт функцию для преобразования одного элемента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 список. Выполняет преобразование всех элементов списка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x: x **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[1, 4, 9, 16, 25, 36, 49, 64, 81]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72FCA22-DC73-D974-6C8B-5598601159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004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1955800" y="2908730"/>
            <a:ext cx="8585200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Списочные выражения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07F1820-EE41-55C5-43F5-F3DA2D466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35057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D52EE-3C97-AF41-A845-89D52F8EFDC8}"/>
              </a:ext>
            </a:extLst>
          </p:cNvPr>
          <p:cNvSpPr txBox="1"/>
          <p:nvPr/>
        </p:nvSpPr>
        <p:spPr>
          <a:xfrm>
            <a:off x="2004646" y="410308"/>
            <a:ext cx="81827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Списочные выражения. Преобразование элементов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Замену функции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 помощи списочных выражений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вы уже знаете: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**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[0, 1, 4, 9, 16, 25, 36, 49, 64, 81]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4F5ADBE-F719-F7F2-5E08-968885832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789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937A66-9ED7-9A48-86A0-7611ACF9A1C9}"/>
              </a:ext>
            </a:extLst>
          </p:cNvPr>
          <p:cNvSpPr txBox="1"/>
          <p:nvPr/>
        </p:nvSpPr>
        <p:spPr>
          <a:xfrm>
            <a:off x="2004646" y="410308"/>
            <a:ext cx="81827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Списочные выражения. Отбор элементов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Замена функции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 помощи списочных выражений: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%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%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!=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[2, 4, 8]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6A6C276-317E-3061-3945-884557D1DC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756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409B1-555A-A641-9FE1-CAE5E4502AA7}"/>
              </a:ext>
            </a:extLst>
          </p:cNvPr>
          <p:cNvSpPr txBox="1"/>
          <p:nvPr/>
        </p:nvSpPr>
        <p:spPr>
          <a:xfrm>
            <a:off x="2004646" y="410308"/>
            <a:ext cx="81827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Списочные выражения: комбинация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'новом'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'списке'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'останутся'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'только'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'длинные'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'слова'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long_words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word: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word.upper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word: 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(word) &gt;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words)))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['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ОСТАНУТСЯ', 'ДЛИННЫЕ']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или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long_words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word.upper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(word) &gt;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['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ОСТАНУТСЯ', 'ДЛИННЫЕ']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E5B05BF-D710-81D1-FB76-62E4E124BF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6609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3F93B-A302-1742-98CC-8CEFC551D4E9}"/>
              </a:ext>
            </a:extLst>
          </p:cNvPr>
          <p:cNvSpPr txBox="1"/>
          <p:nvPr/>
        </p:nvSpPr>
        <p:spPr>
          <a:xfrm>
            <a:off x="2004646" y="410308"/>
            <a:ext cx="81827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Не заводите лишние «лямбды»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Бывает, что лямбда-функция не нужна, потому что уже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есть существующая полноценная функция: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'the quick brown fox jumps over the lazy </a:t>
            </a:r>
            <a:r>
              <a:rPr lang="en-GB" sz="1600" dirty="0" err="1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dog'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.split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Лишняя лямбда-функция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word: 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(word)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[3, 5, 5, 3, 5, 4, 3, 4, 3]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[3, 5, 5, 3, 5, 4, 3, 4, 3]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7023741-6821-F0FF-DFC5-94B2C0A51E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4569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93724-7FD2-5941-AAA2-8FB57610BAA9}"/>
              </a:ext>
            </a:extLst>
          </p:cNvPr>
          <p:cNvSpPr txBox="1"/>
          <p:nvPr/>
        </p:nvSpPr>
        <p:spPr>
          <a:xfrm>
            <a:off x="2004646" y="420779"/>
            <a:ext cx="81827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Не заводите лишние «лямбды»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Еще пример, когда лямбда не нужна: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numbers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float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().split()))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Можно вместо лямбды, вызывающей метод объекта взять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функцию метода: &lt;тип&gt;.&lt;метод&gt;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'list'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'of'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'several'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'words'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word: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word.upper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words))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['LIST', 'OF', 'SEVERAL', 'WORDS']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.upper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['LIST', 'OF', 'SEVERAL', 'WORDS']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584B047-0085-FB61-7B7B-6AC9540C48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352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1E0022-A919-44AF-8078-87723532D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97" y="1336121"/>
            <a:ext cx="5856006" cy="2838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42F346-FC6A-493B-995E-DB2FC357CBE3}"/>
              </a:ext>
            </a:extLst>
          </p:cNvPr>
          <p:cNvSpPr txBox="1"/>
          <p:nvPr/>
        </p:nvSpPr>
        <p:spPr>
          <a:xfrm>
            <a:off x="3721860" y="2710447"/>
            <a:ext cx="4696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+mj-lt"/>
                <a:cs typeface="Arial" panose="020B0604020202020204" pitchFamily="34" charset="0"/>
              </a:rPr>
              <a:t>Time-out</a:t>
            </a:r>
            <a:endParaRPr lang="ko-KR" altLang="en-US" sz="44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8036D483-EE8C-FE4B-A44F-1813496D2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23" y="1690324"/>
            <a:ext cx="1079500" cy="1079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5569A97-2F12-6BE6-4624-B7723BBFCA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76972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413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1859580" y="2274838"/>
            <a:ext cx="8585200" cy="230832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Итерируемые объекты.  Почему </a:t>
            </a:r>
            <a:r>
              <a:rPr lang="en-GB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filter </a:t>
            </a:r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и </a:t>
            </a:r>
            <a:r>
              <a:rPr lang="en-GB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map </a:t>
            </a:r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возвращают не список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04E06BC-8563-2A97-34BB-962360DFB2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36500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D42A5-63D8-8F45-ABF7-674C5A108EC9}"/>
              </a:ext>
            </a:extLst>
          </p:cNvPr>
          <p:cNvSpPr txBox="1"/>
          <p:nvPr/>
        </p:nvSpPr>
        <p:spPr>
          <a:xfrm>
            <a:off x="1969476" y="410308"/>
            <a:ext cx="82178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Почему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возвращают не список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Решение со списочным выражением использует очень много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памяти, так как сначала строит список всех квадратов,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 затем уже считает их сумму (можно посмотреть в диспетчере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задач как съедается память во время работы программы):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([x **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50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1000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)]))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 определенных настройках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python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можно даже получить ошибку 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MemoryError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так как такое вычисление может потребовать больше 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памяти, чем способно выделить устройство, на котором 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выполняется программа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DDE8CAF-2FDA-03C2-592F-B0A3E0F56C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601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62F2A-610E-614F-84E3-4DDB2A8F9041}"/>
              </a:ext>
            </a:extLst>
          </p:cNvPr>
          <p:cNvSpPr txBox="1"/>
          <p:nvPr/>
        </p:nvSpPr>
        <p:spPr>
          <a:xfrm>
            <a:off x="2004646" y="410308"/>
            <a:ext cx="81827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Почему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возвращают не список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Решение с </a:t>
            </a:r>
            <a:r>
              <a:rPr lang="ru-RU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фунцией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позволяет нам вычислять значение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квадратов чисел «на лету» в тот момент, когда они нам нужны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для подсчета суммы: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x: x **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50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1000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1000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Таким образом мы можем избежать использование  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дополнительного объема оперативной памяти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BDF9D4A-17A1-7181-F3CA-7BA6048286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093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413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1859580" y="2644170"/>
            <a:ext cx="8585200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Функции </a:t>
            </a:r>
            <a:r>
              <a:rPr lang="en-GB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max/min/sorted  </a:t>
            </a:r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и использование ключа сортировки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C65A2CC-18BB-7384-6455-2DBAC3B76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447727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4BA45C-254A-D246-A94B-E63FF27821E0}"/>
              </a:ext>
            </a:extLst>
          </p:cNvPr>
          <p:cNvSpPr txBox="1"/>
          <p:nvPr/>
        </p:nvSpPr>
        <p:spPr>
          <a:xfrm>
            <a:off x="2004646" y="410308"/>
            <a:ext cx="81827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Использование ключа сортировки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У функций вроде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min/max/sorted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есть опциональный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(необязательный) параметр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key.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Параметр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key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принимает функцию,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 значению которой будут сравниваться элементы.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 = [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мир'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'и'</a:t>
            </a:r>
            <a:r>
              <a:rPr lang="ru-RU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'война'</a:t>
            </a:r>
            <a: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ru-RU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sorted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(words))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['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война', 'и', 'мир’]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Если параметр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key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 указан, то строки сортируются в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лексикографическом порядке, но мы можем указать, каким образом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проводить сортировку. Например по длине строки: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sorted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(words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key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s: 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(s)))  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['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и', 'мир', 'война']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14C5E74-59A9-64B2-73CA-CC67445AD8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283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9ABA4-1280-7847-89F1-3C07884C8138}"/>
              </a:ext>
            </a:extLst>
          </p:cNvPr>
          <p:cNvSpPr txBox="1"/>
          <p:nvPr/>
        </p:nvSpPr>
        <p:spPr>
          <a:xfrm>
            <a:off x="2004646" y="410308"/>
            <a:ext cx="818270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Использование ключа сортировки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Можно проводить сортировку по нескольким критериям, для этого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для ключа сортировки должна возвращать кортеж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значений. Например, отсортируем список сначала по критерию,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что последний символ – цифра, а затем по длине строки.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words =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 он сделал ход с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E2 </a:t>
            </a:r>
            <a:r>
              <a:rPr lang="ru-RU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E4"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.split()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sorted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words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AA492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key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s: (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s[-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].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isdigit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else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D9FB4DE-5640-5E73-DFA0-1537A51B51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504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413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1859580" y="3013501"/>
            <a:ext cx="8585200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Проверка коллекций: </a:t>
            </a:r>
            <a:r>
              <a:rPr lang="en-GB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all,  any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36C7583-48C7-BA61-2CD9-7258C89664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1514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7A4E5-7B01-BA42-BB63-5E8A1AA3F2E8}"/>
              </a:ext>
            </a:extLst>
          </p:cNvPr>
          <p:cNvSpPr txBox="1"/>
          <p:nvPr/>
        </p:nvSpPr>
        <p:spPr>
          <a:xfrm>
            <a:off x="2004646" y="410308"/>
            <a:ext cx="795215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Проверка коллекций: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all, any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= 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"1"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True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 = [[]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 = [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None,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{}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False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 = [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None,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""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{}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False, </a:t>
            </a:r>
            <a:r>
              <a:rPr lang="en-GB" sz="1600" dirty="0"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99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True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(b))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False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False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all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False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True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(b))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True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False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any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(d)) 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True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C05D520-B797-4992-FA73-A065742356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428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D17E6A3-BD05-42E8-BC38-171F19D1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413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1859580" y="3013501"/>
            <a:ext cx="8585200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ru-RU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Потоковый ввод </a:t>
            </a:r>
            <a:r>
              <a:rPr lang="en-GB" altLang="ko-KR" sz="4800" b="1" dirty="0">
                <a:latin typeface="fs songarak 1" pitchFamily="2" charset="0"/>
                <a:ea typeface="fs songarak 1" pitchFamily="2" charset="0"/>
                <a:cs typeface="fs songarak 1" pitchFamily="2" charset="0"/>
              </a:rPr>
              <a:t>stdin</a:t>
            </a:r>
            <a:endParaRPr lang="ko-KR" altLang="en-US" sz="4800" b="1" dirty="0">
              <a:latin typeface="fs songarak 1" pitchFamily="2" charset="0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26CAB8D-DC3F-D9BE-82B9-FB5E868771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236637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D0184C-8EC2-7F42-8B50-A34E03483748}"/>
              </a:ext>
            </a:extLst>
          </p:cNvPr>
          <p:cNvSpPr txBox="1"/>
          <p:nvPr/>
        </p:nvSpPr>
        <p:spPr>
          <a:xfrm>
            <a:off x="2004646" y="410308"/>
            <a:ext cx="81827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Потоковый ввод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sys.stdin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Чтобы работать со стандартным потоком ввода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надо сначала импортировать модуль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(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обычно все импорты делаются в самом начале программы)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После чего мы можем воспользоваться объектом 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stdin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этого модуля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line 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sys.stdin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line.rstrip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lang="en-GB" sz="1600" dirty="0"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rstrip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–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делается для того чтобы «отрезать» символ перевода </a:t>
            </a:r>
            <a:endParaRPr lang="en-US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строки</a:t>
            </a: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25FAB00-979E-71E2-0128-87DAA43C6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389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RU" sz="32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201DCD-97DF-4D46-9627-D831C5684CB9}"/>
              </a:ext>
            </a:extLst>
          </p:cNvPr>
          <p:cNvSpPr txBox="1"/>
          <p:nvPr/>
        </p:nvSpPr>
        <p:spPr>
          <a:xfrm>
            <a:off x="2004645" y="410308"/>
            <a:ext cx="821787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Потоковый ввод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sys.stdin</a:t>
            </a:r>
            <a:b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 помощью </a:t>
            </a:r>
            <a:r>
              <a:rPr lang="en-GB" sz="1600" dirty="0" err="1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sys.stdin</a:t>
            </a: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можно «в одну строку» прочитать весь ввод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(о количестве строк которого мы ничего не знаем) в список.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Реализуется это, например, так: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data = 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n-GB" sz="1600" dirty="0" err="1">
                <a:solidFill>
                  <a:srgbClr val="8888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.strip</a:t>
            </a:r>
            <a:r>
              <a:rPr lang="en-GB" sz="1600" dirty="0"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sys.stdin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Можно считать все строки (с сохранением символов перевода </a:t>
            </a:r>
            <a:endParaRPr lang="en-US" sz="1600" dirty="0">
              <a:solidFill>
                <a:srgbClr val="808080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строки) в список вот таким образом: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data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sys.stdin.readlines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 считать многострочный текст из стандартного потока ввода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 текстовую переменную можно вот так:</a:t>
            </a: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ru-RU" sz="1600" dirty="0"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str_data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en-GB" sz="1600" dirty="0" err="1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sys.stdin.read</a:t>
            </a:r>
            <a: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lang="en-GB" sz="16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en-RU" sz="16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F57F599-8B15-0BF0-541C-257A2F23A9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515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1E0022-A919-44AF-8078-87723532D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97" y="1336121"/>
            <a:ext cx="5856006" cy="2838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42F346-FC6A-493B-995E-DB2FC357CBE3}"/>
              </a:ext>
            </a:extLst>
          </p:cNvPr>
          <p:cNvSpPr txBox="1"/>
          <p:nvPr/>
        </p:nvSpPr>
        <p:spPr>
          <a:xfrm>
            <a:off x="3721860" y="2710447"/>
            <a:ext cx="4696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>
                <a:latin typeface="+mj-lt"/>
                <a:cs typeface="Arial" panose="020B0604020202020204" pitchFamily="34" charset="0"/>
              </a:rPr>
              <a:t>Time-out</a:t>
            </a:r>
            <a:endParaRPr lang="ko-KR" altLang="en-US" sz="44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8036D483-EE8C-FE4B-A44F-1813496D2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23" y="1690324"/>
            <a:ext cx="1079500" cy="1079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5D2D0D1-7459-B220-CC67-B099578892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143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4035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8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Итераторы</a:t>
            </a:r>
            <a:endParaRPr kumimoji="0" lang="ru-RU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529DF804-D2D0-8B4E-9A84-8349A077FC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9942" y="1487606"/>
            <a:ext cx="6932115" cy="4932038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7924121-01AD-2638-EA88-48A1B888AE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29166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pic>
        <p:nvPicPr>
          <p:cNvPr id="7" name="Picture 6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B67F870C-01FC-CA44-9078-064ED528C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06" y="2499563"/>
            <a:ext cx="1073428" cy="107342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1037C9-4FA9-7746-864A-B0A90DB7CE02}"/>
              </a:ext>
            </a:extLst>
          </p:cNvPr>
          <p:cNvCxnSpPr/>
          <p:nvPr/>
        </p:nvCxnSpPr>
        <p:spPr>
          <a:xfrm>
            <a:off x="1969476" y="4479990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4E246E-4921-D34A-B550-2A604B46B39C}"/>
              </a:ext>
            </a:extLst>
          </p:cNvPr>
          <p:cNvSpPr txBox="1"/>
          <p:nvPr/>
        </p:nvSpPr>
        <p:spPr>
          <a:xfrm>
            <a:off x="2004646" y="449059"/>
            <a:ext cx="814753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memory_profiler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memory_usage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list_func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(size):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(size)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%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iter_func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(size):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x: x %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(size)))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__name__ ==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'__main__'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size =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**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1 000 000 000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usage_list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memory_usage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list_func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(size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usage_iter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memory_usage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iter_func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(size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f'Max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used memory LIST: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round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usage_list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Mb'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f'Max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used memory ITER: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round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usage_iter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Mb'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kumimoji="0" lang="en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50E446-BC8A-BF4C-B6A8-01E4C5A6722C}"/>
              </a:ext>
            </a:extLst>
          </p:cNvPr>
          <p:cNvSpPr txBox="1"/>
          <p:nvPr/>
        </p:nvSpPr>
        <p:spPr>
          <a:xfrm>
            <a:off x="2039816" y="4473348"/>
            <a:ext cx="62038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 used memory LIST: 3870Mb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 used memory ITER: 56Mb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E0E7F9B-F461-CFBA-1896-E9B6D39236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099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539405"/>
            <a:ext cx="8004747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Встроенные итераторы.  Комбинирование  итераторов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26E02BA-E675-8F24-84A7-82C533363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97131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Встроенные итераторы.  Комбинирование итераторов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9FC47F8-F4AC-7447-A71F-5142CAC5D5EE}"/>
              </a:ext>
            </a:extLst>
          </p:cNvPr>
          <p:cNvSpPr txBox="1"/>
          <p:nvPr/>
        </p:nvSpPr>
        <p:spPr>
          <a:xfrm>
            <a:off x="3466429" y="1705326"/>
            <a:ext cx="5259142" cy="4822474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577850" marR="0" lvl="0" indent="-565785" algn="l" defTabSz="914400" rtl="0" eaLnBrk="1" fontAlgn="auto" latinLnBrk="0" hangingPunct="1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>
                <a:srgbClr val="FFCC00"/>
              </a:buClr>
              <a:buSzPct val="120253"/>
              <a:buFont typeface="Arial"/>
              <a:buChar char="•"/>
              <a:tabLst>
                <a:tab pos="577850" algn="l"/>
                <a:tab pos="578485" algn="l"/>
              </a:tabLst>
              <a:defRPr/>
            </a:pPr>
            <a:r>
              <a:rPr kumimoji="0" sz="2000" b="0" i="0" u="none" strike="noStrike" kern="1200" cap="none" spc="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enumerate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Calibri"/>
            </a:endParaRPr>
          </a:p>
          <a:p>
            <a:pPr marL="577850" marR="0" lvl="0" indent="-565785" algn="l" defTabSz="914400" rtl="0" eaLnBrk="1" fontAlgn="auto" latinLnBrk="0" hangingPunct="1">
              <a:lnSpc>
                <a:spcPct val="100000"/>
              </a:lnSpc>
              <a:spcBef>
                <a:spcPts val="1895"/>
              </a:spcBef>
              <a:spcAft>
                <a:spcPts val="0"/>
              </a:spcAft>
              <a:buClr>
                <a:srgbClr val="FFCC00"/>
              </a:buClr>
              <a:buSzPct val="120253"/>
              <a:buFont typeface="Arial"/>
              <a:buChar char="•"/>
              <a:tabLst>
                <a:tab pos="577850" algn="l"/>
                <a:tab pos="578485" algn="l"/>
              </a:tabLst>
              <a:defRPr/>
            </a:pPr>
            <a:r>
              <a:rPr kumimoji="0" sz="20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zip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Calibri"/>
            </a:endParaRPr>
          </a:p>
          <a:p>
            <a:pPr marL="577850" marR="0" lvl="0" indent="-565785" algn="l" defTabSz="914400" rtl="0" eaLnBrk="1" fontAlgn="auto" latinLnBrk="0" hangingPunct="1">
              <a:lnSpc>
                <a:spcPct val="100000"/>
              </a:lnSpc>
              <a:spcBef>
                <a:spcPts val="1895"/>
              </a:spcBef>
              <a:spcAft>
                <a:spcPts val="0"/>
              </a:spcAft>
              <a:buClr>
                <a:srgbClr val="FFCC00"/>
              </a:buClr>
              <a:buSzPct val="120253"/>
              <a:buFont typeface="Arial"/>
              <a:buChar char="•"/>
              <a:tabLst>
                <a:tab pos="577850" algn="l"/>
                <a:tab pos="578485" algn="l"/>
              </a:tabLst>
              <a:defRPr/>
            </a:pPr>
            <a:r>
              <a:rPr kumimoji="0" sz="20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sorted,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 </a:t>
            </a:r>
            <a:r>
              <a:rPr kumimoji="0" sz="20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max,</a:t>
            </a:r>
            <a:r>
              <a:rPr kumimoji="0" sz="20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 </a:t>
            </a:r>
            <a:r>
              <a:rPr kumimoji="0" sz="2000" b="0" i="0" u="none" strike="noStrike" kern="1200" cap="none" spc="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min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Calibri"/>
            </a:endParaRPr>
          </a:p>
          <a:p>
            <a:pPr marL="577850" marR="0" lvl="0" indent="-565785" algn="l" defTabSz="914400" rtl="0" eaLnBrk="1" fontAlgn="auto" latinLnBrk="0" hangingPunct="1">
              <a:lnSpc>
                <a:spcPct val="100000"/>
              </a:lnSpc>
              <a:spcBef>
                <a:spcPts val="1910"/>
              </a:spcBef>
              <a:spcAft>
                <a:spcPts val="0"/>
              </a:spcAft>
              <a:buClr>
                <a:srgbClr val="FFCC00"/>
              </a:buClr>
              <a:buSzPct val="120253"/>
              <a:buFont typeface="Arial"/>
              <a:buChar char="•"/>
              <a:tabLst>
                <a:tab pos="577850" algn="l"/>
                <a:tab pos="578485" algn="l"/>
              </a:tabLst>
              <a:defRPr/>
            </a:pPr>
            <a:r>
              <a:rPr kumimoji="0" sz="2000" b="0" i="0" u="none" strike="noStrike" kern="1200" cap="none" spc="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itertools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Calibri"/>
            </a:endParaRPr>
          </a:p>
          <a:p>
            <a:pPr marL="1824355" marR="0" lvl="1" indent="-565785" algn="l" defTabSz="914400" rtl="0" eaLnBrk="1" fontAlgn="auto" latinLnBrk="0" hangingPunct="1">
              <a:lnSpc>
                <a:spcPct val="100000"/>
              </a:lnSpc>
              <a:spcBef>
                <a:spcPts val="189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1824355" algn="l"/>
                <a:tab pos="1824989" algn="l"/>
              </a:tabLst>
              <a:defRPr/>
            </a:pPr>
            <a:r>
              <a:rPr kumimoji="0" sz="2000" b="0" i="0" u="none" strike="noStrike" kern="1200" cap="none" spc="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chain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Calibri"/>
            </a:endParaRPr>
          </a:p>
          <a:p>
            <a:pPr marL="1824355" marR="0" lvl="1" indent="-565785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1824355" algn="l"/>
                <a:tab pos="1824989" algn="l"/>
              </a:tabLst>
              <a:defRPr/>
            </a:pPr>
            <a:r>
              <a:rPr kumimoji="0" sz="2000" b="0" i="0" u="none" strike="noStrike" kern="1200" cap="none" spc="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c</a:t>
            </a:r>
            <a:r>
              <a:rPr kumimoji="0" sz="20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y</a:t>
            </a:r>
            <a:r>
              <a:rPr kumimoji="0" sz="2000" b="0" i="0" u="none" strike="noStrike" kern="1200" cap="none" spc="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c</a:t>
            </a:r>
            <a:r>
              <a:rPr kumimoji="0" sz="20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le,</a:t>
            </a:r>
            <a:r>
              <a:rPr kumimoji="0" sz="2000" b="0" i="0" u="none" strike="noStrike" kern="1200" cap="none" spc="-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 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r</a:t>
            </a:r>
            <a:r>
              <a:rPr kumimoji="0" sz="2000" b="0" i="0" u="none" strike="noStrike" kern="1200" cap="none" spc="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ep</a:t>
            </a:r>
            <a:r>
              <a:rPr kumimoji="0" sz="2000" b="0" i="0" u="none" strike="noStrike" kern="1200" cap="none" spc="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eat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Calibri"/>
            </a:endParaRPr>
          </a:p>
          <a:p>
            <a:pPr marL="1824355" marR="0" lvl="1" indent="-565785" algn="l" defTabSz="914400" rtl="0" eaLnBrk="1" fontAlgn="auto" latinLnBrk="0" hangingPunct="1">
              <a:lnSpc>
                <a:spcPct val="100000"/>
              </a:lnSpc>
              <a:spcBef>
                <a:spcPts val="1895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1824355" algn="l"/>
                <a:tab pos="1824989" algn="l"/>
              </a:tabLst>
              <a:defRPr/>
            </a:pPr>
            <a:r>
              <a:rPr kumimoji="0" sz="20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product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Calibri"/>
            </a:endParaRPr>
          </a:p>
          <a:p>
            <a:pPr marL="1824355" marR="0" lvl="1" indent="-565785" algn="l" defTabSz="914400" rtl="0" eaLnBrk="1" fontAlgn="auto" latinLnBrk="0" hangingPunct="1">
              <a:lnSpc>
                <a:spcPct val="100000"/>
              </a:lnSpc>
              <a:spcBef>
                <a:spcPts val="191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1824355" algn="l"/>
                <a:tab pos="1824989" algn="l"/>
              </a:tabLst>
              <a:defRPr/>
            </a:pPr>
            <a:r>
              <a:rPr kumimoji="0" sz="20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combinations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Calibri"/>
            </a:endParaRPr>
          </a:p>
          <a:p>
            <a:pPr marL="1824355" marR="0" lvl="1" indent="-565785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Wingdings"/>
              <a:buChar char=""/>
              <a:tabLst>
                <a:tab pos="1824355" algn="l"/>
                <a:tab pos="1824989" algn="l"/>
              </a:tabLst>
              <a:defRPr/>
            </a:pPr>
            <a:r>
              <a:rPr kumimoji="0" sz="2000" b="0" i="0" u="none" strike="noStrike" kern="1200" cap="none" spc="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Calibri"/>
              </a:rPr>
              <a:t>islice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Calibri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7BF0013-E8F4-CA9B-F9B1-D8F262BFB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193280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C5F0F1-67A4-0846-A6F4-35C13657AB61}"/>
              </a:ext>
            </a:extLst>
          </p:cNvPr>
          <p:cNvSpPr/>
          <p:nvPr/>
        </p:nvSpPr>
        <p:spPr>
          <a:xfrm>
            <a:off x="2004646" y="430872"/>
            <a:ext cx="7679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enumerate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'This'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'is'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'third'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word'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([pair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pair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enumerate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)])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3EB37F-8329-A141-BF50-1130542508F7}"/>
              </a:ext>
            </a:extLst>
          </p:cNvPr>
          <p:cNvCxnSpPr/>
          <p:nvPr/>
        </p:nvCxnSpPr>
        <p:spPr>
          <a:xfrm>
            <a:off x="2004646" y="442371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F596AB2-C454-FF45-91B7-0DE62A8ED2CC}"/>
              </a:ext>
            </a:extLst>
          </p:cNvPr>
          <p:cNvSpPr/>
          <p:nvPr/>
        </p:nvSpPr>
        <p:spPr>
          <a:xfrm>
            <a:off x="1969477" y="4423719"/>
            <a:ext cx="57695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[(0, 'This'), (1, 'is'), (2, 'third'), (3, ' word')]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0AED6E4-182C-A6E5-40FD-88FC448CFD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042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48800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3EB37F-8329-A141-BF50-1130542508F7}"/>
              </a:ext>
            </a:extLst>
          </p:cNvPr>
          <p:cNvCxnSpPr/>
          <p:nvPr/>
        </p:nvCxnSpPr>
        <p:spPr>
          <a:xfrm>
            <a:off x="2004646" y="442371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FE85E6-7F0E-F141-AAC2-E5813C027529}"/>
              </a:ext>
            </a:extLst>
          </p:cNvPr>
          <p:cNvSpPr txBox="1"/>
          <p:nvPr/>
        </p:nvSpPr>
        <p:spPr>
          <a:xfrm>
            <a:off x="2004645" y="410924"/>
            <a:ext cx="81827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enumerate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Звёздочка позволяет получить аргументы функции из итератора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'This'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'is'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'third'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word'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enumerate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11881-FBD9-F04D-8C18-AAD5A4A448F7}"/>
              </a:ext>
            </a:extLst>
          </p:cNvPr>
          <p:cNvSpPr txBox="1"/>
          <p:nvPr/>
        </p:nvSpPr>
        <p:spPr>
          <a:xfrm>
            <a:off x="1969477" y="4504691"/>
            <a:ext cx="62038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(0, 'This') (1, 'is') (2, 'third') (3, ' word')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FF61724-BBAD-9769-B7FA-023418D790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647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8DC30F-58BF-B54D-B4C7-02C03BFD6C65}"/>
              </a:ext>
            </a:extLst>
          </p:cNvPr>
          <p:cNvSpPr txBox="1"/>
          <p:nvPr/>
        </p:nvSpPr>
        <p:spPr>
          <a:xfrm>
            <a:off x="2004646" y="410308"/>
            <a:ext cx="81827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Номера строк, имеющих лишь 2 буквы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filtered_values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index_value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index_value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 ==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enumerate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filtered_values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(1, 'is')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способ получить просто индекс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index_value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index_value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index_value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index_value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 ==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enumerate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93BDB3E-853D-E9A2-094B-FDEE3238A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058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3CBA1A-3AB8-654E-8591-554B36B5BBE9}"/>
              </a:ext>
            </a:extLst>
          </p:cNvPr>
          <p:cNvSpPr txBox="1"/>
          <p:nvPr/>
        </p:nvSpPr>
        <p:spPr>
          <a:xfrm>
            <a:off x="2004646" y="410308"/>
            <a:ext cx="818270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Порядок комбинирования имеет значение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Вариант 1: сначала пронумеровали все строки, 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 потом отбросили пустые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lines = 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Занумеруем'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'строки'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results =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indexed_line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indexed_line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 &gt;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enumerate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(lines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(*results)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(1, 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Занумеруем') (4, 'строки')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Вариант 2: сначала отбросили пустые строки,  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а потом пронумеровали оставшиеся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lines = 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Занумеруем'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'строки'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results =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enumerate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filter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line: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(line) &gt;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lines)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(*results)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(1, 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Занумеруем') (2, 'строки')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7C04CEE-DCF3-0FFE-C20B-8359EBEF95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752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22E645-1C11-F846-A262-3B2256C2E16E}"/>
              </a:ext>
            </a:extLst>
          </p:cNvPr>
          <p:cNvSpPr txBox="1"/>
          <p:nvPr/>
        </p:nvSpPr>
        <p:spPr>
          <a:xfrm>
            <a:off x="2004646" y="410308"/>
            <a:ext cx="818270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zip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Чтобы посчитать скалярное произведение, нам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нужно перемножить пары соответствующих координат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двух векторов и сложить полученные величины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   b    zip(a, b)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-------------------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2    2     (2, 2)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2    2     (2, 2)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1    0     (1, 0)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(a, b) = 2 * 2 + 2 * 2 + 1 * 0 = 8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zip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решает вопрос одновременного перебора нескольких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коллекций (списков координат), без введения индекса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coords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coords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*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coords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zip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b)))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8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BF222A3-25E2-8A13-CB1F-C11C43D5BB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143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908736"/>
            <a:ext cx="80047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Библиотеки как наследие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2125CF3-CCB4-1FEB-C3F0-728FD3CAB0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456340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https://</a:t>
            </a:r>
            <a:r>
              <a:rPr kumimoji="0" lang="en-GB" sz="4800" b="0" i="0" u="none" strike="noStrike" kern="1200" cap="none" spc="4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pypi.org</a:t>
            </a:r>
            <a:r>
              <a:rPr kumimoji="0" lang="en-GB" sz="48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/</a:t>
            </a:r>
            <a:endParaRPr kumimoji="0" lang="ru-RU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7691F4-D533-DC4C-A9BA-431CB8CF0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948"/>
            <a:ext cx="12192000" cy="4865666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1685580-C854-9E8C-CCE4-53777E7AC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42886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908735"/>
            <a:ext cx="80047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Встроенные модули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C49D95C-082D-BE5E-9757-03822691D2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43883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E3312D-9E61-9440-B51F-0A64A417A76F}"/>
              </a:ext>
            </a:extLst>
          </p:cNvPr>
          <p:cNvSpPr/>
          <p:nvPr/>
        </p:nvSpPr>
        <p:spPr>
          <a:xfrm>
            <a:off x="2004646" y="410308"/>
            <a:ext cx="818270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Импорт модуля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 импорт в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Python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отвечает директива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import.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Возьмём число Пи из библиотеки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Теперь вам доступна переменная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pi.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Python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это значение приближённо равно 3,141592653589793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84F215-4E3C-8564-FEB2-E4BEF50A4D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607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415089-AEF9-7248-BEFE-5979390E7A7D}"/>
              </a:ext>
            </a:extLst>
          </p:cNvPr>
          <p:cNvSpPr/>
          <p:nvPr/>
        </p:nvSpPr>
        <p:spPr>
          <a:xfrm>
            <a:off x="2004646" y="410308"/>
            <a:ext cx="818270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Импорт модуля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Модуль, переменную, класс или функцию можно при импорте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назвать своим именем — для этого служит ключевое слово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as: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число_пи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число_пи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3.141592653589793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Поскольку в программе на языке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Python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 именах допустимы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буквенные символы любых алфавитов, можно использовать даже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греческие буквы: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 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π</a:t>
            </a:r>
            <a:b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B74968A-AF85-82E1-E7F9-B6E1763E3A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773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2645B6-76CE-C94B-8565-12D1F82E359C}"/>
              </a:ext>
            </a:extLst>
          </p:cNvPr>
          <p:cNvSpPr/>
          <p:nvPr/>
        </p:nvSpPr>
        <p:spPr>
          <a:xfrm>
            <a:off x="2004646" y="410308"/>
            <a:ext cx="81827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Импорт модуля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Значения после директивы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можно писать через запятую: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tan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Значок «*» означает, что из библиотеки нужно импортировать 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всё, что доступно: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Впрочем, так делать не рекомендуется, поскольку при таком  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подходе засоряется пространство имён.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7977-82B5-94C4-9CE7-EA1C45510D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45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C61976-F883-4F41-AEDD-9D08EF8D1B18}"/>
              </a:ext>
            </a:extLst>
          </p:cNvPr>
          <p:cNvSpPr/>
          <p:nvPr/>
        </p:nvSpPr>
        <p:spPr>
          <a:xfrm>
            <a:off x="2008908" y="390712"/>
            <a:ext cx="817844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help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 забывайте пользоваться двумя полезными функциями: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dir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(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возвращает список со всем содержимым объекта, модуля и т.д.)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help (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показывает справку об использовании данного объекта).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(math))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6AE407-D260-A24F-A84A-A56446DE0BAD}"/>
              </a:ext>
            </a:extLst>
          </p:cNvPr>
          <p:cNvSpPr/>
          <p:nvPr/>
        </p:nvSpPr>
        <p:spPr>
          <a:xfrm>
            <a:off x="2008908" y="3242199"/>
            <a:ext cx="817844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['__doc__', '__file__', '__loader__', '__name__', '__package__', '__spec__', 'acos', 'acosh', 'asin', 'asinh', 'atan', 'atan2', 'atanh', 'ceil', 'comb', 'copysign', 'cos', 'cosh', 'degrees', 'dist', 'e', 'erf', 'erfc', 'exp', 'expm1', 'fabs', 'factorial', 'floor', 'fmod', 'frexp', 'fsum', 'gamma', 'gcd', 'hypot', 'inf', 'isclose', 'isfinite', 'isinf', 'isnan', 'isqrt', 'lcm', 'ldexp', 'lgamma', 'log', 'log10', 'log1p', 'log2', 'modf', 'nan', 'nextafter', 'perm', 'pi', 'pow', 'prod', 'radians', 'remainder', 'sin', 'sinh', 'sqrt', 'tan', 'tanh', 'tau', 'trunc', 'ulp']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63018F-C37C-5E41-8EC3-ECA9DA349FAC}"/>
              </a:ext>
            </a:extLst>
          </p:cNvPr>
          <p:cNvCxnSpPr/>
          <p:nvPr/>
        </p:nvCxnSpPr>
        <p:spPr>
          <a:xfrm>
            <a:off x="2008908" y="324219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AE9C970-19BE-3C73-078E-4BDEF8FAD6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5552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63018F-C37C-5E41-8EC3-ECA9DA349FAC}"/>
              </a:ext>
            </a:extLst>
          </p:cNvPr>
          <p:cNvCxnSpPr/>
          <p:nvPr/>
        </p:nvCxnSpPr>
        <p:spPr>
          <a:xfrm>
            <a:off x="2008908" y="324219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6E8CE3F4-F1FE-5048-8A68-628551E57406}"/>
              </a:ext>
            </a:extLst>
          </p:cNvPr>
          <p:cNvSpPr/>
          <p:nvPr/>
        </p:nvSpPr>
        <p:spPr>
          <a:xfrm>
            <a:off x="2004645" y="410307"/>
            <a:ext cx="817844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help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help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math.sin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5A90C8-FDA7-464A-91D4-043CA5C7560C}"/>
              </a:ext>
            </a:extLst>
          </p:cNvPr>
          <p:cNvSpPr/>
          <p:nvPr/>
        </p:nvSpPr>
        <p:spPr>
          <a:xfrm>
            <a:off x="2004645" y="3242199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Help on built-in function sin in module math: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sin(x, /)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Return the sine of x (measured in radians).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60A255-987F-57AB-9C86-53FD8755CA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869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63018F-C37C-5E41-8EC3-ECA9DA349FAC}"/>
              </a:ext>
            </a:extLst>
          </p:cNvPr>
          <p:cNvCxnSpPr/>
          <p:nvPr/>
        </p:nvCxnSpPr>
        <p:spPr>
          <a:xfrm>
            <a:off x="2008908" y="324219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90E3C64-CA4A-354E-9CC1-46550643DAC3}"/>
              </a:ext>
            </a:extLst>
          </p:cNvPr>
          <p:cNvSpPr/>
          <p:nvPr/>
        </p:nvSpPr>
        <p:spPr>
          <a:xfrm>
            <a:off x="1965214" y="410308"/>
            <a:ext cx="8217877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«Пасхальные яйца»</a:t>
            </a:r>
            <a:b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Говоря про встроенную библиотеку, нельзя не сказать о «пасхальных</a:t>
            </a:r>
            <a:b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яйцах» в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Python.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 импорте модуля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 познакомитесь с</a:t>
            </a:r>
            <a:b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дзеном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Python.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 импорт модуля с антигравитацией откроет в браузере комикс</a:t>
            </a:r>
            <a:b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о том, что в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Python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действительно есть модули на все случаи жизни.</a:t>
            </a:r>
            <a:b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antigravity</a:t>
            </a:r>
            <a:endParaRPr kumimoji="0" lang="en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914C81-495A-604F-82C9-249027300F3F}"/>
              </a:ext>
            </a:extLst>
          </p:cNvPr>
          <p:cNvSpPr/>
          <p:nvPr/>
        </p:nvSpPr>
        <p:spPr>
          <a:xfrm>
            <a:off x="2008907" y="3242199"/>
            <a:ext cx="396240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Beautiful is better than ugly.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Explicit is better than implicit.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Simple is better than complex.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Complex is better than complicated.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Flat is better than nested.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Sparse is better than dense.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Readability counts.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...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33869441-BEA9-6845-AF22-05BD15D9602E}"/>
              </a:ext>
            </a:extLst>
          </p:cNvPr>
          <p:cNvSpPr/>
          <p:nvPr/>
        </p:nvSpPr>
        <p:spPr>
          <a:xfrm>
            <a:off x="6096000" y="3330774"/>
            <a:ext cx="45719" cy="2206425"/>
          </a:xfrm>
          <a:custGeom>
            <a:avLst/>
            <a:gdLst/>
            <a:ahLst/>
            <a:cxnLst/>
            <a:rect l="l" t="t" r="r" b="b"/>
            <a:pathLst>
              <a:path h="9116060">
                <a:moveTo>
                  <a:pt x="0" y="0"/>
                </a:moveTo>
                <a:lnTo>
                  <a:pt x="0" y="9115685"/>
                </a:lnTo>
              </a:path>
            </a:pathLst>
          </a:custGeom>
          <a:ln w="31414">
            <a:solidFill>
              <a:srgbClr val="808080"/>
            </a:solidFill>
            <a:prstDash val="lgDash"/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Arial Unicode MS"/>
              <a:cs typeface="+mn-cs"/>
            </a:endParaRP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2277A4-8264-F945-8642-D45F5922055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9213" y="3330774"/>
            <a:ext cx="1841659" cy="224429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39480DF-41AB-2B4A-CD2D-54E9C49379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553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908735"/>
            <a:ext cx="80047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Модуль </a:t>
            </a:r>
            <a:r>
              <a:rPr kumimoji="0" lang="en-GB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math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75370F-3A2C-4116-3E52-F7E03CEB6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65914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2B346-D509-1647-A0A9-B3B33827D953}"/>
              </a:ext>
            </a:extLst>
          </p:cNvPr>
          <p:cNvSpPr txBox="1"/>
          <p:nvPr/>
        </p:nvSpPr>
        <p:spPr>
          <a:xfrm>
            <a:off x="2004646" y="410308"/>
            <a:ext cx="81827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Возведение в степень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math.pow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10000000000.0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Извлечение квадратного корня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math.sqrt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16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4.0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math.sin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math.radians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1.0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math.cos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math.radians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))) 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1.0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math.tan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math.radians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0.9999999999999999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565322B-8249-0A82-891C-10317BBF3E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809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908734"/>
            <a:ext cx="80047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Модуль </a:t>
            </a:r>
            <a:r>
              <a:rPr kumimoji="0" lang="en-GB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random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75702F5-1660-285D-6A46-CCEE482D51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22248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63018F-C37C-5E41-8EC3-ECA9DA349FAC}"/>
              </a:ext>
            </a:extLst>
          </p:cNvPr>
          <p:cNvCxnSpPr/>
          <p:nvPr/>
        </p:nvCxnSpPr>
        <p:spPr>
          <a:xfrm>
            <a:off x="2008908" y="324219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1F2AA4C-D198-E44E-B3BD-F63DB52AA8EA}"/>
              </a:ext>
            </a:extLst>
          </p:cNvPr>
          <p:cNvSpPr txBox="1"/>
          <p:nvPr/>
        </p:nvSpPr>
        <p:spPr>
          <a:xfrm>
            <a:off x="2004646" y="410307"/>
            <a:ext cx="6203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random 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(random))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183689-7EE2-5540-A3D3-38DBDF3F5C98}"/>
              </a:ext>
            </a:extLst>
          </p:cNvPr>
          <p:cNvSpPr txBox="1"/>
          <p:nvPr/>
        </p:nvSpPr>
        <p:spPr>
          <a:xfrm>
            <a:off x="2008908" y="3242199"/>
            <a:ext cx="817418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['BPF', 'LOG4', 'NV_MAGICCONST', 'RECIP_BPF', 'Random', 'SG_MAGICCONST', 'SystemRandom', 'TWOPI', '_ONE', '_Sequence', '_Set', '__all__', '__builtins__', '__cached__', '__doc__', '__file__', '__loader__', '__name__', '__package__', '__spec__', '_accumulate', '_acos', '_bisect', '_ceil', '_cos', '_e', '_exp', '_floor', '_index', '_inst', '_isfinite', '_log', '_os', '_pi', '_random', '_repeat', '_sha512', '_sin', '_sqrt', '_test', '_test_generator', '_urandom', '_warn', 'betavariate', 'choice', 'choices’, ...]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3945ED-CEE7-9557-CD62-CD2C823AB8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6093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83797F-AA91-044A-B590-A85690D5364A}"/>
              </a:ext>
            </a:extLst>
          </p:cNvPr>
          <p:cNvSpPr txBox="1"/>
          <p:nvPr/>
        </p:nvSpPr>
        <p:spPr>
          <a:xfrm>
            <a:off x="2004646" y="410308"/>
            <a:ext cx="818270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choice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Одна из самых популярных — функция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choice.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 её помощью можно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выбрать один вариант из нескольких альтернатив, заданных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 списке, кортеже, строке или любом другом итерируемом типе.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Например, вот так можно моделировать подкидывание монетки: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random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choice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choice([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орёл"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"решка"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  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'орёл'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choice(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"ab"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'a'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D389186-3853-2997-0408-8C8F288926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074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63018F-C37C-5E41-8EC3-ECA9DA349FAC}"/>
              </a:ext>
            </a:extLst>
          </p:cNvPr>
          <p:cNvCxnSpPr/>
          <p:nvPr/>
        </p:nvCxnSpPr>
        <p:spPr>
          <a:xfrm>
            <a:off x="2008908" y="324219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9AAE25D-BD70-DF45-8A84-44D393A5E469}"/>
              </a:ext>
            </a:extLst>
          </p:cNvPr>
          <p:cNvSpPr txBox="1"/>
          <p:nvPr/>
        </p:nvSpPr>
        <p:spPr>
          <a:xfrm>
            <a:off x="2004646" y="395267"/>
            <a:ext cx="817418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choice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Можно сымитировать несколько бросков игральных кубиков: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random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choice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dashes = 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(choice(dashes)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choice(dashes))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952864-24C8-D741-B39D-9F2263B3DFD4}"/>
              </a:ext>
            </a:extLst>
          </p:cNvPr>
          <p:cNvSpPr txBox="1"/>
          <p:nvPr/>
        </p:nvSpPr>
        <p:spPr>
          <a:xfrm>
            <a:off x="2004646" y="3257241"/>
            <a:ext cx="62038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4 2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4 4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6 2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5 2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5 6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3 2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5 5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6 2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882578-C68E-BB4C-8454-A87A6CC04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95" y="2607199"/>
            <a:ext cx="1270000" cy="127000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063DFD2-EE1D-A2F0-4C77-08BBB76C97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051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63018F-C37C-5E41-8EC3-ECA9DA349FAC}"/>
              </a:ext>
            </a:extLst>
          </p:cNvPr>
          <p:cNvCxnSpPr/>
          <p:nvPr/>
        </p:nvCxnSpPr>
        <p:spPr>
          <a:xfrm>
            <a:off x="2008908" y="324219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8882578-C68E-BB4C-8454-A87A6CC04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95" y="2607199"/>
            <a:ext cx="1270000" cy="127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447F2D-661E-BA48-84BB-7D1044A03954}"/>
              </a:ext>
            </a:extLst>
          </p:cNvPr>
          <p:cNvSpPr txBox="1"/>
          <p:nvPr/>
        </p:nvSpPr>
        <p:spPr>
          <a:xfrm>
            <a:off x="2004645" y="430798"/>
            <a:ext cx="818270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Юникод-кубики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random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choice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dashes = 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\u2680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\u2681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\u2682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\u2683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\u2684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\u2685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(choice(dashes)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choice(dashes))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35B359-8261-B543-9CF5-96E8A2505FA0}"/>
              </a:ext>
            </a:extLst>
          </p:cNvPr>
          <p:cNvSpPr txBox="1"/>
          <p:nvPr/>
        </p:nvSpPr>
        <p:spPr>
          <a:xfrm>
            <a:off x="2004645" y="3250800"/>
            <a:ext cx="62038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⚄ ⚃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⚄ ⚄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⚁ ⚀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⚂ ⚄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⚄ ⚃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⚀ ⚀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⚄ ⚀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⚄ ⚄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⚅ ⚂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FEDA2D-AD91-F119-5BCF-58617D0C87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337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5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F6DAE4-9EFC-BA46-A4CC-02CB32ACF370}"/>
              </a:ext>
            </a:extLst>
          </p:cNvPr>
          <p:cNvCxnSpPr/>
          <p:nvPr/>
        </p:nvCxnSpPr>
        <p:spPr>
          <a:xfrm>
            <a:off x="2004646" y="442371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F099799-7415-384D-9490-3C06E331010E}"/>
              </a:ext>
            </a:extLst>
          </p:cNvPr>
          <p:cNvSpPr txBox="1"/>
          <p:nvPr/>
        </p:nvSpPr>
        <p:spPr>
          <a:xfrm>
            <a:off x="2004645" y="410308"/>
            <a:ext cx="81827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Функции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sample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choises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random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choices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sample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my_list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'Yes'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'No'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'May be'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выбираем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элементов коллекции с повторениями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(choices(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my_list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выбираем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k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элементов без повторений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(sample(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8EA7B-05BF-A045-AEB4-C1D9DCA9AA0B}"/>
              </a:ext>
            </a:extLst>
          </p:cNvPr>
          <p:cNvSpPr txBox="1"/>
          <p:nvPr/>
        </p:nvSpPr>
        <p:spPr>
          <a:xfrm>
            <a:off x="2004644" y="4413894"/>
            <a:ext cx="6203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['No', 'No', 'Yes', 'Yes', 'Yes']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[1, 4, 7, 5, 3, 8]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C7DB856-433C-505B-61B0-03914779C4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877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5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F6DAE4-9EFC-BA46-A4CC-02CB32ACF370}"/>
              </a:ext>
            </a:extLst>
          </p:cNvPr>
          <p:cNvCxnSpPr/>
          <p:nvPr/>
        </p:nvCxnSpPr>
        <p:spPr>
          <a:xfrm>
            <a:off x="2004646" y="442371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ED01FC-A900-6C41-814E-9B48CBD6B9FD}"/>
              </a:ext>
            </a:extLst>
          </p:cNvPr>
          <p:cNvSpPr txBox="1"/>
          <p:nvPr/>
        </p:nvSpPr>
        <p:spPr>
          <a:xfrm>
            <a:off x="2004644" y="412781"/>
            <a:ext cx="62038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Функция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shuffle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random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shuffle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=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shuffle(a)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меняет сам список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(a[: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B354C4-B32B-C54D-83DB-04613195DB1B}"/>
              </a:ext>
            </a:extLst>
          </p:cNvPr>
          <p:cNvSpPr txBox="1"/>
          <p:nvPr/>
        </p:nvSpPr>
        <p:spPr>
          <a:xfrm>
            <a:off x="1969473" y="4423719"/>
            <a:ext cx="62038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[74, 28, 44, 9, 17, 99, 72, 7, 61, 62]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5E9A83D-A6F9-85FA-F36D-6063BFB1FA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45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908733"/>
            <a:ext cx="80047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Модуль </a:t>
            </a:r>
            <a:r>
              <a:rPr kumimoji="0" lang="en-GB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datetime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3BBFA94-3915-792E-E8C1-355CDD316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19624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5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F6DAE4-9EFC-BA46-A4CC-02CB32ACF370}"/>
              </a:ext>
            </a:extLst>
          </p:cNvPr>
          <p:cNvCxnSpPr/>
          <p:nvPr/>
        </p:nvCxnSpPr>
        <p:spPr>
          <a:xfrm>
            <a:off x="2004646" y="442371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4E169A-21E6-5546-B445-2F7CBCD36C68}"/>
              </a:ext>
            </a:extLst>
          </p:cNvPr>
          <p:cNvSpPr txBox="1"/>
          <p:nvPr/>
        </p:nvSpPr>
        <p:spPr>
          <a:xfrm>
            <a:off x="2004646" y="410307"/>
            <a:ext cx="62038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date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datetime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тип данных 'дата' (год + месяц + день)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my_date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dt.date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2019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my_date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dt.date.today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 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dt.date.today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().weekday())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CC1880-DB44-7140-AFF0-EA3D722AE22F}"/>
              </a:ext>
            </a:extLst>
          </p:cNvPr>
          <p:cNvSpPr txBox="1"/>
          <p:nvPr/>
        </p:nvSpPr>
        <p:spPr>
          <a:xfrm>
            <a:off x="2004646" y="4423719"/>
            <a:ext cx="62038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2019-11-05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202</a:t>
            </a:r>
            <a:r>
              <a:rPr lang="ru-RU" sz="1600" dirty="0">
                <a:solidFill>
                  <a:prstClr val="white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-04-04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E33A20-0E5D-E94B-ACA9-A00CF10A59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667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5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F6DAE4-9EFC-BA46-A4CC-02CB32ACF370}"/>
              </a:ext>
            </a:extLst>
          </p:cNvPr>
          <p:cNvCxnSpPr/>
          <p:nvPr/>
        </p:nvCxnSpPr>
        <p:spPr>
          <a:xfrm>
            <a:off x="2004646" y="442371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44300FE-193E-CE4D-9B52-11601D367F80}"/>
              </a:ext>
            </a:extLst>
          </p:cNvPr>
          <p:cNvSpPr txBox="1"/>
          <p:nvPr/>
        </p:nvSpPr>
        <p:spPr>
          <a:xfrm>
            <a:off x="2004644" y="410308"/>
            <a:ext cx="818270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datetime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datetime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тип данных дата + время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my_datetime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dt.datetime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2020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13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my_datetime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можно объединить дату и время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my_date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dt.date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2019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my_time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dt.time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23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29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my_datetime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dt.datetime.combine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my_date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my_time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my_datetime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my_datetime.year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получить текущую дату и время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dt.datetime.now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88EAF2-7F89-5A47-934F-F670DE1C10D7}"/>
              </a:ext>
            </a:extLst>
          </p:cNvPr>
          <p:cNvSpPr txBox="1"/>
          <p:nvPr/>
        </p:nvSpPr>
        <p:spPr>
          <a:xfrm>
            <a:off x="2004644" y="4423719"/>
            <a:ext cx="62038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2020-12-15 13:25:09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2019-11-05 23:15:29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2019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202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-04-04 13:20:42.949790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3D478E7-1B78-DBA2-8C64-5F1F8034EB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231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5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F6DAE4-9EFC-BA46-A4CC-02CB32ACF370}"/>
              </a:ext>
            </a:extLst>
          </p:cNvPr>
          <p:cNvCxnSpPr/>
          <p:nvPr/>
        </p:nvCxnSpPr>
        <p:spPr>
          <a:xfrm>
            <a:off x="2004646" y="442371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8CF3EEE-69FD-3B4F-B5C8-AF81C482D0AE}"/>
              </a:ext>
            </a:extLst>
          </p:cNvPr>
          <p:cNvSpPr txBox="1"/>
          <p:nvPr/>
        </p:nvSpPr>
        <p:spPr>
          <a:xfrm>
            <a:off x="2004643" y="410308"/>
            <a:ext cx="80818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timedelta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datetime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тип данных временной интервал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delta_time1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dt.timedelta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seconds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weeks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(delta_time1)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(delta_time1.days)  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(delta_time1.total_seconds())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B1F694-D326-FD43-BD35-05D310D549E3}"/>
              </a:ext>
            </a:extLst>
          </p:cNvPr>
          <p:cNvSpPr txBox="1"/>
          <p:nvPr/>
        </p:nvSpPr>
        <p:spPr>
          <a:xfrm>
            <a:off x="2004643" y="4423719"/>
            <a:ext cx="62038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 days, 0:00:10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1209610.0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B9B9C97-29CE-90EB-0118-2EDF5305F6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89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5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F6DAE4-9EFC-BA46-A4CC-02CB32ACF370}"/>
              </a:ext>
            </a:extLst>
          </p:cNvPr>
          <p:cNvCxnSpPr/>
          <p:nvPr/>
        </p:nvCxnSpPr>
        <p:spPr>
          <a:xfrm>
            <a:off x="2004646" y="442371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D28ABB-EE77-4547-A64C-3BFD8431CE31}"/>
              </a:ext>
            </a:extLst>
          </p:cNvPr>
          <p:cNvSpPr txBox="1"/>
          <p:nvPr/>
        </p:nvSpPr>
        <p:spPr>
          <a:xfrm>
            <a:off x="2004643" y="410307"/>
            <a:ext cx="81827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Математические операции с датами и интервалами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datetime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поддерживаются математические и логические операции для дат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date1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dt.date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2019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date2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dt.date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2018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delta_time1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dt.timedelta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days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hours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(date1 + delta_time1)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(date1 - delta_time1)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(date1 - date2)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(date2 &gt; date1)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DB344D-F817-C74B-A060-E9F114BCA7BA}"/>
              </a:ext>
            </a:extLst>
          </p:cNvPr>
          <p:cNvSpPr txBox="1"/>
          <p:nvPr/>
        </p:nvSpPr>
        <p:spPr>
          <a:xfrm>
            <a:off x="2004643" y="4423719"/>
            <a:ext cx="62038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2019-11-09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2019-11-01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400 days, 0:00:00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78F8C36-55BF-DBED-7871-97C81F5294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196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5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F6DAE4-9EFC-BA46-A4CC-02CB32ACF370}"/>
              </a:ext>
            </a:extLst>
          </p:cNvPr>
          <p:cNvCxnSpPr/>
          <p:nvPr/>
        </p:nvCxnSpPr>
        <p:spPr>
          <a:xfrm>
            <a:off x="2004646" y="442371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5885A12-F0BD-4A4D-9BDB-8CA63FF784A1}"/>
              </a:ext>
            </a:extLst>
          </p:cNvPr>
          <p:cNvSpPr txBox="1"/>
          <p:nvPr/>
        </p:nvSpPr>
        <p:spPr>
          <a:xfrm>
            <a:off x="2004643" y="410307"/>
            <a:ext cx="818270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Форматированный вывод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datetime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поддерживается форматированный вывод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my_format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"%B"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dt.datetime.now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strftime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"%A %d-%B-%y %H:%M:S"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dt.date.today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strftime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my_format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C347BC-0EF7-D84B-A09B-0C5850C91E95}"/>
              </a:ext>
            </a:extLst>
          </p:cNvPr>
          <p:cNvSpPr txBox="1"/>
          <p:nvPr/>
        </p:nvSpPr>
        <p:spPr>
          <a:xfrm>
            <a:off x="2004643" y="4430183"/>
            <a:ext cx="6203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Monday 04-April-22 13:27:S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April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EEF8555-97D2-37AB-D2CB-09DCDC9239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190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908732"/>
            <a:ext cx="80047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Модуль </a:t>
            </a:r>
            <a:r>
              <a:rPr kumimoji="0" lang="en-GB" altLang="ko-KR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pprint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1CC1F3A-7D9F-5BD3-B77E-CAFF2CEC93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58023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63018F-C37C-5E41-8EC3-ECA9DA349FAC}"/>
              </a:ext>
            </a:extLst>
          </p:cNvPr>
          <p:cNvCxnSpPr/>
          <p:nvPr/>
        </p:nvCxnSpPr>
        <p:spPr>
          <a:xfrm>
            <a:off x="2008908" y="324219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E643842-58DE-9642-A7F2-71F5FB983A5F}"/>
              </a:ext>
            </a:extLst>
          </p:cNvPr>
          <p:cNvSpPr txBox="1"/>
          <p:nvPr/>
        </p:nvSpPr>
        <p:spPr>
          <a:xfrm>
            <a:off x="2004645" y="410308"/>
            <a:ext cx="81827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Модуль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pprint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random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pprint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= [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random.sample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_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(a)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4A3D36-AEC7-6143-8765-D66DE98F868D}"/>
              </a:ext>
            </a:extLst>
          </p:cNvPr>
          <p:cNvSpPr txBox="1"/>
          <p:nvPr/>
        </p:nvSpPr>
        <p:spPr>
          <a:xfrm>
            <a:off x="2004645" y="3305100"/>
            <a:ext cx="62038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[[0, 3, 4, 18, 11, 15],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[18, 2, 8, 12, 6, 13],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[1, 16, 8, 6, 12, 2],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[9, 8, 4, 19, 15, 10],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[6, 2, 14, 19, 4, 18],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[0, 16, 4, 3, 12, 1],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[13, 8, 17, 19, 9, 14],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[6, 18, 9, 11, 15, 10],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[13, 8, 5, 10, 3, 17],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[1, 19, 10, 15, 4, 8]]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93AD6D9-0842-1E2B-141F-9AF986D03A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75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908731"/>
            <a:ext cx="80047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Модуль </a:t>
            </a:r>
            <a:r>
              <a:rPr kumimoji="0" lang="en-GB" altLang="ko-KR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itertools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8046F43-2E50-CD9B-6544-281C4EDC97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88064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2B38B-2B43-C24F-91A1-CAF9C24379C9}"/>
              </a:ext>
            </a:extLst>
          </p:cNvPr>
          <p:cNvSpPr txBox="1"/>
          <p:nvPr/>
        </p:nvSpPr>
        <p:spPr>
          <a:xfrm>
            <a:off x="2004646" y="410308"/>
            <a:ext cx="62038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itertools.chain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chain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chained = chain(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'ab'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33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(chained)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a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(chained)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b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(chained)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33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790046-6572-7EDA-2AEA-EB1028E245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345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3CDA4-91FD-B443-A0A5-90191523BC24}"/>
              </a:ext>
            </a:extLst>
          </p:cNvPr>
          <p:cNvSpPr txBox="1"/>
          <p:nvPr/>
        </p:nvSpPr>
        <p:spPr>
          <a:xfrm>
            <a:off x="2004646" y="410308"/>
            <a:ext cx="818270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itertools.chain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chain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month_lengths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28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day_numbers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chain(*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length: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 +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month_lengths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239EE10-7A95-C2E6-6BB5-5A22EC80E3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758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2CE0F-8B28-9446-9E61-540CF03BC876}"/>
              </a:ext>
            </a:extLst>
          </p:cNvPr>
          <p:cNvSpPr txBox="1"/>
          <p:nvPr/>
        </p:nvSpPr>
        <p:spPr>
          <a:xfrm>
            <a:off x="1969476" y="410308"/>
            <a:ext cx="821787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Зацикливание: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itertools.cycle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itertools.repeat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repeat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repeater = repeat(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'PY'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(repeater)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PY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(repeater)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PY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(repeater)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PY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(repeat(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'PY'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['PY', 'PY']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81C8C4E-AEBD-FCB3-FEC9-CCF6629A95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613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43597-07E4-B842-A932-7119760613BF}"/>
              </a:ext>
            </a:extLst>
          </p:cNvPr>
          <p:cNvSpPr txBox="1"/>
          <p:nvPr/>
        </p:nvSpPr>
        <p:spPr>
          <a:xfrm>
            <a:off x="1969477" y="410308"/>
            <a:ext cx="82178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3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Зацикливание: </a:t>
            </a:r>
            <a:r>
              <a:rPr kumimoji="0" lang="en-GB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itertools.cycle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itertools.repeat</a:t>
            </a:r>
            <a:b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repeat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cycle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chain</a:t>
            </a:r>
            <a:b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hours = cycle(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3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Используем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repeat, </a:t>
            </a:r>
            <a:r>
              <a:rPr kumimoji="0" lang="ru-RU" sz="13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чтобы на протяжении 31 дня января повторять,</a:t>
            </a:r>
            <a:br>
              <a:rPr kumimoji="0" lang="ru-RU" sz="13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3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что это первый месяц года и т.д.</a:t>
            </a:r>
            <a:br>
              <a:rPr kumimoji="0" lang="ru-RU" sz="13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month_lengths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28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31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month_numbers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chain(*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kumimoji="0" lang="en-GB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month_and_length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 repeat(</a:t>
            </a:r>
            <a:r>
              <a:rPr kumimoji="0" lang="en-GB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month_and_length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month_and_length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enumerate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month_lengths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)))</a:t>
            </a:r>
            <a:endParaRPr kumimoji="0" lang="en-RU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E6F5F76-E6D9-CE57-4BF7-35A16BDE17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381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1703B-CCD3-8B4C-BF60-19A72434664A}"/>
              </a:ext>
            </a:extLst>
          </p:cNvPr>
          <p:cNvSpPr txBox="1"/>
          <p:nvPr/>
        </p:nvSpPr>
        <p:spPr>
          <a:xfrm>
            <a:off x="1969477" y="410308"/>
            <a:ext cx="82178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itertools.islice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слайсы итераторов (в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т.ч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 бесконечных)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До бесконечности повторять отсчёт часов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hours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itertools.cycle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Новый итератор перебирает лишь первые 100 элементов из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hours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first_100_hours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itertools.islice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(hours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 отличие от бесконечного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hours,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элементы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first_100_hours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можно перебрать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(*first_100_hours)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833F2FA-8E16-5B96-7D46-83F34E0E36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364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1A223-19A1-4740-B688-92499146F0FC}"/>
              </a:ext>
            </a:extLst>
          </p:cNvPr>
          <p:cNvSpPr txBox="1"/>
          <p:nvPr/>
        </p:nvSpPr>
        <p:spPr>
          <a:xfrm>
            <a:off x="1969477" y="410308"/>
            <a:ext cx="82178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Предостережение!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Не используйте один и тот же итератор несколько раз,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ведь он меняет своё положение!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(а иногда не только своё, но и родительского итератора)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cycle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islice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hours = cycle(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each_7_hours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islice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(hours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(*each_7_hours)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0 7 14 21 4 11 18 1 8 15 22 5 12 19 2 9 16 23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(*each_7_hours)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&lt;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пусто!&gt;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E0AE812-2715-63D9-13C9-B3E8FAF2C1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445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2E8CBEE-3502-FF4A-81EF-39BD6469EF23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6344419-74E5-B44A-8F66-CB5F4FEA376B}"/>
              </a:ext>
            </a:extLst>
          </p:cNvPr>
          <p:cNvSpPr txBox="1"/>
          <p:nvPr/>
        </p:nvSpPr>
        <p:spPr>
          <a:xfrm>
            <a:off x="2004645" y="410308"/>
            <a:ext cx="81475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Предостережение!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Лучше создавайте итератор каждый раз заново!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cycle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islice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islice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(cycle(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Создаём и перебираем новый итератор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(*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islice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(cycle(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681696-31A3-2648-A5AD-9C14086EB1F4}"/>
              </a:ext>
            </a:extLst>
          </p:cNvPr>
          <p:cNvSpPr txBox="1"/>
          <p:nvPr/>
        </p:nvSpPr>
        <p:spPr>
          <a:xfrm>
            <a:off x="2004645" y="4346956"/>
            <a:ext cx="62038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0 7 14 21 4 11 18 1 8 15 22 5 12 19 2 9 16 23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0 7 14 21 4 11 18 1 8 15 22 5 12 19 2 9 16 23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76CA5FD-1406-8527-CCC9-6E5133EDA8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481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3CB0EB-39BE-864F-B81F-4704A0A07B40}"/>
              </a:ext>
            </a:extLst>
          </p:cNvPr>
          <p:cNvSpPr txBox="1"/>
          <p:nvPr/>
        </p:nvSpPr>
        <p:spPr>
          <a:xfrm>
            <a:off x="2004646" y="410308"/>
            <a:ext cx="81827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Комбинаторные итераторы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Декартово произведение множеств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itertools.product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hours =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0, 1, 2 ... 23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minutes =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0, 1, 2 ...59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day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itertools.product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(hours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minutes)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(0,0); (0,1); ... (0,59); (1,0); ... (23,59)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itertools.cycle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(day)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(0,0); (0,1); ... (23,59); (0,0); (0,1); ...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9331CF9-5415-7392-8FC3-3702D959D1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701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DA3AC-30C9-5C45-B93F-8C42D26DE029}"/>
              </a:ext>
            </a:extLst>
          </p:cNvPr>
          <p:cNvSpPr txBox="1"/>
          <p:nvPr/>
        </p:nvSpPr>
        <p:spPr>
          <a:xfrm>
            <a:off x="2004646" y="450954"/>
            <a:ext cx="81827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Комбинаторные итераторы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Все возможные комбинации по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элементов итератора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itertools.combinations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(iterator, r)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Например, переберем все пары цифр: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itertools.combinations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(0,1); (0,2); (0,3) ... (0,9)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   (1,2); (1,3);  ...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    ...   (7,8); (7,9); (8,9)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647DDD6-E6BF-93FB-540F-7BD65ECAA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490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4E8F0-63C1-AF45-8820-0B772C5C2BC2}"/>
              </a:ext>
            </a:extLst>
          </p:cNvPr>
          <p:cNvSpPr txBox="1"/>
          <p:nvPr/>
        </p:nvSpPr>
        <p:spPr>
          <a:xfrm>
            <a:off x="2004646" y="410308"/>
            <a:ext cx="81827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Свёртка итератора. Функция 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reduce</a:t>
            </a:r>
            <a:b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Функция 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reduce </a:t>
            </a:r>
            <a:r>
              <a:rPr kumimoji="0" lang="ru-RU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обновляет некоторую величину шаг за шагом, начиная с некоторого</a:t>
            </a:r>
            <a:br>
              <a:rPr kumimoji="0" lang="ru-RU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начального значения. Эта величина обновляется при получении каждого следующего</a:t>
            </a:r>
            <a:br>
              <a:rPr kumimoji="0" lang="ru-RU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элемента из итератора, когда элементы закончились, эта величина возвращается как</a:t>
            </a:r>
            <a:br>
              <a:rPr kumimoji="0" lang="ru-RU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ru-RU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результат работы функции.</a:t>
            </a:r>
            <a:br>
              <a:rPr kumimoji="0" lang="ru-RU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functools.reduce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lambda 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element: result + element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5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=&gt; 45</a:t>
            </a:r>
            <a:endParaRPr kumimoji="0" lang="en-RU" sz="12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2EE2060-1A33-F2FC-12FD-F954873F5F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189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63018F-C37C-5E41-8EC3-ECA9DA349FAC}"/>
              </a:ext>
            </a:extLst>
          </p:cNvPr>
          <p:cNvCxnSpPr/>
          <p:nvPr/>
        </p:nvCxnSpPr>
        <p:spPr>
          <a:xfrm>
            <a:off x="2008908" y="3242199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5846C3-44A5-404D-8666-251A7A411750}"/>
              </a:ext>
            </a:extLst>
          </p:cNvPr>
          <p:cNvSpPr txBox="1"/>
          <p:nvPr/>
        </p:nvSpPr>
        <p:spPr>
          <a:xfrm>
            <a:off x="2004645" y="410308"/>
            <a:ext cx="818270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Группировка элементов. Функция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groupby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itertools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groupby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values = 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groupby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(values)))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(group[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group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groupby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(values)])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FA9670-5944-084E-9E44-E610636C06E7}"/>
              </a:ext>
            </a:extLst>
          </p:cNvPr>
          <p:cNvSpPr txBox="1"/>
          <p:nvPr/>
        </p:nvSpPr>
        <p:spPr>
          <a:xfrm>
            <a:off x="2008907" y="3330775"/>
            <a:ext cx="62769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[(1, &lt;itertools._grouper object at 0x108b9ebc0&gt;), (10, &lt;itertools._grouper object at 0x108b9f0a0&gt;), (12, &lt;itertools._grouper object at 0x108a92230&gt;), (10, &lt;itertools._grouper object at 0x108a922f0&gt;)]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[[1, 1, 1], [10, 10], [12], [10, 10, 10]]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99EE582-1002-6BF2-47FF-C7841A9D68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5486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12561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Группировка элементов. </a:t>
            </a:r>
            <a:endParaRPr kumimoji="0" lang="en-US" sz="4000" b="0" i="0" u="none" strike="noStrike" kern="1200" cap="none" spc="4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Функция </a:t>
            </a:r>
            <a:r>
              <a:rPr kumimoji="0" lang="en-GB" sz="4000" b="0" i="0" u="none" strike="noStrike" kern="1200" cap="none" spc="4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groupby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50DD82EF-B3E8-2840-A1DB-FFB31D9A64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5223" y="1983544"/>
            <a:ext cx="7101553" cy="4338589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195FD8A-373D-0768-DE47-7CF98AB7B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63403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1E0022-A919-44AF-8078-87723532D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97" y="1336121"/>
            <a:ext cx="5856006" cy="2838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42F346-FC6A-493B-995E-DB2FC357CBE3}"/>
              </a:ext>
            </a:extLst>
          </p:cNvPr>
          <p:cNvSpPr txBox="1"/>
          <p:nvPr/>
        </p:nvSpPr>
        <p:spPr>
          <a:xfrm>
            <a:off x="3721860" y="2710447"/>
            <a:ext cx="4696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Arial" panose="020B0604020202020204" pitchFamily="34" charset="0"/>
              </a:rPr>
              <a:t>Time-out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Arial" panose="020B0604020202020204" pitchFamily="34" charset="0"/>
            </a:endParaRPr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8036D483-EE8C-FE4B-A44F-1813496D2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23" y="1690324"/>
            <a:ext cx="1079500" cy="1079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020E3C1-2C84-8624-C7F4-B519D7D6C8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656717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908730"/>
            <a:ext cx="80047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Обработка  изображений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92F58E1-3F57-C701-CA86-54D65023E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193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9735618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908730"/>
            <a:ext cx="80047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Виды компьютерной графики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430188C-AF4A-B53A-97C5-2575AE57DF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194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145904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Трехмерная графика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pic>
        <p:nvPicPr>
          <p:cNvPr id="5" name="Объект 6">
            <a:extLst>
              <a:ext uri="{FF2B5EF4-FFF2-40B4-BE49-F238E27FC236}">
                <a16:creationId xmlns:a16="http://schemas.microsoft.com/office/drawing/2014/main" id="{7B433047-8F4A-7145-97B8-A2ADBBB579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606" r="14094" b="-1"/>
          <a:stretch/>
        </p:blipFill>
        <p:spPr>
          <a:xfrm>
            <a:off x="3303632" y="1458077"/>
            <a:ext cx="5584736" cy="5069723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688E1CF-55DA-113D-6CBA-70DBD14BE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195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003282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Тесселяция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DA532D3E-9F23-CB46-AED0-CDADFDBD3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132" y="1076672"/>
            <a:ext cx="4769735" cy="5451128"/>
          </a:xfrm>
          <a:prstGeom prst="rect">
            <a:avLst/>
          </a:prstGeom>
          <a:ln>
            <a:noFill/>
          </a:ln>
          <a:effectLst/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57F8AFC-A1C4-B20D-414A-FBF7506C17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196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548565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Фрактальная графика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3A5AA83-CC9B-A644-9D1B-7C7E51CFF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260" y="1742800"/>
            <a:ext cx="6269479" cy="4435656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BCA12E7-8D3B-A398-FABE-B15395000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197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537927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Векторная графика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8548E4E1-36D6-C549-AF96-AE9B90CB7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260" y="2126732"/>
            <a:ext cx="6269479" cy="3589276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2AF9104-B240-D9A5-C4ED-0EB1B65B5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198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5927390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908729"/>
            <a:ext cx="80047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Растровые  изображения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7482A03-A492-9936-7B02-4BBBA824F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199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37595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Растровые изображения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AD12487-7B28-0841-A719-80EE408A6E7C}"/>
              </a:ext>
            </a:extLst>
          </p:cNvPr>
          <p:cNvSpPr txBox="1"/>
          <p:nvPr/>
        </p:nvSpPr>
        <p:spPr>
          <a:xfrm>
            <a:off x="725733" y="2807035"/>
            <a:ext cx="4521516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Растровые </a:t>
            </a:r>
            <a:r>
              <a:rPr kumimoji="0" sz="2000" b="0" i="0" u="none" strike="noStrike" kern="1200" cap="none" spc="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изображения </a:t>
            </a:r>
            <a:r>
              <a:rPr kumimoji="0" sz="2000" b="0" i="0" u="none" strike="noStrike" kern="1200" cap="none" spc="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представляют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собой</a:t>
            </a:r>
            <a:r>
              <a:rPr kumimoji="0" sz="20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массив </a:t>
            </a:r>
            <a:r>
              <a:rPr kumimoji="0" sz="2000" b="0" i="0" u="none" strike="noStrike" kern="1200" cap="none" spc="-99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(таблицу) </a:t>
            </a:r>
            <a:r>
              <a:rPr kumimoji="0" sz="2000" b="0" i="0" u="none" strike="noStrike" kern="1200" cap="none" spc="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пикселей </a:t>
            </a:r>
            <a:r>
              <a:rPr kumimoji="0" sz="20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разных </a:t>
            </a:r>
            <a:r>
              <a:rPr kumimoji="0" sz="20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цветов.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C214653F-BF1A-A24E-A65C-9907D3134B0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1257" y="1659988"/>
            <a:ext cx="5525010" cy="4088442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B9681C9-6E32-4B01-3054-1CDDB0822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200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3378778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Растровые изображения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AD12487-7B28-0841-A719-80EE408A6E7C}"/>
              </a:ext>
            </a:extLst>
          </p:cNvPr>
          <p:cNvSpPr txBox="1"/>
          <p:nvPr/>
        </p:nvSpPr>
        <p:spPr>
          <a:xfrm>
            <a:off x="725733" y="2807035"/>
            <a:ext cx="4521516" cy="18851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Если мы приблизим изображение, то увидим пиксели.</a:t>
            </a:r>
          </a:p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24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508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Давайте увеличим глаз совы.</a:t>
            </a: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727161A6-3789-3244-B3DF-E252011C88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983545"/>
            <a:ext cx="5266124" cy="3333630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848C351-E115-A7E4-38D3-808F6E6203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201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612070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1884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Растровая графика </a:t>
            </a:r>
          </a:p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VS </a:t>
            </a:r>
            <a:endParaRPr kumimoji="0" lang="ru-RU" sz="4000" b="0" i="0" u="none" strike="noStrike" kern="1200" cap="none" spc="4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Векторной графики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pic>
        <p:nvPicPr>
          <p:cNvPr id="6" name="Объект 4">
            <a:extLst>
              <a:ext uri="{FF2B5EF4-FFF2-40B4-BE49-F238E27FC236}">
                <a16:creationId xmlns:a16="http://schemas.microsoft.com/office/drawing/2014/main" id="{DFEAA31A-E364-F348-AE21-51719A4AB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578" y="2322732"/>
            <a:ext cx="7302844" cy="4381706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2D44280-27F2-6BEC-E2BA-D94027A66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202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60158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Палитра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E85E8D7-B2C0-F745-8197-6250034439E7}"/>
              </a:ext>
            </a:extLst>
          </p:cNvPr>
          <p:cNvSpPr txBox="1"/>
          <p:nvPr/>
        </p:nvSpPr>
        <p:spPr>
          <a:xfrm>
            <a:off x="725733" y="1793528"/>
            <a:ext cx="11681561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8407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Изображение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можно</a:t>
            </a:r>
            <a:r>
              <a:rPr kumimoji="0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моделировать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списком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списков </a:t>
            </a:r>
            <a:r>
              <a:rPr kumimoji="0" sz="2000" b="0" i="0" u="none" strike="noStrike" kern="1200" cap="none" spc="-9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(двумерной</a:t>
            </a:r>
            <a:r>
              <a:rPr kumimoji="0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таблицей,</a:t>
            </a:r>
            <a:r>
              <a:rPr kumimoji="0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которой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лежат</a:t>
            </a:r>
            <a:r>
              <a:rPr kumimoji="0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цвета).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1132205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Мы</a:t>
            </a:r>
            <a:r>
              <a:rPr kumimoji="0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можем</a:t>
            </a:r>
            <a:r>
              <a:rPr kumimoji="0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пронумеровать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некоторое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количество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цветов </a:t>
            </a:r>
            <a:r>
              <a:rPr kumimoji="0" sz="2000" b="0" i="0" u="none" strike="noStrike" kern="1200" cap="none" spc="-9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указывать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их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номера</a:t>
            </a:r>
            <a:r>
              <a:rPr kumimoji="0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нашем</a:t>
            </a:r>
            <a:r>
              <a:rPr kumimoji="0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списке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списков.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Совокупность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выбранных</a:t>
            </a:r>
            <a:r>
              <a:rPr kumimoji="0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цветов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будет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называться</a:t>
            </a:r>
            <a:r>
              <a:rPr kumimoji="0" sz="20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палитрой.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FAF5F39D-BE4E-AC40-836A-A0F9C1F324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0397" y="4263441"/>
            <a:ext cx="3591205" cy="230700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D32C675-450A-6740-6337-ADED8CFF7A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203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417703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RGB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E85E8D7-B2C0-F745-8197-6250034439E7}"/>
              </a:ext>
            </a:extLst>
          </p:cNvPr>
          <p:cNvSpPr txBox="1"/>
          <p:nvPr/>
        </p:nvSpPr>
        <p:spPr>
          <a:xfrm>
            <a:off x="725733" y="1793528"/>
            <a:ext cx="11681561" cy="3029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Нам</a:t>
            </a:r>
            <a:r>
              <a:rPr kumimoji="0" lang="ru-RU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нужен</a:t>
            </a:r>
            <a:r>
              <a:rPr kumimoji="0" lang="ru-RU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способ</a:t>
            </a:r>
            <a:r>
              <a:rPr kumimoji="0" lang="ru-RU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преобразования</a:t>
            </a:r>
            <a:r>
              <a:rPr kumimoji="0" lang="ru-RU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цветов</a:t>
            </a:r>
            <a:r>
              <a:rPr kumimoji="0" lang="ru-RU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</a:t>
            </a:r>
            <a:r>
              <a:rPr kumimoji="0" lang="ru-RU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целые</a:t>
            </a:r>
            <a:r>
              <a:rPr kumimoji="0" lang="ru-RU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числа.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404495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Мы</a:t>
            </a:r>
            <a:r>
              <a:rPr kumimoji="0" lang="ru-RU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воспользуемся</a:t>
            </a:r>
            <a:r>
              <a:rPr kumimoji="0" lang="ru-RU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одной</a:t>
            </a:r>
            <a:r>
              <a:rPr kumimoji="0" lang="ru-RU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из</a:t>
            </a:r>
            <a:r>
              <a:rPr kumimoji="0" lang="ru-RU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самых</a:t>
            </a:r>
            <a:r>
              <a:rPr kumimoji="0" lang="ru-RU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популярных</a:t>
            </a:r>
            <a:r>
              <a:rPr kumimoji="0" lang="ru-RU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моделей </a:t>
            </a:r>
            <a:r>
              <a:rPr kumimoji="0" lang="ru-RU" sz="2000" b="0" i="0" u="none" strike="noStrike" kern="1200" cap="none" spc="-99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представления</a:t>
            </a:r>
            <a:r>
              <a:rPr kumimoji="0" lang="ru-RU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цвета</a:t>
            </a:r>
            <a:r>
              <a:rPr kumimoji="0" lang="ru-RU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—</a:t>
            </a:r>
            <a:r>
              <a:rPr kumimoji="0" lang="ru-RU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2000" b="0" i="0" u="none" strike="noStrike" kern="1200" cap="none" spc="3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RGB</a:t>
            </a:r>
            <a:r>
              <a:rPr kumimoji="0" lang="en-GB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20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(Red,</a:t>
            </a:r>
            <a:r>
              <a:rPr kumimoji="0" lang="en-GB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20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Green,</a:t>
            </a:r>
            <a:r>
              <a:rPr kumimoji="0" lang="en-GB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2000" b="0" i="0" u="none" strike="noStrike" kern="1200" cap="none" spc="1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Blue).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194056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3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 </a:t>
            </a:r>
            <a:r>
              <a:rPr kumimoji="0" lang="ru-RU" sz="2000" b="0" i="0" u="none" strike="noStrike" kern="1200" cap="none" spc="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модели </a:t>
            </a:r>
            <a:r>
              <a:rPr kumimoji="0" lang="en-GB" sz="2000" b="0" i="0" u="none" strike="noStrike" kern="1200" cap="none" spc="3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RGB </a:t>
            </a:r>
            <a:r>
              <a:rPr kumimoji="0" lang="ru-RU" sz="20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каждый </a:t>
            </a:r>
            <a:r>
              <a:rPr kumimoji="0" lang="ru-RU" sz="20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из </a:t>
            </a:r>
            <a:r>
              <a:rPr kumimoji="0" lang="ru-RU" sz="2000" b="0" i="0" u="none" strike="noStrike" kern="1200" cap="none" spc="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цветов </a:t>
            </a:r>
            <a:r>
              <a:rPr kumimoji="0" lang="ru-RU" sz="2000" b="0" i="0" u="none" strike="noStrike" kern="1200" cap="none" spc="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представляется </a:t>
            </a:r>
            <a:r>
              <a:rPr kumimoji="0" lang="ru-RU" sz="2000" b="0" i="0" u="none" strike="noStrike" kern="1200" cap="none" spc="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совокупность</a:t>
            </a:r>
            <a:r>
              <a:rPr kumimoji="0" lang="ru-RU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трёх</a:t>
            </a:r>
            <a:r>
              <a:rPr kumimoji="0" lang="ru-RU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компонентов:</a:t>
            </a:r>
            <a:r>
              <a:rPr kumimoji="0" lang="ru-RU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красного,</a:t>
            </a:r>
            <a:r>
              <a:rPr kumimoji="0" lang="ru-RU" sz="20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синего </a:t>
            </a:r>
            <a:r>
              <a:rPr kumimoji="0" lang="ru-RU" sz="2000" b="0" i="0" u="none" strike="noStrike" kern="1200" cap="none" spc="-9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</a:t>
            </a:r>
            <a:r>
              <a:rPr kumimoji="0" lang="ru-RU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зелёного.</a:t>
            </a:r>
            <a:r>
              <a:rPr kumimoji="0" lang="ru-RU" sz="20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Значение</a:t>
            </a:r>
            <a:r>
              <a:rPr kumimoji="0" lang="ru-RU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каждого</a:t>
            </a:r>
            <a:r>
              <a:rPr kumimoji="0" lang="ru-RU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компонента</a:t>
            </a:r>
            <a:r>
              <a:rPr kumimoji="0" lang="ru-RU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лежит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59436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</a:t>
            </a:r>
            <a:r>
              <a:rPr kumimoji="0" lang="ru-RU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диапазоне</a:t>
            </a:r>
            <a:r>
              <a:rPr kumimoji="0" lang="ru-RU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от</a:t>
            </a:r>
            <a:r>
              <a:rPr kumimoji="0" lang="ru-RU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ru-RU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(минимум)</a:t>
            </a:r>
            <a:r>
              <a:rPr kumimoji="0" lang="ru-RU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до</a:t>
            </a:r>
            <a:r>
              <a:rPr kumimoji="0" lang="ru-RU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255</a:t>
            </a:r>
            <a:r>
              <a:rPr kumimoji="0" lang="ru-RU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(максимум),</a:t>
            </a:r>
            <a:r>
              <a:rPr kumimoji="0" lang="ru-RU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занимая </a:t>
            </a:r>
            <a:r>
              <a:rPr kumimoji="0" lang="ru-RU" sz="2000" b="0" i="0" u="none" strike="noStrike" kern="1200" cap="none" spc="-9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таким</a:t>
            </a:r>
            <a:r>
              <a:rPr kumimoji="0" lang="ru-RU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образом</a:t>
            </a:r>
            <a:r>
              <a:rPr kumimoji="0" lang="ru-RU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ru-RU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байт</a:t>
            </a:r>
            <a:r>
              <a:rPr kumimoji="0" lang="ru-RU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</a:t>
            </a:r>
            <a:r>
              <a:rPr kumimoji="0" lang="ru-RU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ru-RU" sz="2000" b="0" i="0" u="none" strike="noStrike" kern="1200" cap="none" spc="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памяти.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3BEDF216-526C-E840-A297-587B365C693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5000" y="4794817"/>
            <a:ext cx="1842000" cy="1913564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68B66A7-20A2-2A27-C826-B33C5CD2C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204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841708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RGB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80824D25-3651-3A42-9CCA-0487EFDDBB86}"/>
              </a:ext>
            </a:extLst>
          </p:cNvPr>
          <p:cNvSpPr txBox="1"/>
          <p:nvPr/>
        </p:nvSpPr>
        <p:spPr>
          <a:xfrm>
            <a:off x="725733" y="1174549"/>
            <a:ext cx="10992655" cy="44499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Сумма</a:t>
            </a:r>
            <a:r>
              <a:rPr kumimoji="0" sz="20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этих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трёх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чисел</a:t>
            </a:r>
            <a:r>
              <a:rPr kumimoji="0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говорит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яркости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пикселя: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чем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сумма </a:t>
            </a:r>
            <a:r>
              <a:rPr kumimoji="0" sz="2000" b="0" i="0" u="none" strike="noStrike" kern="1200" cap="none" spc="-9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больше,</a:t>
            </a:r>
            <a:r>
              <a:rPr kumimoji="0" sz="20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тем</a:t>
            </a:r>
            <a:r>
              <a:rPr kumimoji="0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пиксель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кажется</a:t>
            </a:r>
            <a:r>
              <a:rPr kumimoji="0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ярче.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75057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Например,</a:t>
            </a:r>
            <a:r>
              <a:rPr kumimoji="0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(0,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0,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0)</a:t>
            </a:r>
            <a:r>
              <a:rPr kumimoji="0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—</a:t>
            </a:r>
            <a:r>
              <a:rPr kumimoji="0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это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чёрный</a:t>
            </a:r>
            <a:r>
              <a:rPr kumimoji="0" sz="20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цвет.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3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Его</a:t>
            </a:r>
            <a:r>
              <a:rPr kumimoji="0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яркость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минимальна, </a:t>
            </a:r>
            <a:r>
              <a:rPr kumimoji="0" sz="2000" b="0" i="0" u="none" strike="noStrike" kern="1200" cap="none" spc="-99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оттенков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нет.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965"/>
              </a:spcBef>
              <a:spcAft>
                <a:spcPts val="0"/>
              </a:spcAft>
              <a:buClrTx/>
              <a:buSzTx/>
              <a:buFontTx/>
              <a:buNone/>
              <a:tabLst>
                <a:tab pos="577850" algn="l"/>
              </a:tabLst>
              <a:defRPr/>
            </a:pPr>
            <a:r>
              <a:rPr kumimoji="0" sz="2000" b="0" i="0" u="none" strike="noStrike" kern="1200" cap="none" spc="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⁻	</a:t>
            </a:r>
            <a:r>
              <a:rPr kumimoji="0" sz="2000" b="0" i="0" u="none" strike="noStrike" kern="1200" cap="none" spc="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(255,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255,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255)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—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белый,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максимальная</a:t>
            </a:r>
            <a:r>
              <a:rPr kumimoji="0" sz="2000" b="0" i="0" u="none" strike="noStrike" kern="1200" cap="none" spc="-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0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яркость.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97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7850" algn="l"/>
              </a:tabLst>
              <a:defRPr/>
            </a:pPr>
            <a:r>
              <a:rPr kumimoji="0" sz="2000" b="0" i="0" u="none" strike="noStrike" kern="1200" cap="none" spc="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⁻	</a:t>
            </a:r>
            <a:r>
              <a:rPr kumimoji="0" sz="2000" b="0" i="0" u="none" strike="noStrike" kern="1200" cap="none" spc="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(255,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0,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255)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—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очень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насыщенный</a:t>
            </a:r>
            <a:r>
              <a:rPr kumimoji="0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2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пурпурный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(красный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синий).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97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7850" algn="l"/>
              </a:tabLst>
              <a:defRPr/>
            </a:pPr>
            <a:r>
              <a:rPr kumimoji="0" sz="2000" b="0" i="0" u="none" strike="noStrike" kern="1200" cap="none" spc="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⁻	</a:t>
            </a:r>
            <a:r>
              <a:rPr kumimoji="0" sz="2000" b="0" i="0" u="none" strike="noStrike" kern="1200" cap="none" spc="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(255,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255,</a:t>
            </a:r>
            <a:r>
              <a:rPr kumimoji="0" sz="20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0)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—</a:t>
            </a:r>
            <a:r>
              <a:rPr kumimoji="0" sz="20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ярко-жёлтый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(красный</a:t>
            </a:r>
            <a:r>
              <a:rPr kumimoji="0" sz="20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25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14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зелёный).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9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77850" algn="l"/>
              </a:tabLst>
              <a:defRPr/>
            </a:pPr>
            <a:r>
              <a:rPr kumimoji="0" sz="2000" b="0" i="0" u="none" strike="noStrike" kern="1200" cap="none" spc="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⁻	</a:t>
            </a:r>
            <a:r>
              <a:rPr kumimoji="0" sz="2000" b="0" i="0" u="none" strike="noStrike" kern="1200" cap="none" spc="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(100,</a:t>
            </a:r>
            <a:r>
              <a:rPr kumimoji="0" sz="20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100,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100)</a:t>
            </a:r>
            <a:r>
              <a:rPr kumimoji="0" sz="20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—</a:t>
            </a:r>
            <a:r>
              <a:rPr kumimoji="0" sz="20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sz="2000" b="0" i="0" u="none" strike="noStrike" kern="1200" cap="none" spc="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серый.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F149492-6050-C9C1-61C8-F446351657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205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9736647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RGB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80824D25-3651-3A42-9CCA-0487EFDDBB86}"/>
              </a:ext>
            </a:extLst>
          </p:cNvPr>
          <p:cNvSpPr txBox="1"/>
          <p:nvPr/>
        </p:nvSpPr>
        <p:spPr>
          <a:xfrm>
            <a:off x="725733" y="1174549"/>
            <a:ext cx="10992655" cy="31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Красный, зелёный и синий выбраны в качестве основных цветов из-за особенностей цветовой чувствительности рецепторов нашего глаза.</a:t>
            </a: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Кстати, если мы сильно увеличим матрицу смартфона или монитора, который светит чистым белым светом, то увидим что-то вроде этого:</a:t>
            </a: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6900200-9405-274D-9D78-F7390D0926C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96476" y="4485066"/>
            <a:ext cx="4799048" cy="2042734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255BE92-D3B4-9A9E-B9C1-8DAE3CDB7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206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985259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RGB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80824D25-3651-3A42-9CCA-0487EFDDBB86}"/>
              </a:ext>
            </a:extLst>
          </p:cNvPr>
          <p:cNvSpPr txBox="1"/>
          <p:nvPr/>
        </p:nvSpPr>
        <p:spPr>
          <a:xfrm>
            <a:off x="725733" y="1174549"/>
            <a:ext cx="10992655" cy="15645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Легко заметить, что в нашей модели всего 256×256×256 = 16 777 216 разных цветов. Этого вполне достаточно, чтобы человеческий глаз не замечал дискретности (конечного числа оттенков) цветовой  модели.</a:t>
            </a: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DFC948AA-CE03-8948-BF80-B405723EE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910" y="2727954"/>
            <a:ext cx="7934179" cy="3712875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AFC1DD0-309C-F47A-5452-BA27B08F3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207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709144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539397"/>
            <a:ext cx="8004747" cy="156966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PIL.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Установка библиотек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D03BE73-E480-9F7D-8ED0-CD102F1BA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208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814698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PIL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80824D25-3651-3A42-9CCA-0487EFDDBB86}"/>
              </a:ext>
            </a:extLst>
          </p:cNvPr>
          <p:cNvSpPr txBox="1"/>
          <p:nvPr/>
        </p:nvSpPr>
        <p:spPr>
          <a:xfrm>
            <a:off x="725733" y="1174549"/>
            <a:ext cx="10992655" cy="37959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Для работы с изображениями мы будем использовать библиотеку</a:t>
            </a:r>
            <a:r>
              <a:rPr kumimoji="0" lang="en-US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PIL (Python image library), </a:t>
            </a: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а точнее её модификацию под названием </a:t>
            </a:r>
            <a:r>
              <a:rPr kumimoji="0" lang="en-GB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Pillow.</a:t>
            </a: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Для установки пакетов в </a:t>
            </a:r>
            <a:r>
              <a:rPr kumimoji="0" lang="en-GB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Python </a:t>
            </a: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служит специальная утилита  командной строки </a:t>
            </a:r>
            <a:r>
              <a:rPr kumimoji="0" lang="en-GB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pip, </a:t>
            </a: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которая является ещё и модулем.</a:t>
            </a: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Чтобы установить пакет, нужно выполнить команду</a:t>
            </a: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pip install &lt;</a:t>
            </a:r>
            <a:r>
              <a:rPr kumimoji="0" lang="ru-RU" sz="2000" b="1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Имя модуля&gt;</a:t>
            </a: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FEEFF1-0A8C-C8CE-EC85-B2E001102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209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37489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F42B0-2133-2148-9922-D255129553CA}"/>
              </a:ext>
            </a:extLst>
          </p:cNvPr>
          <p:cNvSpPr txBox="1"/>
          <p:nvPr/>
        </p:nvSpPr>
        <p:spPr>
          <a:xfrm>
            <a:off x="2004646" y="511684"/>
            <a:ext cx="62038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% pip install pillow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0DB44DC-291D-99C8-45A9-C98D8B55AE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071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D6F427-4A07-994F-9C3B-E38F8EDAE359}"/>
              </a:ext>
            </a:extLst>
          </p:cNvPr>
          <p:cNvSpPr txBox="1"/>
          <p:nvPr/>
        </p:nvSpPr>
        <p:spPr>
          <a:xfrm>
            <a:off x="2004646" y="410308"/>
            <a:ext cx="8182708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% pip --help        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Usage:  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pip &lt;command&gt; [options]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Commands: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install                     Install packages.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download                    Download packages.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uninstall                   Uninstall packages.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freeze                      Output installed packages in requirements format.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list                        List installed packages.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show                        Show information about installed packages.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check                       Verify installed packages have compatible dependencies.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config                      Manage local and global configuration.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search                      Search PyPI for packages.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cache                       Inspect and manage pip's wheel cache.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index                       Inspect information available from package indexes.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wheel                       Build wheels from your requirements.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hash                        Compute hashes of package archives.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completion                  A helper command used for command completion.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debug                       Show information useful for debugging.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help                        Show help for commands.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...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A94B585-1C8F-1EDB-8AB7-BC545E964D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050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908728"/>
            <a:ext cx="80047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Модельный пример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03E60A2-D80C-F732-AD28-268F5F52F5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582953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12817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Рассмотрим пример работы</a:t>
            </a:r>
          </a:p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с изображением, в котором мы:</a:t>
            </a:r>
            <a:endParaRPr kumimoji="0" lang="ru-RU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80824D25-3651-3A42-9CCA-0487EFDDBB86}"/>
              </a:ext>
            </a:extLst>
          </p:cNvPr>
          <p:cNvSpPr txBox="1"/>
          <p:nvPr/>
        </p:nvSpPr>
        <p:spPr>
          <a:xfrm>
            <a:off x="725733" y="2103017"/>
            <a:ext cx="10992655" cy="31803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273810" lvl="0" indent="-4572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Пройдём по каждому пикселю в изображении.</a:t>
            </a:r>
          </a:p>
          <a:p>
            <a:pPr marL="469900" marR="1273810" lvl="0" indent="-4572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ru-RU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469900" marR="1273810" lvl="0" indent="-4572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Получим для него значение цвета в </a:t>
            </a:r>
            <a:r>
              <a:rPr kumimoji="0" lang="en-GB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RGB-</a:t>
            </a: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нотации.</a:t>
            </a:r>
          </a:p>
          <a:p>
            <a:pPr marL="469900" marR="1273810" lvl="0" indent="-4572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ru-RU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469900" marR="1273810" lvl="0" indent="-4572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Присвоим этому пикселю новое значение цвета (поменяем  составляющие).</a:t>
            </a:r>
          </a:p>
          <a:p>
            <a:pPr marL="469900" marR="1273810" lvl="0" indent="-4572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ru-RU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469900" marR="1273810" lvl="0" indent="-4572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В конце сохраним получившееся изображение с новым именем.</a:t>
            </a:r>
          </a:p>
          <a:p>
            <a:pPr marL="12700" marR="127381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2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9914069-14EB-1476-EB29-761044E82C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8282638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C0378-0995-624B-816A-B860AFFA60F9}"/>
              </a:ext>
            </a:extLst>
          </p:cNvPr>
          <p:cNvSpPr txBox="1"/>
          <p:nvPr/>
        </p:nvSpPr>
        <p:spPr>
          <a:xfrm>
            <a:off x="2004646" y="410308"/>
            <a:ext cx="81827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Пример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PIL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Image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Image.open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Сова.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jpg'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pixels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im.load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список с пикселями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im.size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ширина 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x)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 высота 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y)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изображения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(x):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(y):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 = pixels[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pixels[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j] = g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im.save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Сова2.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jpg'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F06BEB05-CBCF-4E4A-BBB5-C6867CA0138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21456" y="519230"/>
            <a:ext cx="2004903" cy="1353047"/>
          </a:xfrm>
          <a:prstGeom prst="rect">
            <a:avLst/>
          </a:prstGeom>
        </p:spPr>
      </p:pic>
      <p:pic>
        <p:nvPicPr>
          <p:cNvPr id="5" name="Picture 4" descr="A picture containing monitor, person, window, television&#10;&#10;Description automatically generated">
            <a:extLst>
              <a:ext uri="{FF2B5EF4-FFF2-40B4-BE49-F238E27FC236}">
                <a16:creationId xmlns:a16="http://schemas.microsoft.com/office/drawing/2014/main" id="{FBB99F9D-46D5-0144-963B-16A862A388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455" y="3315463"/>
            <a:ext cx="2004903" cy="148639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CDE1ADD-8CAB-9942-8DB8-E5E7C654FEB7}"/>
              </a:ext>
            </a:extLst>
          </p:cNvPr>
          <p:cNvGrpSpPr/>
          <p:nvPr/>
        </p:nvGrpSpPr>
        <p:grpSpPr>
          <a:xfrm>
            <a:off x="5524532" y="1225440"/>
            <a:ext cx="2174760" cy="230400"/>
            <a:chOff x="5524532" y="1225440"/>
            <a:chExt cx="2174760" cy="2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E2BD27E-B708-2943-B121-5D2978681D1D}"/>
                    </a:ext>
                  </a:extLst>
                </p14:cNvPr>
                <p14:cNvContentPartPr/>
                <p14:nvPr/>
              </p14:nvContentPartPr>
              <p14:xfrm>
                <a:off x="5524532" y="1307880"/>
                <a:ext cx="2174760" cy="147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E2BD27E-B708-2943-B121-5D2978681D1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06532" y="1290240"/>
                  <a:ext cx="2210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2DC6C7F-A0F6-A748-B2A3-47D7B9D2EEC0}"/>
                    </a:ext>
                  </a:extLst>
                </p14:cNvPr>
                <p14:cNvContentPartPr/>
                <p14:nvPr/>
              </p14:nvContentPartPr>
              <p14:xfrm>
                <a:off x="7293572" y="1225440"/>
                <a:ext cx="398520" cy="77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2DC6C7F-A0F6-A748-B2A3-47D7B9D2EEC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75932" y="1207440"/>
                  <a:ext cx="4341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F02FB88-FA63-1244-9A9B-2677948A2143}"/>
                    </a:ext>
                  </a:extLst>
                </p14:cNvPr>
                <p14:cNvContentPartPr/>
                <p14:nvPr/>
              </p14:nvContentPartPr>
              <p14:xfrm>
                <a:off x="7365932" y="1329840"/>
                <a:ext cx="323280" cy="118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F02FB88-FA63-1244-9A9B-2677948A214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348292" y="1312200"/>
                  <a:ext cx="3589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2107668-9AF8-5B42-87DB-AE27BCEE084C}"/>
              </a:ext>
            </a:extLst>
          </p:cNvPr>
          <p:cNvGrpSpPr/>
          <p:nvPr/>
        </p:nvGrpSpPr>
        <p:grpSpPr>
          <a:xfrm>
            <a:off x="4650812" y="3785760"/>
            <a:ext cx="3157200" cy="480960"/>
            <a:chOff x="4650812" y="3785760"/>
            <a:chExt cx="3157200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337FEA9-5B36-1F41-92AD-764B6B4311D9}"/>
                    </a:ext>
                  </a:extLst>
                </p14:cNvPr>
                <p14:cNvContentPartPr/>
                <p14:nvPr/>
              </p14:nvContentPartPr>
              <p14:xfrm>
                <a:off x="4650812" y="3785760"/>
                <a:ext cx="3157200" cy="359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337FEA9-5B36-1F41-92AD-764B6B4311D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32812" y="3767760"/>
                  <a:ext cx="31928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348096B-FA3A-9945-8AE8-D20D7752CCB7}"/>
                    </a:ext>
                  </a:extLst>
                </p14:cNvPr>
                <p14:cNvContentPartPr/>
                <p14:nvPr/>
              </p14:nvContentPartPr>
              <p14:xfrm>
                <a:off x="7487612" y="3915000"/>
                <a:ext cx="320400" cy="230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348096B-FA3A-9945-8AE8-D20D7752CCB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469612" y="3897000"/>
                  <a:ext cx="3560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070990-EE2F-B147-8F79-80F7915DF10B}"/>
                    </a:ext>
                  </a:extLst>
                </p14:cNvPr>
                <p14:cNvContentPartPr/>
                <p14:nvPr/>
              </p14:nvContentPartPr>
              <p14:xfrm>
                <a:off x="7141292" y="4196520"/>
                <a:ext cx="656280" cy="70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070990-EE2F-B147-8F79-80F7915DF10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23292" y="4178880"/>
                  <a:ext cx="691920" cy="105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FC36281-4602-ACF9-33B3-BFF59CA086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63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1E0022-A919-44AF-8078-87723532DB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997" y="1336121"/>
            <a:ext cx="5856006" cy="2838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42F346-FC6A-493B-995E-DB2FC357CBE3}"/>
              </a:ext>
            </a:extLst>
          </p:cNvPr>
          <p:cNvSpPr txBox="1"/>
          <p:nvPr/>
        </p:nvSpPr>
        <p:spPr>
          <a:xfrm>
            <a:off x="3721860" y="2710447"/>
            <a:ext cx="4696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T323"/>
                <a:ea typeface="Arial Unicode MS"/>
                <a:cs typeface="Arial" panose="020B0604020202020204" pitchFamily="34" charset="0"/>
              </a:rPr>
              <a:t>Time-out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T323"/>
              <a:ea typeface="Arial Unicode MS"/>
              <a:cs typeface="Arial" panose="020B0604020202020204" pitchFamily="34" charset="0"/>
            </a:endParaRPr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8036D483-EE8C-FE4B-A44F-1813496D2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323" y="1690324"/>
            <a:ext cx="1079500" cy="10795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0A26394-06F3-096A-A8D9-67301CE68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549870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8">
            <a:extLst>
              <a:ext uri="{FF2B5EF4-FFF2-40B4-BE49-F238E27FC236}">
                <a16:creationId xmlns:a16="http://schemas.microsoft.com/office/drawing/2014/main" id="{0A2296F4-C785-0C4B-B901-156A226C5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220" y="2349500"/>
            <a:ext cx="869756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369DE9-3332-4B19-A71A-C55D6E9B9801}"/>
              </a:ext>
            </a:extLst>
          </p:cNvPr>
          <p:cNvSpPr txBox="1"/>
          <p:nvPr/>
        </p:nvSpPr>
        <p:spPr>
          <a:xfrm>
            <a:off x="2098623" y="2908728"/>
            <a:ext cx="8004747" cy="83099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ko-KR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Визуализация данных</a:t>
            </a:r>
            <a:endParaRPr kumimoji="0" lang="ko-KR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s songarak 1" pitchFamily="2" charset="0"/>
              <a:ea typeface="Arial Unicode MS"/>
              <a:cs typeface="fs songarak 1" pitchFamily="2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8573B69-D02F-23B5-DC4A-AE120FB86B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656790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7F3B92-5381-054C-BFAF-23DED209C452}"/>
              </a:ext>
            </a:extLst>
          </p:cNvPr>
          <p:cNvSpPr txBox="1"/>
          <p:nvPr/>
        </p:nvSpPr>
        <p:spPr>
          <a:xfrm>
            <a:off x="2004646" y="410308"/>
            <a:ext cx="818270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Построение простого графика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matplotlib.pyplot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input_values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squares = [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16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plt.style.use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‘</a:t>
            </a:r>
            <a:r>
              <a:rPr lang="en-US" sz="1600" dirty="0" err="1">
                <a:solidFill>
                  <a:srgbClr val="6A875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ggplot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fig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plt.subplots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ax.plot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input_values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squares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linewidth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Задание заголовка диаграммы и меток осей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ax.set_title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Квадраты чисел'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fontsize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ax.set_xlabel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Значения'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fontsize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ax.set_ylabel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Квадрат значения'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fontsize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задание размера шрифта делений на осях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ax.tick_params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axis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'both'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labelsize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plt.show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E11FDD8-DB5C-B949-BC92-F69698B3B9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3603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FF7EAA6A-CAB9-D147-ADF9-B97307F82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1484" y="801069"/>
            <a:ext cx="6173861" cy="4470416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B2D2323-B0FA-DEF5-EAA6-17057DEE82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748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3E1F99-67E4-7A43-8341-B35537322B3F}"/>
              </a:ext>
            </a:extLst>
          </p:cNvPr>
          <p:cNvSpPr txBox="1"/>
          <p:nvPr/>
        </p:nvSpPr>
        <p:spPr>
          <a:xfrm>
            <a:off x="2004646" y="410308"/>
            <a:ext cx="81827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Построение графика в виде точек</a:t>
            </a:r>
            <a:b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matplotlib.pyplot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plt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x_values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101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y_values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[x**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x_values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plt.style.use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'seaborn'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fig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plt.subplots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ax.scatter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x_values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y_values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y_values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cmap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plt.cm.Blues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ax.set_title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Квадраты чисел'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fontsize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ax.set_xlabel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Значения'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fontsize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ax.set_ylabel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Квадраты значений'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fontsize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ax.tick_params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axis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'both'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which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'major'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labelsize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14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plt.show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endParaRPr kumimoji="0" lang="en-RU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30FA9F2-9B77-2B97-23DA-9D88197C8F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126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3684D166-54D9-7F4C-9F20-8423A64BE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833" y="864396"/>
            <a:ext cx="6344333" cy="4347683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64D1E8D-A25D-198F-CDB1-C990528BD0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207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1416C453-23BB-5B42-AEC5-258D3EE84FDB}"/>
              </a:ext>
            </a:extLst>
          </p:cNvPr>
          <p:cNvSpPr txBox="1">
            <a:spLocks/>
          </p:cNvSpPr>
          <p:nvPr/>
        </p:nvSpPr>
        <p:spPr>
          <a:xfrm>
            <a:off x="725733" y="330200"/>
            <a:ext cx="965016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0" lvl="0" indent="0" algn="l" defTabSz="914400" rtl="0" eaLnBrk="1" fontAlgn="auto" latinLnBrk="1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Python </a:t>
            </a:r>
            <a:r>
              <a:rPr kumimoji="0" lang="ru-RU" sz="40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s songarak 1" pitchFamily="2" charset="0"/>
                <a:ea typeface="fs songarak 1" pitchFamily="2" charset="0"/>
                <a:cs typeface="fs songarak 1" pitchFamily="2" charset="0"/>
              </a:rPr>
              <a:t>как промежуточная среда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80824D25-3651-3A42-9CCA-0487EFDDBB86}"/>
              </a:ext>
            </a:extLst>
          </p:cNvPr>
          <p:cNvSpPr txBox="1"/>
          <p:nvPr/>
        </p:nvSpPr>
        <p:spPr>
          <a:xfrm>
            <a:off x="725733" y="2103017"/>
            <a:ext cx="10992655" cy="18851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7381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25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Numpy</a:t>
            </a:r>
            <a:r>
              <a:rPr kumimoji="0" lang="en-GB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– </a:t>
            </a: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библиотека для работы с вычислительной математикой.</a:t>
            </a:r>
          </a:p>
          <a:p>
            <a:pPr marL="355600" marR="127381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OpenCV</a:t>
            </a:r>
            <a:r>
              <a:rPr kumimoji="0" lang="en-GB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– </a:t>
            </a: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библиотека для работы с распознаванием образов.</a:t>
            </a:r>
          </a:p>
          <a:p>
            <a:pPr marL="355600" marR="1273810" lvl="0" indent="-3429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000" b="1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Pandas</a:t>
            </a:r>
            <a:r>
              <a:rPr kumimoji="0" lang="en-GB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- </a:t>
            </a:r>
            <a:r>
              <a:rPr kumimoji="0" lang="ru-RU" sz="2000" b="0" i="0" u="none" strike="noStrike" kern="1200" cap="none" spc="2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библиотека, ориентированная на анализ данных.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A7D55F6-D0BC-40DD-9FED-4B0403E740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0914092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pic>
        <p:nvPicPr>
          <p:cNvPr id="8" name="Picture 7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51F41F97-82C2-BA46-A28E-9644C3DD1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06" y="2499563"/>
            <a:ext cx="1073428" cy="10734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41297A-253F-C74C-8306-E93156BF5A5B}"/>
              </a:ext>
            </a:extLst>
          </p:cNvPr>
          <p:cNvSpPr txBox="1"/>
          <p:nvPr/>
        </p:nvSpPr>
        <p:spPr>
          <a:xfrm>
            <a:off x="2004646" y="410308"/>
            <a:ext cx="81827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Кто быстрее?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math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sqrt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ex1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= []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1_000_000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):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a.append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(sqrt(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ex2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[sqrt(x)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1_000_000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)]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ex3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map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(sqrt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range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1_000_000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1C9F6A5-9C76-3CE2-D4BC-6A4B331B58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215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solidFill>
              <a:srgbClr val="ED395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AED025-B51B-1343-924A-A868D3F22C4F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C5AADD9-1098-EF41-88AA-9E836CCF3A4F}"/>
              </a:ext>
            </a:extLst>
          </p:cNvPr>
          <p:cNvSpPr txBox="1"/>
          <p:nvPr/>
        </p:nvSpPr>
        <p:spPr>
          <a:xfrm>
            <a:off x="2039815" y="410013"/>
            <a:ext cx="81123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Измерение скорости</a:t>
            </a: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timeit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timeit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ex1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timeit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'for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in range(1_000_000): 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a.append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(sqrt(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'from math import sqrt; a = []'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number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ex2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timeit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'[sqrt(x) for x in range(1_000_000)]'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'from math import sqrt'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number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ex3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timeit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'list(map(sqrt, range(1_000_000)))'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'from math import sqrt'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number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endParaRPr kumimoji="0" lang="en-R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030EC7-3942-4146-B685-7BCCC771AF55}"/>
              </a:ext>
            </a:extLst>
          </p:cNvPr>
          <p:cNvSpPr txBox="1"/>
          <p:nvPr/>
        </p:nvSpPr>
        <p:spPr>
          <a:xfrm>
            <a:off x="2039815" y="4324328"/>
            <a:ext cx="62038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0.10083408499485813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0.0872290620172862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0.07211071898927912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9426B7-DBB7-9993-5A61-F0893BE8FE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7429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3AA64CD-3EF1-4015-B671-F021B330C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0" r="-1" b="4778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AE4B78D-FD37-394B-8B52-0B4B0E3AE7CA}"/>
              </a:ext>
            </a:extLst>
          </p:cNvPr>
          <p:cNvSpPr/>
          <p:nvPr/>
        </p:nvSpPr>
        <p:spPr>
          <a:xfrm>
            <a:off x="1969477" y="410308"/>
            <a:ext cx="8217877" cy="5251938"/>
          </a:xfrm>
          <a:prstGeom prst="rect">
            <a:avLst/>
          </a:prstGeom>
          <a:solidFill>
            <a:schemeClr val="tx2">
              <a:lumMod val="25000"/>
            </a:schemeClr>
          </a:solidFill>
          <a:ln w="3024" cap="flat">
            <a:solidFill>
              <a:srgbClr val="ED395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RU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T323"/>
              <a:ea typeface="Arial Unicode MS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AED025-B51B-1343-924A-A868D3F22C4F}"/>
              </a:ext>
            </a:extLst>
          </p:cNvPr>
          <p:cNvCxnSpPr/>
          <p:nvPr/>
        </p:nvCxnSpPr>
        <p:spPr>
          <a:xfrm>
            <a:off x="1969477" y="4324328"/>
            <a:ext cx="8182708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030EC7-3942-4146-B685-7BCCC771AF55}"/>
              </a:ext>
            </a:extLst>
          </p:cNvPr>
          <p:cNvSpPr txBox="1"/>
          <p:nvPr/>
        </p:nvSpPr>
        <p:spPr>
          <a:xfrm>
            <a:off x="2039815" y="4324328"/>
            <a:ext cx="62038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0.10083408499485813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0.0872290620172862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0.07211071898927912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RU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0.008557631983421743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A1B954-F85F-A543-BD46-2AD4D764AFD5}"/>
              </a:ext>
            </a:extLst>
          </p:cNvPr>
          <p:cNvSpPr txBox="1"/>
          <p:nvPr/>
        </p:nvSpPr>
        <p:spPr>
          <a:xfrm>
            <a:off x="2039815" y="410308"/>
            <a:ext cx="811237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Измерение скорости</a:t>
            </a: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from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timeit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timeit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ex1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timeit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'for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in range(1_000_000):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a.append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(sqrt(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))'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'from math import sqrt; a = []'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number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ex2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timeit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'[sqrt(x) for x in range(1_000_000)]'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'from math import sqrt'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number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ex3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timeit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'list(map(sqrt, range(1_000_000)))'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'from math import sqrt'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number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# ex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numpy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8888C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timeit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np.sqrt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np.arange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(1_000_000))'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'import </a:t>
            </a:r>
            <a:r>
              <a:rPr kumimoji="0" lang="en-GB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numpy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as np'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AA4926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number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endParaRPr kumimoji="0" lang="en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DE699E4-784B-D2D4-BDA9-CB660B8578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64265C-386F-4628-BC88-6681E3EBC274}" type="slidenum">
              <a:rPr lang="ru-RU" smtClean="0"/>
              <a:t>224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499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01">
            <a:extLst>
              <a:ext uri="{FF2B5EF4-FFF2-40B4-BE49-F238E27FC236}">
                <a16:creationId xmlns:a16="http://schemas.microsoft.com/office/drawing/2014/main" id="{92AF2B11-9ACC-F04B-BBA3-74DD499738B8}"/>
              </a:ext>
            </a:extLst>
          </p:cNvPr>
          <p:cNvSpPr txBox="1"/>
          <p:nvPr/>
        </p:nvSpPr>
        <p:spPr>
          <a:xfrm>
            <a:off x="674942" y="532436"/>
            <a:ext cx="561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0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altLang="ko-KR" sz="5400" b="0" dirty="0">
                <a:solidFill>
                  <a:schemeClr val="bg1"/>
                </a:solidFill>
              </a:rPr>
              <a:t>TO BE CONTINUED...</a:t>
            </a:r>
          </a:p>
        </p:txBody>
      </p:sp>
      <p:pic>
        <p:nvPicPr>
          <p:cNvPr id="2" name="Picture 1" descr="A picture containing text&#10;&#10;Description automatically generated">
            <a:extLst>
              <a:ext uri="{FF2B5EF4-FFF2-40B4-BE49-F238E27FC236}">
                <a16:creationId xmlns:a16="http://schemas.microsoft.com/office/drawing/2014/main" id="{BE596CE3-7155-BD40-D011-3EBE00473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094" y="2296086"/>
            <a:ext cx="877194" cy="877194"/>
          </a:xfrm>
          <a:prstGeom prst="rect">
            <a:avLst/>
          </a:prstGeom>
        </p:spPr>
      </p:pic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57E4EDE7-AFD4-B792-7872-478A9772C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930" y="5088724"/>
            <a:ext cx="834652" cy="834652"/>
          </a:xfrm>
          <a:prstGeom prst="rect">
            <a:avLst/>
          </a:prstGeom>
        </p:spPr>
      </p:pic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F6364B67-40CB-D59E-002E-D51EFFFBD1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576" y="3357229"/>
            <a:ext cx="1731495" cy="1731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73D860-293B-3CE6-6ABC-8665202C04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09" y="5275217"/>
            <a:ext cx="461666" cy="4616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F26450-0892-475A-E2CD-A5D0F7255993}"/>
              </a:ext>
            </a:extLst>
          </p:cNvPr>
          <p:cNvSpPr txBox="1"/>
          <p:nvPr/>
        </p:nvSpPr>
        <p:spPr>
          <a:xfrm>
            <a:off x="1311303" y="5618516"/>
            <a:ext cx="2608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fs songarak 1" pitchFamily="2" charset="0"/>
                <a:ea typeface="fs songarak 1" pitchFamily="2" charset="0"/>
                <a:cs typeface="fs songarak 1" pitchFamily="2" charset="0"/>
              </a:rPr>
              <a:t>100% - IT IS DONE!</a:t>
            </a:r>
            <a:endParaRPr lang="en-RU" sz="2400" dirty="0">
              <a:solidFill>
                <a:schemeClr val="bg2"/>
              </a:solidFill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820C95-BA72-9A41-181D-A9BA6AB8C4CA}"/>
              </a:ext>
            </a:extLst>
          </p:cNvPr>
          <p:cNvSpPr txBox="1"/>
          <p:nvPr/>
        </p:nvSpPr>
        <p:spPr>
          <a:xfrm>
            <a:off x="1030309" y="2064220"/>
            <a:ext cx="52330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>
                <a:solidFill>
                  <a:srgbClr val="F1F1F1"/>
                </a:solidFill>
                <a:latin typeface="fs songarak 1" pitchFamily="2" charset="0"/>
                <a:ea typeface="fs songarak 1" pitchFamily="2" charset="0"/>
                <a:cs typeface="fs songarak 1" pitchFamily="2" charset="0"/>
              </a:rPr>
              <a:t>Баранов Кирилл Евгеньевич</a:t>
            </a:r>
            <a:endParaRPr lang="en-RU" sz="3200" b="1" dirty="0">
              <a:solidFill>
                <a:srgbClr val="F1F1F1"/>
              </a:solidFill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03E70-F2F2-0D93-FA82-979CC7E8910E}"/>
              </a:ext>
            </a:extLst>
          </p:cNvPr>
          <p:cNvSpPr txBox="1"/>
          <p:nvPr/>
        </p:nvSpPr>
        <p:spPr>
          <a:xfrm>
            <a:off x="1030309" y="2538822"/>
            <a:ext cx="343292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1F1F1"/>
                </a:solidFill>
                <a:latin typeface="fs songarak 1" pitchFamily="2" charset="0"/>
                <a:ea typeface="fs songarak 1" pitchFamily="2" charset="0"/>
                <a:cs typeface="fs songarak 1" pitchFamily="2" charset="0"/>
                <a:hlinkClick r:id="rId6"/>
              </a:rPr>
              <a:t>xo3yin@yandex.ru</a:t>
            </a:r>
            <a:endParaRPr lang="en-US" sz="3200" b="1" dirty="0">
              <a:solidFill>
                <a:srgbClr val="F1F1F1"/>
              </a:solidFill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  <a:p>
            <a:r>
              <a:rPr lang="en-US" sz="3200" b="1" dirty="0">
                <a:solidFill>
                  <a:srgbClr val="F1F1F1"/>
                </a:solidFill>
                <a:latin typeface="fs songarak 1" pitchFamily="2" charset="0"/>
                <a:ea typeface="fs songarak 1" pitchFamily="2" charset="0"/>
                <a:cs typeface="fs songarak 1" pitchFamily="2" charset="0"/>
              </a:rPr>
              <a:t>Telegram: @xo3yin</a:t>
            </a:r>
            <a:endParaRPr lang="en-RU" sz="3200" b="1" dirty="0">
              <a:solidFill>
                <a:srgbClr val="F1F1F1"/>
              </a:solidFill>
              <a:latin typeface="fs songarak 1" pitchFamily="2" charset="0"/>
              <a:ea typeface="fs songarak 1" pitchFamily="2" charset="0"/>
              <a:cs typeface="fs songarak 1" pitchFamily="2" charset="0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FC83A8-46E2-B736-8088-4F497A157C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32E28-89ED-457B-B7C2-96C51DA6FFAA}" type="slidenum">
              <a:rPr lang="ru-RU" smtClean="0"/>
              <a:t>225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027974"/>
      </p:ext>
    </p:extLst>
  </p:cSld>
  <p:clrMapOvr>
    <a:masterClrMapping/>
  </p:clrMapOvr>
</p:sld>
</file>

<file path=ppt/theme/theme1.xml><?xml version="1.0" encoding="utf-8"?>
<a:theme xmlns:a="http://schemas.openxmlformats.org/drawingml/2006/main" name="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T323 - VT323">
      <a:majorFont>
        <a:latin typeface="VT323"/>
        <a:ea typeface="Arial Unicode MS"/>
        <a:cs typeface=""/>
      </a:majorFont>
      <a:minorFont>
        <a:latin typeface="VT323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D395F"/>
        </a:solidFill>
        <a:ln w="3024" cap="flat">
          <a:noFill/>
          <a:prstDash val="solid"/>
          <a:miter/>
        </a:ln>
      </a:spPr>
      <a:bodyPr rtlCol="0" anchor="ctr"/>
      <a:lstStyle>
        <a:defPPr algn="ctr">
          <a:defRPr sz="3200" b="1" dirty="0" smtClean="0">
            <a:solidFill>
              <a:schemeClr val="bg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PTMON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T323 - VT323">
      <a:majorFont>
        <a:latin typeface="VT323"/>
        <a:ea typeface="Arial Unicode MS"/>
        <a:cs typeface=""/>
      </a:majorFont>
      <a:minorFont>
        <a:latin typeface="VT323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D395F"/>
        </a:solidFill>
        <a:ln w="3024" cap="flat">
          <a:noFill/>
          <a:prstDash val="solid"/>
          <a:miter/>
        </a:ln>
      </a:spPr>
      <a:bodyPr rtlCol="0" anchor="ctr"/>
      <a:lstStyle>
        <a:defPPr algn="ctr">
          <a:defRPr sz="3200" b="1" dirty="0" smtClean="0">
            <a:solidFill>
              <a:schemeClr val="bg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6908</TotalTime>
  <Words>13343</Words>
  <Application>Microsoft Office PowerPoint</Application>
  <PresentationFormat>Широкоэкранный</PresentationFormat>
  <Paragraphs>864</Paragraphs>
  <Slides>225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225</vt:i4>
      </vt:variant>
    </vt:vector>
  </HeadingPairs>
  <TitlesOfParts>
    <vt:vector size="237" baseType="lpstr">
      <vt:lpstr>Arial</vt:lpstr>
      <vt:lpstr>Calibri</vt:lpstr>
      <vt:lpstr>fs songarak 1</vt:lpstr>
      <vt:lpstr>Aptos</vt:lpstr>
      <vt:lpstr>JetBrains Mono</vt:lpstr>
      <vt:lpstr>맑은 고딕</vt:lpstr>
      <vt:lpstr>Wingdings</vt:lpstr>
      <vt:lpstr>VT323</vt:lpstr>
      <vt:lpstr>Press Start 2P</vt:lpstr>
      <vt:lpstr>IBM Plex Mono</vt:lpstr>
      <vt:lpstr>PPTMON theme</vt:lpstr>
      <vt:lpstr>1_PPTMON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5</dc:creator>
  <cp:lastModifiedBy>Kirill Baranov</cp:lastModifiedBy>
  <cp:revision>135</cp:revision>
  <dcterms:created xsi:type="dcterms:W3CDTF">2019-04-06T05:20:47Z</dcterms:created>
  <dcterms:modified xsi:type="dcterms:W3CDTF">2024-11-30T11:17:58Z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2022-12-29T12:31:45Z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914a20fc-871c-4fdf-a9a4-a5192f74e966</vt:lpwstr>
  </property>
  <property fmtid="{D5CDD505-2E9C-101B-9397-08002B2CF9AE}" pid="7" name="MSIP_Label_defa4170-0d19-0005-0004-bc88714345d2_ActionId">
    <vt:lpwstr>f60757d2-da2d-4cad-a6aa-b3bbc4e79e45</vt:lpwstr>
  </property>
  <property fmtid="{D5CDD505-2E9C-101B-9397-08002B2CF9AE}" pid="8" name="MSIP_Label_defa4170-0d19-0005-0004-bc88714345d2_ContentBits">
    <vt:lpwstr>0</vt:lpwstr>
  </property>
</Properties>
</file>