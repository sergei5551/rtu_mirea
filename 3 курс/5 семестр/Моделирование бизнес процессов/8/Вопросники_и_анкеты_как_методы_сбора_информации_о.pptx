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FB0CD-47B5-45FA-AC29-23645A26BC54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81277-7FA4-4A43-B0D9-872AF16A1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08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FB0CD-47B5-45FA-AC29-23645A26BC54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81277-7FA4-4A43-B0D9-872AF16A1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821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FB0CD-47B5-45FA-AC29-23645A26BC54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81277-7FA4-4A43-B0D9-872AF16A1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728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FB0CD-47B5-45FA-AC29-23645A26BC54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81277-7FA4-4A43-B0D9-872AF16A1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823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FB0CD-47B5-45FA-AC29-23645A26BC54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81277-7FA4-4A43-B0D9-872AF16A1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603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FB0CD-47B5-45FA-AC29-23645A26BC54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81277-7FA4-4A43-B0D9-872AF16A1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645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FB0CD-47B5-45FA-AC29-23645A26BC54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81277-7FA4-4A43-B0D9-872AF16A1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2424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FB0CD-47B5-45FA-AC29-23645A26BC54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81277-7FA4-4A43-B0D9-872AF16A1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510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FB0CD-47B5-45FA-AC29-23645A26BC54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81277-7FA4-4A43-B0D9-872AF16A1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36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FB0CD-47B5-45FA-AC29-23645A26BC54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81277-7FA4-4A43-B0D9-872AF16A1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24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FB0CD-47B5-45FA-AC29-23645A26BC54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81277-7FA4-4A43-B0D9-872AF16A1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706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FB0CD-47B5-45FA-AC29-23645A26BC54}" type="datetimeFigureOut">
              <a:rPr lang="ru-RU" smtClean="0"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81277-7FA4-4A43-B0D9-872AF16A14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126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Вопросники и анкеты как методы сбора информации о бизнес-процессах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Бурыхин И.Е.</a:t>
            </a:r>
            <a:r>
              <a:rPr lang="en-US" dirty="0" smtClean="0"/>
              <a:t>,</a:t>
            </a:r>
          </a:p>
          <a:p>
            <a:r>
              <a:rPr lang="ru-RU" dirty="0" smtClean="0"/>
              <a:t>Астахов С.П.,</a:t>
            </a:r>
          </a:p>
          <a:p>
            <a:r>
              <a:rPr lang="ru-RU" dirty="0" smtClean="0"/>
              <a:t>ИКБО-50-23</a:t>
            </a:r>
          </a:p>
        </p:txBody>
      </p:sp>
    </p:spTree>
    <p:extLst>
      <p:ext uri="{BB962C8B-B14F-4D97-AF65-F5344CB8AC3E}">
        <p14:creationId xmlns:p14="http://schemas.microsoft.com/office/powerpoint/2010/main" val="1150752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Сбор данных — основа для создания точной модели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Моделирование бизнес-процессов (БП) является критически важным этапом в проектировании систем и организационной оптимизации. Цель — создать точную модель "AS IS", поскольку ее качество определяет успех последующего проектирования целевого состояния "TO BE". Сбор информации — это первый, наиболее ресурсоемкий этап цикла, и ошибки здесь могут привести к провалу всего проекта.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0713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Эффективный сбор фактов и оценка настроений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Вопросники и анкеты — это </a:t>
            </a:r>
            <a:r>
              <a:rPr lang="ru-RU" b="1" dirty="0" smtClean="0"/>
              <a:t>количественный метод</a:t>
            </a:r>
            <a:r>
              <a:rPr lang="ru-RU" dirty="0" smtClean="0"/>
              <a:t> сбора информации, предназначенный для получения стандартизированных данных от большого числа участников процесса. Они используются для оценки процесса в целом, фиксации частоты событий и выявления общих тенденций, а также "узких мест" на уровне организации. В отличие от </a:t>
            </a:r>
            <a:r>
              <a:rPr lang="ru-RU" b="1" dirty="0" smtClean="0"/>
              <a:t>интервью</a:t>
            </a:r>
            <a:r>
              <a:rPr lang="ru-RU" dirty="0" smtClean="0"/>
              <a:t> (качественный метод), анкета обеспечивает широту охвата при минимальных затратах времени и ресурсов.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433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Систематический подход для получения достоверных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Использование вопросников предоставляет ключевые преимущества, среди которых </a:t>
            </a:r>
            <a:r>
              <a:rPr lang="ru-RU" b="1" dirty="0" smtClean="0"/>
              <a:t>высокая скорость и низкая стоимость</a:t>
            </a:r>
            <a:r>
              <a:rPr lang="ru-RU" dirty="0" smtClean="0"/>
              <a:t> анализа ответов сотен сотрудников. </a:t>
            </a:r>
            <a:r>
              <a:rPr lang="ru-RU" b="1" dirty="0" smtClean="0"/>
              <a:t>Стандартизация и простота анализа</a:t>
            </a:r>
            <a:r>
              <a:rPr lang="ru-RU" dirty="0" smtClean="0"/>
              <a:t> позволяют применять статистические методы для оценки зрелости процесса, частоты ошибок и трудоемкости. Кроме того, </a:t>
            </a:r>
            <a:r>
              <a:rPr lang="ru-RU" b="1" dirty="0" smtClean="0"/>
              <a:t>анонимность</a:t>
            </a:r>
            <a:r>
              <a:rPr lang="ru-RU" dirty="0" smtClean="0"/>
              <a:t> ответа позволяет сотрудникам быть более честными при указании проблем, конфликтов или скрытых обходных путей.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5653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Систематический подход для получения достоверных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Процесс разработки качественного вопросника должен быть строго систематизирован и начинается с определения </a:t>
            </a:r>
            <a:r>
              <a:rPr lang="ru-RU" b="1" dirty="0" smtClean="0"/>
              <a:t>конкретных целей</a:t>
            </a:r>
            <a:r>
              <a:rPr lang="ru-RU" dirty="0" smtClean="0"/>
              <a:t> и перечня необходимой информации. Далее следуют выбор </a:t>
            </a:r>
            <a:r>
              <a:rPr lang="ru-RU" b="1" dirty="0" smtClean="0"/>
              <a:t>целевой аудитории</a:t>
            </a:r>
            <a:r>
              <a:rPr lang="ru-RU" dirty="0" smtClean="0"/>
              <a:t>, тщательная </a:t>
            </a:r>
            <a:r>
              <a:rPr lang="ru-RU" b="1" dirty="0" smtClean="0"/>
              <a:t>разработка вопросов и структуры</a:t>
            </a:r>
            <a:r>
              <a:rPr lang="ru-RU" dirty="0" smtClean="0"/>
              <a:t> с ясным формулировками, исключающими двусмысленность. Завершающие этапы — это </a:t>
            </a:r>
            <a:r>
              <a:rPr lang="ru-RU" b="1" dirty="0" smtClean="0"/>
              <a:t>пилотное тестирование</a:t>
            </a:r>
            <a:r>
              <a:rPr lang="ru-RU" dirty="0" smtClean="0"/>
              <a:t> на небольшой фокус-группе и, после успеха, </a:t>
            </a:r>
            <a:r>
              <a:rPr lang="ru-RU" b="1" dirty="0" smtClean="0"/>
              <a:t>массовый сбор и статистический анализ данных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0575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Логическая структура для высокой вовлеченности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Грамотно построенный вопросник должен иметь логичную структуру для максимизации процента и качества ответов. Он начинается с </a:t>
            </a:r>
            <a:r>
              <a:rPr lang="ru-RU" b="1" dirty="0" smtClean="0"/>
              <a:t>Введения</a:t>
            </a:r>
            <a:r>
              <a:rPr lang="ru-RU" dirty="0" smtClean="0"/>
              <a:t> (цели, конфиденциальность) и блока </a:t>
            </a:r>
            <a:r>
              <a:rPr lang="ru-RU" b="1" dirty="0" smtClean="0"/>
              <a:t>Профиль участника</a:t>
            </a:r>
            <a:r>
              <a:rPr lang="ru-RU" dirty="0" smtClean="0"/>
              <a:t> (должность, стаж) для сегментации данных. Далее следует </a:t>
            </a:r>
            <a:r>
              <a:rPr lang="ru-RU" b="1" dirty="0" smtClean="0"/>
              <a:t>Основной блок вопросов</a:t>
            </a:r>
            <a:r>
              <a:rPr lang="ru-RU" dirty="0" smtClean="0"/>
              <a:t>, сгруппированный по фазам процесса, и </a:t>
            </a:r>
            <a:r>
              <a:rPr lang="ru-RU" b="1" dirty="0" smtClean="0"/>
              <a:t>Заключение</a:t>
            </a:r>
            <a:r>
              <a:rPr lang="ru-RU" dirty="0" smtClean="0"/>
              <a:t> с полем для свободного комментария и благодарностью.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6200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Использование разных форматов для разных целей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Для сбора полноценных данных о бизнес-процессе необходимо использовать комбинацию разных типов вопросов. </a:t>
            </a:r>
            <a:r>
              <a:rPr lang="ru-RU" b="1" dirty="0" smtClean="0"/>
              <a:t>Закрытые вопросы</a:t>
            </a:r>
            <a:r>
              <a:rPr lang="ru-RU" dirty="0" smtClean="0"/>
              <a:t> (Да/Нет) собирают фактические данные об использовании ИС, а </a:t>
            </a:r>
            <a:r>
              <a:rPr lang="ru-RU" b="1" dirty="0" smtClean="0"/>
              <a:t>шкальные вопросы</a:t>
            </a:r>
            <a:r>
              <a:rPr lang="ru-RU" dirty="0" smtClean="0"/>
              <a:t> (1 до 5) измеряют субъективные параметры, такие как трудоемкость или критичность. </a:t>
            </a:r>
            <a:r>
              <a:rPr lang="ru-RU" b="1" dirty="0" smtClean="0"/>
              <a:t>Полузакрытые и открытые вопросы</a:t>
            </a:r>
            <a:r>
              <a:rPr lang="ru-RU" dirty="0" smtClean="0"/>
              <a:t> используются для выявления наиболее частых причин проблем и сбора идей по оптимизации процесса.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5696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Осведомленность о рисках повышает качество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/>
              <a:t>Основными ограничениями метода являются </a:t>
            </a:r>
            <a:r>
              <a:rPr lang="ru-RU" b="1" dirty="0" smtClean="0"/>
              <a:t>поверхностность данных</a:t>
            </a:r>
            <a:r>
              <a:rPr lang="ru-RU" dirty="0" smtClean="0"/>
              <a:t> (отсутствие "почему") и </a:t>
            </a:r>
            <a:r>
              <a:rPr lang="ru-RU" b="1" dirty="0" smtClean="0"/>
              <a:t>риск смещения</a:t>
            </a:r>
            <a:r>
              <a:rPr lang="ru-RU" dirty="0" smtClean="0"/>
              <a:t> из-за неточных формулировок. Недостаток глубины минимизируется за счет </a:t>
            </a:r>
            <a:r>
              <a:rPr lang="ru-RU" b="1" dirty="0" smtClean="0"/>
              <a:t>обязательного комбинирования</a:t>
            </a:r>
            <a:r>
              <a:rPr lang="ru-RU" dirty="0" smtClean="0"/>
              <a:t> анкетирования с последующими интервью. Риск смещения устраняется благодаря </a:t>
            </a:r>
            <a:r>
              <a:rPr lang="ru-RU" b="1" dirty="0" smtClean="0"/>
              <a:t>этапу пилотного тестирования</a:t>
            </a:r>
            <a:r>
              <a:rPr lang="ru-RU" dirty="0" smtClean="0"/>
              <a:t>, а низкий процент ответа повышается за счет </a:t>
            </a:r>
            <a:r>
              <a:rPr lang="ru-RU" b="1" dirty="0" smtClean="0"/>
              <a:t>краткости</a:t>
            </a:r>
            <a:r>
              <a:rPr lang="ru-RU" dirty="0" smtClean="0"/>
              <a:t> и </a:t>
            </a:r>
            <a:r>
              <a:rPr lang="ru-RU" b="1" dirty="0" smtClean="0"/>
              <a:t>официальной поддержки</a:t>
            </a:r>
            <a:r>
              <a:rPr lang="ru-RU" dirty="0" smtClean="0"/>
              <a:t> руководства.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9944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Инструмент для первичного "скрининга" проблем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/>
              <a:t>Вопросники и анкеты занимают четкое место на </a:t>
            </a:r>
            <a:r>
              <a:rPr lang="ru-RU" b="1" dirty="0" smtClean="0"/>
              <a:t>самом раннем, обзорном этапе</a:t>
            </a:r>
            <a:r>
              <a:rPr lang="ru-RU" dirty="0" smtClean="0"/>
              <a:t> проекта (Фаза 1). Их основная цель — выполнить </a:t>
            </a:r>
            <a:r>
              <a:rPr lang="ru-RU" b="1" dirty="0" smtClean="0"/>
              <a:t>"скрининг"</a:t>
            </a:r>
            <a:r>
              <a:rPr lang="ru-RU" dirty="0" smtClean="0"/>
              <a:t> всех существующих процессов и выявить наиболее проблемные участки, требующие внимания. Только после того как анкета идентифицировала "горячие точки", консультанты переходят к </a:t>
            </a:r>
            <a:r>
              <a:rPr lang="ru-RU" b="1" dirty="0" smtClean="0"/>
              <a:t>Фазе 2 (Детализация)</a:t>
            </a:r>
            <a:r>
              <a:rPr lang="ru-RU" dirty="0" smtClean="0"/>
              <a:t>, используя более глубокие методы, что обеспечивает значительную экономию ресурсов.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75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Список использованных источников и литературы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 smtClean="0"/>
              <a:t>Изученные материалы</a:t>
            </a:r>
          </a:p>
          <a:p>
            <a:r>
              <a:rPr lang="ru-RU" dirty="0" smtClean="0"/>
              <a:t>В этом разделе представлен список основной литературы, использованной при подготовке доклада.</a:t>
            </a:r>
          </a:p>
          <a:p>
            <a:r>
              <a:rPr lang="ru-RU" dirty="0" smtClean="0"/>
              <a:t>Репин В.В., </a:t>
            </a:r>
            <a:r>
              <a:rPr lang="ru-RU" dirty="0" err="1" smtClean="0"/>
              <a:t>Елиферов</a:t>
            </a:r>
            <a:r>
              <a:rPr lang="ru-RU" dirty="0" smtClean="0"/>
              <a:t> В.Г. </a:t>
            </a:r>
            <a:r>
              <a:rPr lang="ru-RU" b="1" dirty="0" smtClean="0"/>
              <a:t>Процессный подход к управлению: Моделирование бизнес-процессов</a:t>
            </a:r>
            <a:r>
              <a:rPr lang="ru-RU" dirty="0" smtClean="0"/>
              <a:t>. – М.: Стандарты и качество, 2018.</a:t>
            </a:r>
          </a:p>
          <a:p>
            <a:r>
              <a:rPr lang="ru-RU" dirty="0" smtClean="0"/>
              <a:t>ГОСТ Р ИСО 9001-2015. </a:t>
            </a:r>
            <a:r>
              <a:rPr lang="ru-RU" b="1" dirty="0" smtClean="0"/>
              <a:t>Системы менеджмента качества. Требования</a:t>
            </a:r>
            <a:r>
              <a:rPr lang="ru-RU" dirty="0" smtClean="0"/>
              <a:t>. (Нормативно-правовая основа для требований к документированию и сбору информации о процессах).</a:t>
            </a:r>
          </a:p>
          <a:p>
            <a:r>
              <a:rPr lang="ru-RU" b="1" dirty="0" smtClean="0"/>
              <a:t>Методология ARIS</a:t>
            </a:r>
            <a:r>
              <a:rPr lang="ru-RU" dirty="0" smtClean="0"/>
              <a:t> (описание фаз сбора информации для создания комплексной модели организации).</a:t>
            </a:r>
          </a:p>
          <a:p>
            <a:r>
              <a:rPr lang="ru-RU" dirty="0" smtClean="0"/>
              <a:t>Материалы </a:t>
            </a:r>
            <a:r>
              <a:rPr lang="ru-RU" b="1" dirty="0" smtClean="0"/>
              <a:t>ABPMP (</a:t>
            </a:r>
            <a:r>
              <a:rPr lang="ru-RU" b="1" dirty="0" err="1" smtClean="0"/>
              <a:t>Association</a:t>
            </a:r>
            <a:r>
              <a:rPr lang="ru-RU" b="1" dirty="0" smtClean="0"/>
              <a:t> </a:t>
            </a:r>
            <a:r>
              <a:rPr lang="ru-RU" b="1" dirty="0" err="1" smtClean="0"/>
              <a:t>of</a:t>
            </a:r>
            <a:r>
              <a:rPr lang="ru-RU" b="1" dirty="0" smtClean="0"/>
              <a:t> </a:t>
            </a:r>
            <a:r>
              <a:rPr lang="ru-RU" b="1" dirty="0" err="1" smtClean="0"/>
              <a:t>Business</a:t>
            </a:r>
            <a:r>
              <a:rPr lang="ru-RU" b="1" dirty="0" smtClean="0"/>
              <a:t> </a:t>
            </a:r>
            <a:r>
              <a:rPr lang="ru-RU" b="1" dirty="0" err="1" smtClean="0"/>
              <a:t>Process</a:t>
            </a:r>
            <a:r>
              <a:rPr lang="ru-RU" b="1" dirty="0" smtClean="0"/>
              <a:t> </a:t>
            </a:r>
            <a:r>
              <a:rPr lang="ru-RU" b="1" dirty="0" err="1" smtClean="0"/>
              <a:t>Management</a:t>
            </a:r>
            <a:r>
              <a:rPr lang="ru-RU" b="1" dirty="0" smtClean="0"/>
              <a:t> </a:t>
            </a:r>
            <a:r>
              <a:rPr lang="ru-RU" b="1" dirty="0" err="1" smtClean="0"/>
              <a:t>Professionals</a:t>
            </a:r>
            <a:r>
              <a:rPr lang="ru-RU" b="1" dirty="0" smtClean="0"/>
              <a:t>)</a:t>
            </a:r>
            <a:r>
              <a:rPr lang="ru-RU" dirty="0" smtClean="0"/>
              <a:t> по компетенциям и методам анализа бизнес-процессов.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67488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638</Words>
  <Application>Microsoft Office PowerPoint</Application>
  <PresentationFormat>Экран (4:3)</PresentationFormat>
  <Paragraphs>27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Вопросники и анкеты как методы сбора информации о бизнес-процессах</vt:lpstr>
      <vt:lpstr>Сбор данных — основа для создания точной модели</vt:lpstr>
      <vt:lpstr>Эффективный сбор фактов и оценка настроений</vt:lpstr>
      <vt:lpstr>Систематический подход для получения достоверных данных</vt:lpstr>
      <vt:lpstr>Систематический подход для получения достоверных данных</vt:lpstr>
      <vt:lpstr>Логическая структура для высокой вовлеченности</vt:lpstr>
      <vt:lpstr>Использование разных форматов для разных целей</vt:lpstr>
      <vt:lpstr>Осведомленность о рисках повышает качество данных</vt:lpstr>
      <vt:lpstr>Инструмент для первичного "скрининга" проблем</vt:lpstr>
      <vt:lpstr>Список использованных источников и литературы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Бурыхин Егор</dc:creator>
  <cp:lastModifiedBy>Бурыхин Егор</cp:lastModifiedBy>
  <cp:revision>3</cp:revision>
  <dcterms:created xsi:type="dcterms:W3CDTF">2025-10-06T14:29:09Z</dcterms:created>
  <dcterms:modified xsi:type="dcterms:W3CDTF">2025-10-06T14:58:45Z</dcterms:modified>
</cp:coreProperties>
</file>