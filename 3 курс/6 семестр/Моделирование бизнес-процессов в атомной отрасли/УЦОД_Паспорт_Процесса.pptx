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9" r:id="rId12"/>
    <p:sldId id="267" r:id="rId13"/>
    <p:sldId id="268" r:id="rId14"/>
    <p:sldId id="270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25" d="100"/>
          <a:sy n="125" d="100"/>
        </p:scale>
        <p:origin x="226" y="-3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995318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45F006-3DD9-68EA-34B0-1C17C22A89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23F42D-A8CE-478E-DEC9-623085A671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FBB6D1-787D-2541-8E6E-A1F84E797E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1C2948-8C07-4044-6199-75CE57EF925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72105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1AC9E5-1036-DB73-5D10-4AAFC4B34D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74FEDE-0FAE-3453-8E1D-FCFEDCFA25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EBD352-33AC-134A-CFA8-671045AC77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2A5334-E21D-0210-20FC-BF9A1F9525E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9310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Shape 2"/>
          <p:cNvSpPr/>
          <p:nvPr/>
        </p:nvSpPr>
        <p:spPr>
          <a:xfrm>
            <a:off x="7498080" y="-548640"/>
            <a:ext cx="2286000" cy="2286000"/>
          </a:xfrm>
          <a:prstGeom prst="ellipse">
            <a:avLst/>
          </a:prstGeom>
          <a:solidFill>
            <a:srgbClr val="02C39A">
              <a:alpha val="30000"/>
            </a:srgbClr>
          </a:solidFill>
          <a:ln w="12700">
            <a:solidFill>
              <a:srgbClr val="02C39A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kern="0" spc="3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ПАСПОРТ ПРОЦЕССА ИСУ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Управление эксплуатацией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центра обработки данных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283464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ru-RU" sz="2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</a:t>
            </a:r>
            <a:r>
              <a:rPr lang="en-US" sz="2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ЦОД)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34747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Процессная область: </a:t>
            </a:r>
            <a:r>
              <a:rPr lang="en-US" sz="1300" dirty="0" err="1">
                <a:solidFill>
                  <a:srgbClr val="A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Обеспечивающие</a:t>
            </a:r>
            <a:r>
              <a:rPr lang="en-US" sz="1300" dirty="0">
                <a:solidFill>
                  <a:srgbClr val="A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A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процессы</a:t>
            </a:r>
            <a:endParaRPr lang="en-US" sz="1300" dirty="0">
              <a:solidFill>
                <a:srgbClr val="A0B8C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ru-RU" sz="1300" dirty="0">
              <a:solidFill>
                <a:srgbClr val="A0B8C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ru-RU" sz="1300" dirty="0">
                <a:solidFill>
                  <a:srgbClr val="A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Выполнили студенты группы ИКБО-50-23</a:t>
            </a:r>
          </a:p>
          <a:p>
            <a:pPr marL="0" indent="0">
              <a:buNone/>
            </a:pPr>
            <a:r>
              <a:rPr lang="ru-RU" sz="1300" dirty="0">
                <a:solidFill>
                  <a:srgbClr val="A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Астахов С. П.</a:t>
            </a:r>
          </a:p>
          <a:p>
            <a:pPr marL="0" indent="0">
              <a:buNone/>
            </a:pPr>
            <a:r>
              <a:rPr lang="ru-RU" sz="1300" dirty="0">
                <a:solidFill>
                  <a:srgbClr val="A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Бурыхин И. Е.</a:t>
            </a:r>
          </a:p>
          <a:p>
            <a:pPr marL="0" indent="0">
              <a:buNone/>
            </a:pPr>
            <a:r>
              <a:rPr lang="ru-RU" sz="1300" dirty="0">
                <a:solidFill>
                  <a:srgbClr val="A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Петруничев А. А.</a:t>
            </a:r>
          </a:p>
          <a:p>
            <a:pPr marL="0" indent="0">
              <a:buNone/>
            </a:pPr>
            <a:r>
              <a:rPr lang="ru-RU" sz="1300" dirty="0">
                <a:solidFill>
                  <a:srgbClr val="A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Суханов Д. В.</a:t>
            </a:r>
          </a:p>
        </p:txBody>
      </p:sp>
      <p:sp>
        <p:nvSpPr>
          <p:cNvPr id="9" name="Text 7"/>
          <p:cNvSpPr/>
          <p:nvPr/>
        </p:nvSpPr>
        <p:spPr>
          <a:xfrm>
            <a:off x="457200" y="46634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Проблематика: зачем нужен процесс?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4114800" cy="1691640"/>
          </a:xfrm>
          <a:prstGeom prst="rect">
            <a:avLst/>
          </a:prstGeom>
          <a:solidFill>
            <a:srgbClr val="F0F7F8"/>
          </a:solidFill>
          <a:ln w="12700">
            <a:solidFill>
              <a:srgbClr val="D0E8EC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109728" cy="16916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521208" y="10972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Риск простоев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21208" y="1463040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Неконтролируемая эксплуатация ЦОД приводит к незапланированным отказам ИТ-сервисов и нарушению доступности для бизнеса.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754880" y="960120"/>
            <a:ext cx="4114800" cy="1691640"/>
          </a:xfrm>
          <a:prstGeom prst="rect">
            <a:avLst/>
          </a:prstGeom>
          <a:solidFill>
            <a:srgbClr val="F0F7F8"/>
          </a:solidFill>
          <a:ln w="12700">
            <a:solidFill>
              <a:srgbClr val="D0E8EC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9" name="Shape 7"/>
          <p:cNvSpPr/>
          <p:nvPr/>
        </p:nvSpPr>
        <p:spPr>
          <a:xfrm>
            <a:off x="4754880" y="960120"/>
            <a:ext cx="109728" cy="16916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0" name="Text 8"/>
          <p:cNvSpPr/>
          <p:nvPr/>
        </p:nvSpPr>
        <p:spPr>
          <a:xfrm>
            <a:off x="4956048" y="10972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Нарушение SLA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56048" y="1463040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Отсутствие формализованного управления инцидентами ведёт к превышению допустимого времени восстановления и нарушению соглашений с потребителями.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0040" y="2834640"/>
            <a:ext cx="4114800" cy="1691640"/>
          </a:xfrm>
          <a:prstGeom prst="rect">
            <a:avLst/>
          </a:prstGeom>
          <a:solidFill>
            <a:srgbClr val="F0F7F8"/>
          </a:solidFill>
          <a:ln w="12700">
            <a:solidFill>
              <a:srgbClr val="D0E8EC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3" name="Shape 11"/>
          <p:cNvSpPr/>
          <p:nvPr/>
        </p:nvSpPr>
        <p:spPr>
          <a:xfrm>
            <a:off x="320040" y="2834640"/>
            <a:ext cx="109728" cy="16916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4" name="Text 12"/>
          <p:cNvSpPr/>
          <p:nvPr/>
        </p:nvSpPr>
        <p:spPr>
          <a:xfrm>
            <a:off x="521208" y="29718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Неэффективность ресурсов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21208" y="3337560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системного планирования ТО и мониторинга растут затраты на аварийный ремонт, снижается КПД инфраструктуры.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754880" y="2834640"/>
            <a:ext cx="4114800" cy="1691640"/>
          </a:xfrm>
          <a:prstGeom prst="rect">
            <a:avLst/>
          </a:prstGeom>
          <a:solidFill>
            <a:srgbClr val="F0F7F8"/>
          </a:solidFill>
          <a:ln w="12700">
            <a:solidFill>
              <a:srgbClr val="D0E8EC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7" name="Shape 15"/>
          <p:cNvSpPr/>
          <p:nvPr/>
        </p:nvSpPr>
        <p:spPr>
          <a:xfrm>
            <a:off x="4754880" y="2834640"/>
            <a:ext cx="109728" cy="16916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8" name="Text 16"/>
          <p:cNvSpPr/>
          <p:nvPr/>
        </p:nvSpPr>
        <p:spPr>
          <a:xfrm>
            <a:off x="4956048" y="29718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Отсутствие прозрачности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56048" y="3337560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Невозможно оценить качество эксплуатации, выявить повторяющиеся инциденты и провести улучшения без формализованного процесса.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Ценность для организации и цели процесса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402336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Text 3"/>
          <p:cNvSpPr/>
          <p:nvPr/>
        </p:nvSpPr>
        <p:spPr>
          <a:xfrm>
            <a:off x="320040" y="9144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ЦЕННОСТЬ ПРОЦЕССА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47472" y="1508760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7" name="Text 5"/>
          <p:cNvSpPr/>
          <p:nvPr/>
        </p:nvSpPr>
        <p:spPr>
          <a:xfrm>
            <a:off x="658368" y="14630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Бесперебойная работа ИТ-инфраструктуры для всего Общества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7472" y="2075688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Text 7"/>
          <p:cNvSpPr/>
          <p:nvPr/>
        </p:nvSpPr>
        <p:spPr>
          <a:xfrm>
            <a:off x="658368" y="2029968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Соблюдение SLA и обязательств перед бизнес-подразделениями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47472" y="2642616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Text 9"/>
          <p:cNvSpPr/>
          <p:nvPr/>
        </p:nvSpPr>
        <p:spPr>
          <a:xfrm>
            <a:off x="658368" y="2596896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Снижение рисков аварийных ситуаций и их финансовых последствий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47472" y="3209544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3" name="Text 11"/>
          <p:cNvSpPr/>
          <p:nvPr/>
        </p:nvSpPr>
        <p:spPr>
          <a:xfrm>
            <a:off x="658368" y="3163824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Прозрачность и управляемость инфраструктуры ЦОД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47472" y="3776472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5" name="Text 13"/>
          <p:cNvSpPr/>
          <p:nvPr/>
        </p:nvSpPr>
        <p:spPr>
          <a:xfrm>
            <a:off x="658368" y="3730752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Основа для цифровой надёжности всей деятельности организации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00600" y="914400"/>
            <a:ext cx="4023360" cy="4572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7" name="Text 15"/>
          <p:cNvSpPr/>
          <p:nvPr/>
        </p:nvSpPr>
        <p:spPr>
          <a:xfrm>
            <a:off x="4800600" y="9144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ЦЕЛИ ПРОЦЕССА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28032" y="150876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 1-го уровня: 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28032" y="174650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Обеспечение бесперебойной, безопасной и эффективной эксплуатации ЦОД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28032" y="207568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Высокая доступность: 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28032" y="23134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Поддержание непрерывной работы ИТ-сервисов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28032" y="264261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Минимизация простоев: 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28032" y="28803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Сокращение времени плановых и внеплановых остановок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28032" y="320954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Соблюдение SLA: 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28032" y="344728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Выполнение соглашений об уровне обслуживания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28032" y="377647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Эффективность: 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28032" y="401421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Повышение КПД эксплуатации инфраструктуры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Чью деятельность охватывает процесс?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2743200" cy="1691640"/>
          </a:xfrm>
          <a:prstGeom prst="rect">
            <a:avLst/>
          </a:prstGeom>
          <a:solidFill>
            <a:srgbClr val="F8FBFC"/>
          </a:solidFill>
          <a:ln w="12700">
            <a:solidFill>
              <a:srgbClr val="D0E0E8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2743200" cy="34747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320040" y="96012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Куратор процесса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29768" y="1371600"/>
            <a:ext cx="2523744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Заместитель ГД по информационной инфраструктуре и связи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46120" y="960120"/>
            <a:ext cx="2743200" cy="1691640"/>
          </a:xfrm>
          <a:prstGeom prst="rect">
            <a:avLst/>
          </a:prstGeom>
          <a:solidFill>
            <a:srgbClr val="F8FBFC"/>
          </a:solidFill>
          <a:ln w="12700">
            <a:solidFill>
              <a:srgbClr val="D0E0E8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9" name="Shape 7"/>
          <p:cNvSpPr/>
          <p:nvPr/>
        </p:nvSpPr>
        <p:spPr>
          <a:xfrm>
            <a:off x="3246120" y="960120"/>
            <a:ext cx="274320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0" name="Text 8"/>
          <p:cNvSpPr/>
          <p:nvPr/>
        </p:nvSpPr>
        <p:spPr>
          <a:xfrm>
            <a:off x="3246120" y="96012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Владелец процесса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355848" y="1371600"/>
            <a:ext cx="2523744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Начальник отдела по поддержке серверного оборудования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72200" y="960120"/>
            <a:ext cx="2743200" cy="1691640"/>
          </a:xfrm>
          <a:prstGeom prst="rect">
            <a:avLst/>
          </a:prstGeom>
          <a:solidFill>
            <a:srgbClr val="F8FBFC"/>
          </a:solidFill>
          <a:ln w="12700">
            <a:solidFill>
              <a:srgbClr val="D0E0E8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3" name="Shape 11"/>
          <p:cNvSpPr/>
          <p:nvPr/>
        </p:nvSpPr>
        <p:spPr>
          <a:xfrm>
            <a:off x="6172200" y="960120"/>
            <a:ext cx="2743200" cy="347472"/>
          </a:xfrm>
          <a:prstGeom prst="rect">
            <a:avLst/>
          </a:prstGeom>
          <a:solidFill>
            <a:srgbClr val="1A6B7A"/>
          </a:solidFill>
          <a:ln w="12700">
            <a:solidFill>
              <a:srgbClr val="1A6B7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4" name="Text 12"/>
          <p:cNvSpPr/>
          <p:nvPr/>
        </p:nvSpPr>
        <p:spPr>
          <a:xfrm>
            <a:off x="6172200" y="96012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Отдел эксплуатации ЦОД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281928" y="1371600"/>
            <a:ext cx="2523744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Планирование, обслуживание, устранение инцидентов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2880360"/>
            <a:ext cx="2743200" cy="1691640"/>
          </a:xfrm>
          <a:prstGeom prst="rect">
            <a:avLst/>
          </a:prstGeom>
          <a:solidFill>
            <a:srgbClr val="F8FBFC"/>
          </a:solidFill>
          <a:ln w="12700">
            <a:solidFill>
              <a:srgbClr val="D0E0E8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7" name="Shape 15"/>
          <p:cNvSpPr/>
          <p:nvPr/>
        </p:nvSpPr>
        <p:spPr>
          <a:xfrm>
            <a:off x="320040" y="2880360"/>
            <a:ext cx="2743200" cy="347472"/>
          </a:xfrm>
          <a:prstGeom prst="rect">
            <a:avLst/>
          </a:prstGeom>
          <a:solidFill>
            <a:srgbClr val="2A8A6A"/>
          </a:solidFill>
          <a:ln w="12700">
            <a:solidFill>
              <a:srgbClr val="2A8A6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8" name="Text 16"/>
          <p:cNvSpPr/>
          <p:nvPr/>
        </p:nvSpPr>
        <p:spPr>
          <a:xfrm>
            <a:off x="320040" y="28803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Отдел мониторинга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29768" y="3291840"/>
            <a:ext cx="2523744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Круглосуточный контроль и диспетчеризация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46120" y="2880360"/>
            <a:ext cx="2743200" cy="1691640"/>
          </a:xfrm>
          <a:prstGeom prst="rect">
            <a:avLst/>
          </a:prstGeom>
          <a:solidFill>
            <a:srgbClr val="F8FBFC"/>
          </a:solidFill>
          <a:ln w="12700">
            <a:solidFill>
              <a:srgbClr val="D0E0E8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1" name="Shape 19"/>
          <p:cNvSpPr/>
          <p:nvPr/>
        </p:nvSpPr>
        <p:spPr>
          <a:xfrm>
            <a:off x="3246120" y="2880360"/>
            <a:ext cx="2743200" cy="347472"/>
          </a:xfrm>
          <a:prstGeom prst="rect">
            <a:avLst/>
          </a:prstGeom>
          <a:solidFill>
            <a:srgbClr val="4A6080"/>
          </a:solidFill>
          <a:ln w="12700">
            <a:solidFill>
              <a:srgbClr val="4A608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2" name="Text 20"/>
          <p:cNvSpPr/>
          <p:nvPr/>
        </p:nvSpPr>
        <p:spPr>
          <a:xfrm>
            <a:off x="3246120" y="28803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Смежные ИТ-подразделения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355848" y="3291840"/>
            <a:ext cx="2523744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Потребители сервисов; участники при инцидентах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72200" y="2880360"/>
            <a:ext cx="2743200" cy="1691640"/>
          </a:xfrm>
          <a:prstGeom prst="rect">
            <a:avLst/>
          </a:prstGeom>
          <a:solidFill>
            <a:srgbClr val="F8FBFC"/>
          </a:solidFill>
          <a:ln w="12700">
            <a:solidFill>
              <a:srgbClr val="D0E0E8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5" name="Shape 23"/>
          <p:cNvSpPr/>
          <p:nvPr/>
        </p:nvSpPr>
        <p:spPr>
          <a:xfrm>
            <a:off x="6172200" y="2880360"/>
            <a:ext cx="2743200" cy="347472"/>
          </a:xfrm>
          <a:prstGeom prst="rect">
            <a:avLst/>
          </a:prstGeom>
          <a:solidFill>
            <a:srgbClr val="6A5080"/>
          </a:solidFill>
          <a:ln w="12700">
            <a:solidFill>
              <a:srgbClr val="6A508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6" name="Text 24"/>
          <p:cNvSpPr/>
          <p:nvPr/>
        </p:nvSpPr>
        <p:spPr>
          <a:xfrm>
            <a:off x="6172200" y="28803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Внешние подрядчики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281928" y="3291840"/>
            <a:ext cx="2523744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Поставщики оборудования; участники при ремонте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Паспорт процесса: общие сведения</a:t>
            </a:r>
            <a:endParaRPr lang="en-US" sz="2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914400"/>
          <a:ext cx="8503920" cy="3520440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77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Наименование процесса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Управление эксплуатацией центра обработки данных (ЦОД)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Код документа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ПП-УЦОД.00.00.00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Процессная область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Обеспечивающие процессы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Куратор процесса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Заместитель ГД по информационной инфраструктуре и связи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Владелец процесса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Начальник отдела по поддержке серверного оборудования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Пользователи Паспорта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Работники, участвующие в процессе УЦОД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Год утверждения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Объекты управления и структура процесса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4023360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Text 3"/>
          <p:cNvSpPr/>
          <p:nvPr/>
        </p:nvSpPr>
        <p:spPr>
          <a:xfrm>
            <a:off x="320040" y="91440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ОБЪЕКТЫ УПРАВЛЕНИЯ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47472" y="1417320"/>
            <a:ext cx="164592" cy="16459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7" name="Text 5"/>
          <p:cNvSpPr/>
          <p:nvPr/>
        </p:nvSpPr>
        <p:spPr>
          <a:xfrm>
            <a:off x="621792" y="1371600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Серверная инфраструктура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7472" y="1874520"/>
            <a:ext cx="164592" cy="16459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Text 7"/>
          <p:cNvSpPr/>
          <p:nvPr/>
        </p:nvSpPr>
        <p:spPr>
          <a:xfrm>
            <a:off x="621792" y="1828800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Системы хранения данных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47472" y="2331720"/>
            <a:ext cx="164592" cy="16459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Text 9"/>
          <p:cNvSpPr/>
          <p:nvPr/>
        </p:nvSpPr>
        <p:spPr>
          <a:xfrm>
            <a:off x="621792" y="2286000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Сетевое оборудование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47472" y="2788920"/>
            <a:ext cx="164592" cy="16459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3" name="Text 11"/>
          <p:cNvSpPr/>
          <p:nvPr/>
        </p:nvSpPr>
        <p:spPr>
          <a:xfrm>
            <a:off x="621792" y="2743200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Инженерная инфраструктура ЦОД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47472" y="3246120"/>
            <a:ext cx="164592" cy="16459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5" name="Text 13"/>
          <p:cNvSpPr/>
          <p:nvPr/>
        </p:nvSpPr>
        <p:spPr>
          <a:xfrm>
            <a:off x="621792" y="3200400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ИТ-сервисы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00600" y="914400"/>
            <a:ext cx="4023360" cy="38404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7" name="Text 15"/>
          <p:cNvSpPr/>
          <p:nvPr/>
        </p:nvSpPr>
        <p:spPr>
          <a:xfrm>
            <a:off x="4800600" y="91440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ПОДПРОЦЕССЫ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28032" y="138988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Планирование эксплуатации ЦОД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828032" y="1796796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Управление эксплуатацией инфраструктуры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828032" y="2203704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Управление инцидентами и авариями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828032" y="261061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Техническое обслуживание и ремонт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828032" y="301752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Мониторинг и диспетчеризация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828032" y="342442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Контроль и анализ эксплуатации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828032" y="3831336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Управление изменениями и модернизацией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828032" y="4238244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Управление рисками эксплуатации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828032" y="464515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Улучшение процесса эксплуатации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ПОР-УЦОД.03 — Управление инцидентами и авариями ЦОД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1280160" cy="3200400"/>
          </a:xfrm>
          <a:prstGeom prst="rect">
            <a:avLst/>
          </a:prstGeom>
          <a:solidFill>
            <a:srgbClr val="F0F7F8"/>
          </a:solidFill>
          <a:ln w="12700">
            <a:solidFill>
              <a:srgbClr val="C0D8D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128016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274320" y="10058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20040" y="160020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Выявление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" y="224028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до 5 мин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2743200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Отдел мониторинга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72768" y="1920240"/>
            <a:ext cx="13716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Shape 9"/>
          <p:cNvSpPr/>
          <p:nvPr/>
        </p:nvSpPr>
        <p:spPr>
          <a:xfrm>
            <a:off x="1737360" y="1005840"/>
            <a:ext cx="1280160" cy="3200400"/>
          </a:xfrm>
          <a:prstGeom prst="rect">
            <a:avLst/>
          </a:prstGeom>
          <a:solidFill>
            <a:srgbClr val="E4F5F8"/>
          </a:solidFill>
          <a:ln w="12700">
            <a:solidFill>
              <a:srgbClr val="C0D8D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Shape 10"/>
          <p:cNvSpPr/>
          <p:nvPr/>
        </p:nvSpPr>
        <p:spPr>
          <a:xfrm>
            <a:off x="1737360" y="1005840"/>
            <a:ext cx="128016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3" name="Text 11"/>
          <p:cNvSpPr/>
          <p:nvPr/>
        </p:nvSpPr>
        <p:spPr>
          <a:xfrm>
            <a:off x="1737360" y="10058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783080" y="160020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Регистрация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783080" y="224028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до 15 мин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783080" y="2743200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Отдел эксплуатации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035808" y="1920240"/>
            <a:ext cx="13716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8" name="Shape 16"/>
          <p:cNvSpPr/>
          <p:nvPr/>
        </p:nvSpPr>
        <p:spPr>
          <a:xfrm>
            <a:off x="3200400" y="1005840"/>
            <a:ext cx="1280160" cy="3200400"/>
          </a:xfrm>
          <a:prstGeom prst="rect">
            <a:avLst/>
          </a:prstGeom>
          <a:solidFill>
            <a:srgbClr val="F0F7F8"/>
          </a:solidFill>
          <a:ln w="12700">
            <a:solidFill>
              <a:srgbClr val="C0D8D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9" name="Shape 17"/>
          <p:cNvSpPr/>
          <p:nvPr/>
        </p:nvSpPr>
        <p:spPr>
          <a:xfrm>
            <a:off x="3200400" y="1005840"/>
            <a:ext cx="128016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0" name="Text 18"/>
          <p:cNvSpPr/>
          <p:nvPr/>
        </p:nvSpPr>
        <p:spPr>
          <a:xfrm>
            <a:off x="3200400" y="10058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246120" y="160020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Диагностика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246120" y="224028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до 1 часа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246120" y="2743200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Дежурный инженер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498848" y="1920240"/>
            <a:ext cx="13716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5" name="Shape 23"/>
          <p:cNvSpPr/>
          <p:nvPr/>
        </p:nvSpPr>
        <p:spPr>
          <a:xfrm>
            <a:off x="4663440" y="1005840"/>
            <a:ext cx="1280160" cy="3200400"/>
          </a:xfrm>
          <a:prstGeom prst="rect">
            <a:avLst/>
          </a:prstGeom>
          <a:solidFill>
            <a:srgbClr val="E4F5F8"/>
          </a:solidFill>
          <a:ln w="12700">
            <a:solidFill>
              <a:srgbClr val="C0D8D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6" name="Shape 24"/>
          <p:cNvSpPr/>
          <p:nvPr/>
        </p:nvSpPr>
        <p:spPr>
          <a:xfrm>
            <a:off x="4663440" y="1005840"/>
            <a:ext cx="128016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7" name="Text 25"/>
          <p:cNvSpPr/>
          <p:nvPr/>
        </p:nvSpPr>
        <p:spPr>
          <a:xfrm>
            <a:off x="4663440" y="10058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709160" y="160020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Устранение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709160" y="224028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до 4 часов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709160" y="2743200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Эксплуатация + Подрядчики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961888" y="1920240"/>
            <a:ext cx="13716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2" name="Shape 30"/>
          <p:cNvSpPr/>
          <p:nvPr/>
        </p:nvSpPr>
        <p:spPr>
          <a:xfrm>
            <a:off x="6126480" y="1005840"/>
            <a:ext cx="1280160" cy="3200400"/>
          </a:xfrm>
          <a:prstGeom prst="rect">
            <a:avLst/>
          </a:prstGeom>
          <a:solidFill>
            <a:srgbClr val="F0F7F8"/>
          </a:solidFill>
          <a:ln w="12700">
            <a:solidFill>
              <a:srgbClr val="C0D8D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3" name="Shape 31"/>
          <p:cNvSpPr/>
          <p:nvPr/>
        </p:nvSpPr>
        <p:spPr>
          <a:xfrm>
            <a:off x="6126480" y="1005840"/>
            <a:ext cx="128016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4" name="Text 32"/>
          <p:cNvSpPr/>
          <p:nvPr/>
        </p:nvSpPr>
        <p:spPr>
          <a:xfrm>
            <a:off x="6126480" y="10058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172200" y="160020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Закрытие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172200" y="224028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до 30 мин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172200" y="2743200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Отдел эксплуатации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7424928" y="1920240"/>
            <a:ext cx="13716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9" name="Shape 37"/>
          <p:cNvSpPr/>
          <p:nvPr/>
        </p:nvSpPr>
        <p:spPr>
          <a:xfrm>
            <a:off x="7589520" y="1005840"/>
            <a:ext cx="1280160" cy="3200400"/>
          </a:xfrm>
          <a:prstGeom prst="rect">
            <a:avLst/>
          </a:prstGeom>
          <a:solidFill>
            <a:srgbClr val="E4F5F8"/>
          </a:solidFill>
          <a:ln w="12700">
            <a:solidFill>
              <a:srgbClr val="C0D8D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0" name="Shape 38"/>
          <p:cNvSpPr/>
          <p:nvPr/>
        </p:nvSpPr>
        <p:spPr>
          <a:xfrm>
            <a:off x="7589520" y="1005840"/>
            <a:ext cx="128016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1" name="Text 39"/>
          <p:cNvSpPr/>
          <p:nvPr/>
        </p:nvSpPr>
        <p:spPr>
          <a:xfrm>
            <a:off x="7589520" y="10058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7635240" y="160020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Анализ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7635240" y="224028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до 1 р/дня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635240" y="2743200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Владелец процесса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274320" y="438912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Источники: данные мониторинга, обращения пользователей → Выход: рекомендации по предотвращению повторных инцидентов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Показатели процесса (KPI / КПБ)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8503920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Text 3"/>
          <p:cNvSpPr/>
          <p:nvPr/>
        </p:nvSpPr>
        <p:spPr>
          <a:xfrm>
            <a:off x="320040" y="86868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КПБ — Показатели деятельности в целях безопасности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0157641"/>
              </p:ext>
            </p:extLst>
          </p:nvPr>
        </p:nvGraphicFramePr>
        <p:xfrm>
          <a:off x="320040" y="1216152"/>
          <a:ext cx="8503920" cy="123444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Показатель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E8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Тип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E8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Формула / описание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E8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Периодичность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E8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Количество критических инцидентов ЦОД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Реактивный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Подсчёт зарегистрированных критических инцидентов за период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Ежемесячно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Доля инцидентов, нарушивших SLA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0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Реактивный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0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Кол-во инцидентов с нарушением SLA / Общее кол-во инцидентов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0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Ежемесячно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0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20040" y="2532888"/>
            <a:ext cx="850392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ru-RU" dirty="0"/>
          </a:p>
        </p:txBody>
      </p:sp>
      <p:sp>
        <p:nvSpPr>
          <p:cNvPr id="8" name="Text 5"/>
          <p:cNvSpPr/>
          <p:nvPr/>
        </p:nvSpPr>
        <p:spPr>
          <a:xfrm>
            <a:off x="365760" y="2532888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КПЭ — Показатели операционной эффективности</a:t>
            </a:r>
            <a:endParaRPr lang="en-US" sz="12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7299691"/>
              </p:ext>
            </p:extLst>
          </p:nvPr>
        </p:nvGraphicFramePr>
        <p:xfrm>
          <a:off x="320040" y="2880360"/>
          <a:ext cx="8503920" cy="205740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Показатель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E8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Тип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E8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Формула / описание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E8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Периодичность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E8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Уровень доступности ЦОД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Проактивный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Время бесперебойной работы / Общее время эксплуатации, 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Ежемесячно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Среднее время восстановления (MTTR)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Реактивный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Среднее арифметическое времени устранения всех инцидентов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Ежемесячно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Доля выполненных работ ТО в срок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Проактивный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Кол-во ТО выполненных в срок / Общее кол-во плановых работ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Ежемесячно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Уровень выполнения SLA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Проактивный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Кол-во выполненных показателей SLA / Общее кол-во показателей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Ежемесячно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Риски и возможности процесса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4069080" cy="3840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Text 3"/>
          <p:cNvSpPr/>
          <p:nvPr/>
        </p:nvSpPr>
        <p:spPr>
          <a:xfrm>
            <a:off x="320040" y="868680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РИСКИ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54880" y="868680"/>
            <a:ext cx="4069080" cy="384048"/>
          </a:xfrm>
          <a:prstGeom prst="rect">
            <a:avLst/>
          </a:prstGeom>
          <a:solidFill>
            <a:srgbClr val="1B8A5A"/>
          </a:solidFill>
          <a:ln w="12700">
            <a:solidFill>
              <a:srgbClr val="1B8A5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7" name="Text 5"/>
          <p:cNvSpPr/>
          <p:nvPr/>
        </p:nvSpPr>
        <p:spPr>
          <a:xfrm>
            <a:off x="4754880" y="868680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ВОЗМОЖНОСТИ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1325880"/>
            <a:ext cx="4069080" cy="621792"/>
          </a:xfrm>
          <a:prstGeom prst="rect">
            <a:avLst/>
          </a:prstGeom>
          <a:solidFill>
            <a:srgbClr val="FEF0EF"/>
          </a:solidFill>
          <a:ln w="12700">
            <a:solidFill>
              <a:srgbClr val="E8C8C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Text 7"/>
          <p:cNvSpPr/>
          <p:nvPr/>
        </p:nvSpPr>
        <p:spPr>
          <a:xfrm>
            <a:off x="457200" y="1353312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Отказ оборудования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880360" y="1353312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Простой ИТ-сервисов, нарушение SLA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2039112"/>
            <a:ext cx="4069080" cy="621792"/>
          </a:xfrm>
          <a:prstGeom prst="rect">
            <a:avLst/>
          </a:prstGeom>
          <a:solidFill>
            <a:srgbClr val="FDF6F6"/>
          </a:solidFill>
          <a:ln w="12700">
            <a:solidFill>
              <a:srgbClr val="E8C8C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Text 10"/>
          <p:cNvSpPr/>
          <p:nvPr/>
        </p:nvSpPr>
        <p:spPr>
          <a:xfrm>
            <a:off x="457200" y="2066544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Рост времени устранения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8B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инцидентов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880360" y="2066544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Снижение доступности и удовлетворённости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2752344"/>
            <a:ext cx="4069080" cy="621792"/>
          </a:xfrm>
          <a:prstGeom prst="rect">
            <a:avLst/>
          </a:prstGeom>
          <a:solidFill>
            <a:srgbClr val="FEF0EF"/>
          </a:solidFill>
          <a:ln w="12700">
            <a:solidFill>
              <a:srgbClr val="E8C8C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5" name="Text 13"/>
          <p:cNvSpPr/>
          <p:nvPr/>
        </p:nvSpPr>
        <p:spPr>
          <a:xfrm>
            <a:off x="457200" y="2779776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Несвоевременный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8B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мониторинг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880360" y="2779776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Развитие аварийных ситуаций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3465576"/>
            <a:ext cx="4069080" cy="621792"/>
          </a:xfrm>
          <a:prstGeom prst="rect">
            <a:avLst/>
          </a:prstGeom>
          <a:solidFill>
            <a:srgbClr val="FDF6F6"/>
          </a:solidFill>
          <a:ln w="12700">
            <a:solidFill>
              <a:srgbClr val="E8C8C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8" name="Text 16"/>
          <p:cNvSpPr/>
          <p:nvPr/>
        </p:nvSpPr>
        <p:spPr>
          <a:xfrm>
            <a:off x="457200" y="3493008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Нарушение графика ТО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880360" y="3493008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Рост вероятности отказов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4178808"/>
            <a:ext cx="4069080" cy="621792"/>
          </a:xfrm>
          <a:prstGeom prst="rect">
            <a:avLst/>
          </a:prstGeom>
          <a:solidFill>
            <a:srgbClr val="FEF0EF"/>
          </a:solidFill>
          <a:ln w="12700">
            <a:solidFill>
              <a:srgbClr val="E8C8C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1" name="Text 19"/>
          <p:cNvSpPr/>
          <p:nvPr/>
        </p:nvSpPr>
        <p:spPr>
          <a:xfrm>
            <a:off x="457200" y="42062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Некорректные изменения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880360" y="42062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Сбои в работе инфраструктуры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54880" y="1325880"/>
            <a:ext cx="4069080" cy="621792"/>
          </a:xfrm>
          <a:prstGeom prst="rect">
            <a:avLst/>
          </a:prstGeom>
          <a:solidFill>
            <a:srgbClr val="EEF8F3"/>
          </a:solidFill>
          <a:ln w="12700">
            <a:solidFill>
              <a:srgbClr val="B0D8C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4" name="Text 22"/>
          <p:cNvSpPr/>
          <p:nvPr/>
        </p:nvSpPr>
        <p:spPr>
          <a:xfrm>
            <a:off x="4892040" y="1353312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5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Автоматизация мониторинга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296912" y="1353312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Сокращение времени обнаружения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54880" y="2039112"/>
            <a:ext cx="4069080" cy="621792"/>
          </a:xfrm>
          <a:prstGeom prst="rect">
            <a:avLst/>
          </a:prstGeom>
          <a:solidFill>
            <a:srgbClr val="F5FBF7"/>
          </a:solidFill>
          <a:ln w="12700">
            <a:solidFill>
              <a:srgbClr val="B0D8C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7" name="Text 25"/>
          <p:cNvSpPr/>
          <p:nvPr/>
        </p:nvSpPr>
        <p:spPr>
          <a:xfrm>
            <a:off x="4892040" y="2066544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5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Модернизация оборудования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296912" y="2066544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Снижение количества отказов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54880" y="2752344"/>
            <a:ext cx="4069080" cy="621792"/>
          </a:xfrm>
          <a:prstGeom prst="rect">
            <a:avLst/>
          </a:prstGeom>
          <a:solidFill>
            <a:srgbClr val="EEF8F3"/>
          </a:solidFill>
          <a:ln w="12700">
            <a:solidFill>
              <a:srgbClr val="B0D8C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0" name="Text 28"/>
          <p:cNvSpPr/>
          <p:nvPr/>
        </p:nvSpPr>
        <p:spPr>
          <a:xfrm>
            <a:off x="4892040" y="2779776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5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Системы управления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B5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инцидентами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296912" y="2779776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Снижение MTTR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54880" y="3465576"/>
            <a:ext cx="4069080" cy="621792"/>
          </a:xfrm>
          <a:prstGeom prst="rect">
            <a:avLst/>
          </a:prstGeom>
          <a:solidFill>
            <a:srgbClr val="F5FBF7"/>
          </a:solidFill>
          <a:ln w="12700">
            <a:solidFill>
              <a:srgbClr val="B0D8C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3" name="Text 31"/>
          <p:cNvSpPr/>
          <p:nvPr/>
        </p:nvSpPr>
        <p:spPr>
          <a:xfrm>
            <a:off x="4892040" y="3493008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5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Management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296912" y="3493008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Повышение стабильности систем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754880" y="4178808"/>
            <a:ext cx="4069080" cy="621792"/>
          </a:xfrm>
          <a:prstGeom prst="rect">
            <a:avLst/>
          </a:prstGeom>
          <a:solidFill>
            <a:srgbClr val="EEF8F3"/>
          </a:solidFill>
          <a:ln w="12700">
            <a:solidFill>
              <a:srgbClr val="B0D8C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6" name="Text 34"/>
          <p:cNvSpPr/>
          <p:nvPr/>
        </p:nvSpPr>
        <p:spPr>
          <a:xfrm>
            <a:off x="4892040" y="42062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5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Оптимизация процессов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296912" y="42062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Снижение затрат на эксплуатацию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Схема FAD — Function Allocation Diagram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solidFill>
            <a:srgbClr val="F0F7F8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Text 3"/>
          <p:cNvSpPr/>
          <p:nvPr/>
        </p:nvSpPr>
        <p:spPr>
          <a:xfrm>
            <a:off x="457200" y="23774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A0C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Место для диаграммы FAD ]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33375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90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Вставьте схему FAD (декомпозиции процесса) в данный слайд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FAD показывает: структуру подпроцессов, роли участников и распределение функций</a:t>
            </a:r>
            <a:endParaRPr lang="en-US" sz="11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604BF59-416F-CAAC-6558-183B1EF4207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2197"/>
          <a:stretch>
            <a:fillRect/>
          </a:stretch>
        </p:blipFill>
        <p:spPr>
          <a:xfrm>
            <a:off x="2163764" y="888362"/>
            <a:ext cx="5049836" cy="386651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FD3BA1-861E-2791-4A4A-0CEC3F2C4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E444262-E971-65FB-7B31-568C7CF4BB6F}"/>
              </a:ext>
            </a:extLst>
          </p:cNvPr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E54C5B5-656B-A225-11EC-9D752454FFE8}"/>
              </a:ext>
            </a:extLst>
          </p:cNvPr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Схема FAD — Function Allocation Diagram</a:t>
            </a:r>
            <a:endParaRPr lang="en-US" sz="22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3B74182-D167-2C1D-6DE4-1C483036CD83}"/>
              </a:ext>
            </a:extLst>
          </p:cNvPr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solidFill>
            <a:srgbClr val="F0F7F8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B568819-B98B-C04B-629A-667C1D3C9C00}"/>
              </a:ext>
            </a:extLst>
          </p:cNvPr>
          <p:cNvSpPr/>
          <p:nvPr/>
        </p:nvSpPr>
        <p:spPr>
          <a:xfrm>
            <a:off x="457200" y="23774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A0C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Место для диаграммы FAD ]</a:t>
            </a:r>
            <a:endParaRPr lang="en-US" sz="22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AA38B54-8D55-8351-E3A6-776621BCF3FA}"/>
              </a:ext>
            </a:extLst>
          </p:cNvPr>
          <p:cNvSpPr/>
          <p:nvPr/>
        </p:nvSpPr>
        <p:spPr>
          <a:xfrm>
            <a:off x="457200" y="33375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90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Вставьте схему FAD (декомпозиции процесса) в данный слайд</a:t>
            </a:r>
            <a:endParaRPr lang="en-US" sz="13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3380CB1C-73AE-C4AE-9729-314F1C1CFAB6}"/>
              </a:ext>
            </a:extLst>
          </p:cNvPr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FAD показывает: структуру подпроцессов, роли участников и распределение функций</a:t>
            </a:r>
            <a:endParaRPr lang="en-US" sz="11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12726B5-E7B8-4DA2-8849-C55F8B088FD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7802"/>
          <a:stretch>
            <a:fillRect/>
          </a:stretch>
        </p:blipFill>
        <p:spPr>
          <a:xfrm>
            <a:off x="2250282" y="877724"/>
            <a:ext cx="4643436" cy="3882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47356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Схема VAD — Value Added Chain Diagram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solidFill>
            <a:srgbClr val="F0F7F8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Text 3"/>
          <p:cNvSpPr/>
          <p:nvPr/>
        </p:nvSpPr>
        <p:spPr>
          <a:xfrm>
            <a:off x="457200" y="23774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A0C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Место для диаграммы VAD ]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33375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90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Вставьте схему VAD (цепочки добавленной стоимости) в данный слайд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VAD показывает: последовательность подпроцессов, входы/выходы, ценность для потребителя</a:t>
            </a:r>
            <a:endParaRPr lang="en-US" sz="11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6EAFF3B-233F-84EF-5107-E4ECA6A013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43143"/>
            <a:ext cx="9144000" cy="320011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Схема EPC — Event-driven Process Chain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solidFill>
            <a:srgbClr val="F0F7F8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Text 3"/>
          <p:cNvSpPr/>
          <p:nvPr/>
        </p:nvSpPr>
        <p:spPr>
          <a:xfrm>
            <a:off x="457200" y="23774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A0C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Место для диаграммы EPC ]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33375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90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Вставьте схему EPC (событийной цепочки процесса) в данный слайд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EPC показывает: события, операции, логические операторы и ответственных исполнителей</a:t>
            </a:r>
            <a:endParaRPr lang="en-US" sz="11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8A079AB-8546-E039-C41A-64B510A7E80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5086"/>
          <a:stretch>
            <a:fillRect/>
          </a:stretch>
        </p:blipFill>
        <p:spPr>
          <a:xfrm>
            <a:off x="1732093" y="924560"/>
            <a:ext cx="5679814" cy="3850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A18CB8-3A7B-F013-05E6-E81F278E4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43C38D0-E4DA-EA15-E84B-D9EDE81B7C41}"/>
              </a:ext>
            </a:extLst>
          </p:cNvPr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3BC4043-99EB-A23A-3360-40544962CA3A}"/>
              </a:ext>
            </a:extLst>
          </p:cNvPr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Схема EPC — Event-driven Process Chain</a:t>
            </a:r>
            <a:endParaRPr lang="en-US" sz="22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32AB88C2-FFFA-253E-AB7D-65AC47E3FD0F}"/>
              </a:ext>
            </a:extLst>
          </p:cNvPr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solidFill>
            <a:srgbClr val="F0F7F8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36A1B77-4794-D06B-E06A-129C44349D9A}"/>
              </a:ext>
            </a:extLst>
          </p:cNvPr>
          <p:cNvSpPr/>
          <p:nvPr/>
        </p:nvSpPr>
        <p:spPr>
          <a:xfrm>
            <a:off x="457200" y="23774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A0C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Место для диаграммы EPC ]</a:t>
            </a:r>
            <a:endParaRPr lang="en-US" sz="22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4057887-04C7-5843-9C1E-1FBC8BAAE08E}"/>
              </a:ext>
            </a:extLst>
          </p:cNvPr>
          <p:cNvSpPr/>
          <p:nvPr/>
        </p:nvSpPr>
        <p:spPr>
          <a:xfrm>
            <a:off x="457200" y="33375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90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Вставьте схему EPC (событийной цепочки процесса) в данный слайд</a:t>
            </a:r>
            <a:endParaRPr lang="en-US" sz="13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24C9FF6C-4DE6-B45C-437E-DC51695B3BA2}"/>
              </a:ext>
            </a:extLst>
          </p:cNvPr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EPC показывает: события, операции, логические операторы и ответственных исполнителей</a:t>
            </a:r>
            <a:endParaRPr lang="en-US" sz="11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BBE33BF-EF8D-95BD-0105-8EB2D3F1DE9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5308"/>
          <a:stretch>
            <a:fillRect/>
          </a:stretch>
        </p:blipFill>
        <p:spPr>
          <a:xfrm>
            <a:off x="1071693" y="903415"/>
            <a:ext cx="7000614" cy="3862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38415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821</Words>
  <Application>Microsoft Office PowerPoint</Application>
  <PresentationFormat>On-screen Show (16:9)</PresentationFormat>
  <Paragraphs>205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Управление эксплуатацией ЦОД</dc:title>
  <dc:subject>PptxGenJS Presentation</dc:subject>
  <dc:creator>PptxGenJS</dc:creator>
  <cp:lastModifiedBy>Dmitrij Sukhanov</cp:lastModifiedBy>
  <cp:revision>3</cp:revision>
  <dcterms:created xsi:type="dcterms:W3CDTF">2026-04-19T14:08:08Z</dcterms:created>
  <dcterms:modified xsi:type="dcterms:W3CDTF">2026-04-19T16:49:35Z</dcterms:modified>
</cp:coreProperties>
</file>