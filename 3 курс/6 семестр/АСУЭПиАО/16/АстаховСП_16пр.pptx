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1" r:id="rId9"/>
    <p:sldId id="262" r:id="rId10"/>
    <p:sldId id="263" r:id="rId11"/>
    <p:sldId id="268" r:id="rId12"/>
    <p:sldId id="264" r:id="rId13"/>
    <p:sldId id="269" r:id="rId14"/>
    <p:sldId id="270" r:id="rId15"/>
    <p:sldId id="271" r:id="rId16"/>
    <p:sldId id="272" r:id="rId17"/>
    <p:sldId id="276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90" r:id="rId30"/>
    <p:sldId id="285" r:id="rId31"/>
    <p:sldId id="286" r:id="rId32"/>
    <p:sldId id="287" r:id="rId33"/>
    <p:sldId id="288" r:id="rId34"/>
    <p:sldId id="289" r:id="rId35"/>
    <p:sldId id="295" r:id="rId36"/>
    <p:sldId id="291" r:id="rId37"/>
    <p:sldId id="296" r:id="rId38"/>
    <p:sldId id="292" r:id="rId39"/>
    <p:sldId id="299" r:id="rId40"/>
    <p:sldId id="293" r:id="rId41"/>
    <p:sldId id="300" r:id="rId42"/>
    <p:sldId id="294" r:id="rId4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B310B03-926D-4BA4-8FB3-10E42D4B0756}">
          <p14:sldIdLst>
            <p14:sldId id="256"/>
            <p14:sldId id="257"/>
            <p14:sldId id="258"/>
            <p14:sldId id="259"/>
            <p14:sldId id="265"/>
            <p14:sldId id="266"/>
            <p14:sldId id="267"/>
            <p14:sldId id="261"/>
            <p14:sldId id="262"/>
            <p14:sldId id="263"/>
            <p14:sldId id="268"/>
            <p14:sldId id="264"/>
            <p14:sldId id="269"/>
            <p14:sldId id="270"/>
            <p14:sldId id="271"/>
            <p14:sldId id="272"/>
            <p14:sldId id="276"/>
            <p14:sldId id="273"/>
            <p14:sldId id="274"/>
            <p14:sldId id="275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90"/>
            <p14:sldId id="285"/>
            <p14:sldId id="286"/>
            <p14:sldId id="287"/>
            <p14:sldId id="288"/>
            <p14:sldId id="289"/>
            <p14:sldId id="295"/>
            <p14:sldId id="291"/>
            <p14:sldId id="296"/>
            <p14:sldId id="292"/>
            <p14:sldId id="299"/>
            <p14:sldId id="293"/>
            <p14:sldId id="300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822A63-30F0-4B05-8495-22942D35235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2B2941-0D67-43A1-8CDE-9BD4EF0B3C6C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Назначение: сбор, отображение и архивирование данных с датчиков температуры, влажности, метеостанции, теплоносителя, давления.</a:t>
          </a:r>
          <a:endParaRPr lang="en-US"/>
        </a:p>
      </dgm:t>
    </dgm:pt>
    <dgm:pt modelId="{46DD8877-F0D5-46FB-A7D8-2BFD516200CC}" type="parTrans" cxnId="{1B96E843-2F53-4BDA-8075-C8A10C256731}">
      <dgm:prSet/>
      <dgm:spPr/>
      <dgm:t>
        <a:bodyPr/>
        <a:lstStyle/>
        <a:p>
          <a:endParaRPr lang="en-US"/>
        </a:p>
      </dgm:t>
    </dgm:pt>
    <dgm:pt modelId="{30CF2EC9-BB70-4EAB-AD95-76CAEDFAE148}" type="sibTrans" cxnId="{1B96E843-2F53-4BDA-8075-C8A10C256731}">
      <dgm:prSet/>
      <dgm:spPr/>
      <dgm:t>
        <a:bodyPr/>
        <a:lstStyle/>
        <a:p>
          <a:endParaRPr lang="en-US"/>
        </a:p>
      </dgm:t>
    </dgm:pt>
    <dgm:pt modelId="{E481310A-D4C2-48F4-A53D-4B9D426713A8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Возможности: графики трендов, мнемосхемы отделений, экстренные индикаторы, просмотр архивов за 24 часа.</a:t>
          </a:r>
          <a:endParaRPr lang="en-US"/>
        </a:p>
      </dgm:t>
    </dgm:pt>
    <dgm:pt modelId="{1C71E269-763A-4B80-A872-C0112BC5B642}" type="parTrans" cxnId="{0C396219-5B5F-4A76-83B6-3CE828186132}">
      <dgm:prSet/>
      <dgm:spPr/>
      <dgm:t>
        <a:bodyPr/>
        <a:lstStyle/>
        <a:p>
          <a:endParaRPr lang="en-US"/>
        </a:p>
      </dgm:t>
    </dgm:pt>
    <dgm:pt modelId="{AED0CCBB-CAC8-4D1F-821B-C722532323ED}" type="sibTrans" cxnId="{0C396219-5B5F-4A76-83B6-3CE828186132}">
      <dgm:prSet/>
      <dgm:spPr/>
      <dgm:t>
        <a:bodyPr/>
        <a:lstStyle/>
        <a:p>
          <a:endParaRPr lang="en-US"/>
        </a:p>
      </dgm:t>
    </dgm:pt>
    <dgm:pt modelId="{2D18800E-E74C-4D4B-AFD2-5944DB3E1948}" type="pres">
      <dgm:prSet presAssocID="{BD822A63-30F0-4B05-8495-22942D35235B}" presName="root" presStyleCnt="0">
        <dgm:presLayoutVars>
          <dgm:dir/>
          <dgm:resizeHandles val="exact"/>
        </dgm:presLayoutVars>
      </dgm:prSet>
      <dgm:spPr/>
    </dgm:pt>
    <dgm:pt modelId="{22E86AE1-096D-4CA3-807E-F495ADC667FC}" type="pres">
      <dgm:prSet presAssocID="{152B2941-0D67-43A1-8CDE-9BD4EF0B3C6C}" presName="compNode" presStyleCnt="0"/>
      <dgm:spPr/>
    </dgm:pt>
    <dgm:pt modelId="{C5206379-EAE9-4EA9-B045-9676846DB2C1}" type="pres">
      <dgm:prSet presAssocID="{152B2941-0D67-43A1-8CDE-9BD4EF0B3C6C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w Temperature"/>
        </a:ext>
      </dgm:extLst>
    </dgm:pt>
    <dgm:pt modelId="{181CB6B9-542F-4DB5-BF23-D6BE35217E3F}" type="pres">
      <dgm:prSet presAssocID="{152B2941-0D67-43A1-8CDE-9BD4EF0B3C6C}" presName="spaceRect" presStyleCnt="0"/>
      <dgm:spPr/>
    </dgm:pt>
    <dgm:pt modelId="{FB2B4002-D284-434F-8C1C-AF9210CABA5D}" type="pres">
      <dgm:prSet presAssocID="{152B2941-0D67-43A1-8CDE-9BD4EF0B3C6C}" presName="textRect" presStyleLbl="revTx" presStyleIdx="0" presStyleCnt="2">
        <dgm:presLayoutVars>
          <dgm:chMax val="1"/>
          <dgm:chPref val="1"/>
        </dgm:presLayoutVars>
      </dgm:prSet>
      <dgm:spPr/>
    </dgm:pt>
    <dgm:pt modelId="{4E30F6B4-81A9-4B11-8299-28057C8B814F}" type="pres">
      <dgm:prSet presAssocID="{30CF2EC9-BB70-4EAB-AD95-76CAEDFAE148}" presName="sibTrans" presStyleCnt="0"/>
      <dgm:spPr/>
    </dgm:pt>
    <dgm:pt modelId="{65B0729B-FC10-4910-99F3-D461AF603B3B}" type="pres">
      <dgm:prSet presAssocID="{E481310A-D4C2-48F4-A53D-4B9D426713A8}" presName="compNode" presStyleCnt="0"/>
      <dgm:spPr/>
    </dgm:pt>
    <dgm:pt modelId="{CFB41193-FD56-4A02-8EC7-C149D4D5998A}" type="pres">
      <dgm:prSet presAssocID="{E481310A-D4C2-48F4-A53D-4B9D426713A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Статистика"/>
        </a:ext>
      </dgm:extLst>
    </dgm:pt>
    <dgm:pt modelId="{1A433608-5714-4483-BA94-66CDFDE6E3A9}" type="pres">
      <dgm:prSet presAssocID="{E481310A-D4C2-48F4-A53D-4B9D426713A8}" presName="spaceRect" presStyleCnt="0"/>
      <dgm:spPr/>
    </dgm:pt>
    <dgm:pt modelId="{36C417B7-82B6-437B-B9F3-9425C0FA02AF}" type="pres">
      <dgm:prSet presAssocID="{E481310A-D4C2-48F4-A53D-4B9D426713A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C396219-5B5F-4A76-83B6-3CE828186132}" srcId="{BD822A63-30F0-4B05-8495-22942D35235B}" destId="{E481310A-D4C2-48F4-A53D-4B9D426713A8}" srcOrd="1" destOrd="0" parTransId="{1C71E269-763A-4B80-A872-C0112BC5B642}" sibTransId="{AED0CCBB-CAC8-4D1F-821B-C722532323ED}"/>
    <dgm:cxn modelId="{C519152B-7470-46EA-BEA4-BFA2E4A1B8A6}" type="presOf" srcId="{152B2941-0D67-43A1-8CDE-9BD4EF0B3C6C}" destId="{FB2B4002-D284-434F-8C1C-AF9210CABA5D}" srcOrd="0" destOrd="0" presId="urn:microsoft.com/office/officeart/2018/2/layout/IconLabelList"/>
    <dgm:cxn modelId="{EBF18133-F3CC-4821-A83D-DD784E1D61D3}" type="presOf" srcId="{E481310A-D4C2-48F4-A53D-4B9D426713A8}" destId="{36C417B7-82B6-437B-B9F3-9425C0FA02AF}" srcOrd="0" destOrd="0" presId="urn:microsoft.com/office/officeart/2018/2/layout/IconLabelList"/>
    <dgm:cxn modelId="{1B96E843-2F53-4BDA-8075-C8A10C256731}" srcId="{BD822A63-30F0-4B05-8495-22942D35235B}" destId="{152B2941-0D67-43A1-8CDE-9BD4EF0B3C6C}" srcOrd="0" destOrd="0" parTransId="{46DD8877-F0D5-46FB-A7D8-2BFD516200CC}" sibTransId="{30CF2EC9-BB70-4EAB-AD95-76CAEDFAE148}"/>
    <dgm:cxn modelId="{178D2668-6D2B-4730-AF90-224D37BF4945}" type="presOf" srcId="{BD822A63-30F0-4B05-8495-22942D35235B}" destId="{2D18800E-E74C-4D4B-AFD2-5944DB3E1948}" srcOrd="0" destOrd="0" presId="urn:microsoft.com/office/officeart/2018/2/layout/IconLabelList"/>
    <dgm:cxn modelId="{5E130DF9-1DC9-490A-A86D-670001A00FF1}" type="presParOf" srcId="{2D18800E-E74C-4D4B-AFD2-5944DB3E1948}" destId="{22E86AE1-096D-4CA3-807E-F495ADC667FC}" srcOrd="0" destOrd="0" presId="urn:microsoft.com/office/officeart/2018/2/layout/IconLabelList"/>
    <dgm:cxn modelId="{4CAEF034-E497-4691-8F9E-C57BFE01541B}" type="presParOf" srcId="{22E86AE1-096D-4CA3-807E-F495ADC667FC}" destId="{C5206379-EAE9-4EA9-B045-9676846DB2C1}" srcOrd="0" destOrd="0" presId="urn:microsoft.com/office/officeart/2018/2/layout/IconLabelList"/>
    <dgm:cxn modelId="{D7722B4A-FB4B-4A05-9345-C5A63C5FE682}" type="presParOf" srcId="{22E86AE1-096D-4CA3-807E-F495ADC667FC}" destId="{181CB6B9-542F-4DB5-BF23-D6BE35217E3F}" srcOrd="1" destOrd="0" presId="urn:microsoft.com/office/officeart/2018/2/layout/IconLabelList"/>
    <dgm:cxn modelId="{925AAF49-332C-4600-A834-4B6700C4E903}" type="presParOf" srcId="{22E86AE1-096D-4CA3-807E-F495ADC667FC}" destId="{FB2B4002-D284-434F-8C1C-AF9210CABA5D}" srcOrd="2" destOrd="0" presId="urn:microsoft.com/office/officeart/2018/2/layout/IconLabelList"/>
    <dgm:cxn modelId="{F72D596B-B193-4765-87D3-C4BC1F830CFE}" type="presParOf" srcId="{2D18800E-E74C-4D4B-AFD2-5944DB3E1948}" destId="{4E30F6B4-81A9-4B11-8299-28057C8B814F}" srcOrd="1" destOrd="0" presId="urn:microsoft.com/office/officeart/2018/2/layout/IconLabelList"/>
    <dgm:cxn modelId="{E5ED5F97-5E77-4F29-9693-83089D78F78B}" type="presParOf" srcId="{2D18800E-E74C-4D4B-AFD2-5944DB3E1948}" destId="{65B0729B-FC10-4910-99F3-D461AF603B3B}" srcOrd="2" destOrd="0" presId="urn:microsoft.com/office/officeart/2018/2/layout/IconLabelList"/>
    <dgm:cxn modelId="{B1D2B3A4-17C8-4702-98BB-660FB012C63E}" type="presParOf" srcId="{65B0729B-FC10-4910-99F3-D461AF603B3B}" destId="{CFB41193-FD56-4A02-8EC7-C149D4D5998A}" srcOrd="0" destOrd="0" presId="urn:microsoft.com/office/officeart/2018/2/layout/IconLabelList"/>
    <dgm:cxn modelId="{E9B0D928-37DD-41A7-8D65-79BBC37D9F96}" type="presParOf" srcId="{65B0729B-FC10-4910-99F3-D461AF603B3B}" destId="{1A433608-5714-4483-BA94-66CDFDE6E3A9}" srcOrd="1" destOrd="0" presId="urn:microsoft.com/office/officeart/2018/2/layout/IconLabelList"/>
    <dgm:cxn modelId="{A56357DD-88E6-4BF5-A12E-EEAFF7C1426D}" type="presParOf" srcId="{65B0729B-FC10-4910-99F3-D461AF603B3B}" destId="{36C417B7-82B6-437B-B9F3-9425C0FA02A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822A63-30F0-4B05-8495-22942D35235B}" type="doc">
      <dgm:prSet loTypeId="urn:microsoft.com/office/officeart/2008/layout/LinedList" loCatId="list" qsTypeId="urn:microsoft.com/office/officeart/2005/8/quickstyle/simple4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2B2941-0D67-43A1-8CDE-9BD4EF0B3C6C}">
      <dgm:prSet/>
      <dgm:spPr/>
      <dgm:t>
        <a:bodyPr/>
        <a:lstStyle/>
        <a:p>
          <a:r>
            <a:rPr lang="ru-RU" dirty="0"/>
            <a:t>Назначение: автоматическое и ручное управление системами обогрева, форточками, вентиляторами, зашториванием, досвечиванием, поливом, CO₂.</a:t>
          </a:r>
          <a:endParaRPr lang="en-US" dirty="0"/>
        </a:p>
      </dgm:t>
    </dgm:pt>
    <dgm:pt modelId="{46DD8877-F0D5-46FB-A7D8-2BFD516200CC}" type="parTrans" cxnId="{1B96E843-2F53-4BDA-8075-C8A10C256731}">
      <dgm:prSet/>
      <dgm:spPr/>
      <dgm:t>
        <a:bodyPr/>
        <a:lstStyle/>
        <a:p>
          <a:endParaRPr lang="en-US"/>
        </a:p>
      </dgm:t>
    </dgm:pt>
    <dgm:pt modelId="{30CF2EC9-BB70-4EAB-AD95-76CAEDFAE148}" type="sibTrans" cxnId="{1B96E843-2F53-4BDA-8075-C8A10C256731}">
      <dgm:prSet/>
      <dgm:spPr/>
      <dgm:t>
        <a:bodyPr/>
        <a:lstStyle/>
        <a:p>
          <a:endParaRPr lang="en-US"/>
        </a:p>
      </dgm:t>
    </dgm:pt>
    <dgm:pt modelId="{E481310A-D4C2-48F4-A53D-4B9D426713A8}">
      <dgm:prSet/>
      <dgm:spPr/>
      <dgm:t>
        <a:bodyPr/>
        <a:lstStyle/>
        <a:p>
          <a:r>
            <a:rPr lang="ru-RU" dirty="0"/>
            <a:t>Возможности: ПИД-регулирование, иерархическое включение обогрева, защита от перегрева, управление тепловым узлом.</a:t>
          </a:r>
          <a:endParaRPr lang="en-US" dirty="0"/>
        </a:p>
      </dgm:t>
    </dgm:pt>
    <dgm:pt modelId="{1C71E269-763A-4B80-A872-C0112BC5B642}" type="parTrans" cxnId="{0C396219-5B5F-4A76-83B6-3CE828186132}">
      <dgm:prSet/>
      <dgm:spPr/>
      <dgm:t>
        <a:bodyPr/>
        <a:lstStyle/>
        <a:p>
          <a:endParaRPr lang="en-US"/>
        </a:p>
      </dgm:t>
    </dgm:pt>
    <dgm:pt modelId="{AED0CCBB-CAC8-4D1F-821B-C722532323ED}" type="sibTrans" cxnId="{0C396219-5B5F-4A76-83B6-3CE828186132}">
      <dgm:prSet/>
      <dgm:spPr/>
      <dgm:t>
        <a:bodyPr/>
        <a:lstStyle/>
        <a:p>
          <a:endParaRPr lang="en-US"/>
        </a:p>
      </dgm:t>
    </dgm:pt>
    <dgm:pt modelId="{35005E63-D1E6-41B9-AE34-EB3C5E12AEB0}" type="pres">
      <dgm:prSet presAssocID="{BD822A63-30F0-4B05-8495-22942D35235B}" presName="vert0" presStyleCnt="0">
        <dgm:presLayoutVars>
          <dgm:dir/>
          <dgm:animOne val="branch"/>
          <dgm:animLvl val="lvl"/>
        </dgm:presLayoutVars>
      </dgm:prSet>
      <dgm:spPr/>
    </dgm:pt>
    <dgm:pt modelId="{784151A9-2AFD-4A54-9C99-E0D13D2C589B}" type="pres">
      <dgm:prSet presAssocID="{152B2941-0D67-43A1-8CDE-9BD4EF0B3C6C}" presName="thickLine" presStyleLbl="alignNode1" presStyleIdx="0" presStyleCnt="2"/>
      <dgm:spPr/>
    </dgm:pt>
    <dgm:pt modelId="{DF3DD6B6-DA3D-44F7-9B63-9EB9A5DEF091}" type="pres">
      <dgm:prSet presAssocID="{152B2941-0D67-43A1-8CDE-9BD4EF0B3C6C}" presName="horz1" presStyleCnt="0"/>
      <dgm:spPr/>
    </dgm:pt>
    <dgm:pt modelId="{0C6109DF-B72C-41EF-B806-2A8653351604}" type="pres">
      <dgm:prSet presAssocID="{152B2941-0D67-43A1-8CDE-9BD4EF0B3C6C}" presName="tx1" presStyleLbl="revTx" presStyleIdx="0" presStyleCnt="2"/>
      <dgm:spPr/>
    </dgm:pt>
    <dgm:pt modelId="{A1A606FF-F3C2-4178-8ADA-81406A11BE11}" type="pres">
      <dgm:prSet presAssocID="{152B2941-0D67-43A1-8CDE-9BD4EF0B3C6C}" presName="vert1" presStyleCnt="0"/>
      <dgm:spPr/>
    </dgm:pt>
    <dgm:pt modelId="{293BF76C-B5B8-477A-B7B3-2B3B7152306F}" type="pres">
      <dgm:prSet presAssocID="{E481310A-D4C2-48F4-A53D-4B9D426713A8}" presName="thickLine" presStyleLbl="alignNode1" presStyleIdx="1" presStyleCnt="2"/>
      <dgm:spPr/>
    </dgm:pt>
    <dgm:pt modelId="{159E876A-AC8F-4051-A0FB-649B7243FA18}" type="pres">
      <dgm:prSet presAssocID="{E481310A-D4C2-48F4-A53D-4B9D426713A8}" presName="horz1" presStyleCnt="0"/>
      <dgm:spPr/>
    </dgm:pt>
    <dgm:pt modelId="{D0F9CE4F-08C7-42D3-9BC1-4C4C5D80FE04}" type="pres">
      <dgm:prSet presAssocID="{E481310A-D4C2-48F4-A53D-4B9D426713A8}" presName="tx1" presStyleLbl="revTx" presStyleIdx="1" presStyleCnt="2"/>
      <dgm:spPr/>
    </dgm:pt>
    <dgm:pt modelId="{2CAA36E8-C07E-48F1-8B14-DCABF9F1B332}" type="pres">
      <dgm:prSet presAssocID="{E481310A-D4C2-48F4-A53D-4B9D426713A8}" presName="vert1" presStyleCnt="0"/>
      <dgm:spPr/>
    </dgm:pt>
  </dgm:ptLst>
  <dgm:cxnLst>
    <dgm:cxn modelId="{0C396219-5B5F-4A76-83B6-3CE828186132}" srcId="{BD822A63-30F0-4B05-8495-22942D35235B}" destId="{E481310A-D4C2-48F4-A53D-4B9D426713A8}" srcOrd="1" destOrd="0" parTransId="{1C71E269-763A-4B80-A872-C0112BC5B642}" sibTransId="{AED0CCBB-CAC8-4D1F-821B-C722532323ED}"/>
    <dgm:cxn modelId="{1B96E843-2F53-4BDA-8075-C8A10C256731}" srcId="{BD822A63-30F0-4B05-8495-22942D35235B}" destId="{152B2941-0D67-43A1-8CDE-9BD4EF0B3C6C}" srcOrd="0" destOrd="0" parTransId="{46DD8877-F0D5-46FB-A7D8-2BFD516200CC}" sibTransId="{30CF2EC9-BB70-4EAB-AD95-76CAEDFAE148}"/>
    <dgm:cxn modelId="{7D622FA2-8F0F-498F-9E72-0AFEDFF8F740}" type="presOf" srcId="{BD822A63-30F0-4B05-8495-22942D35235B}" destId="{35005E63-D1E6-41B9-AE34-EB3C5E12AEB0}" srcOrd="0" destOrd="0" presId="urn:microsoft.com/office/officeart/2008/layout/LinedList"/>
    <dgm:cxn modelId="{3BEA1FC0-32E6-480F-862F-C65DAB97BEA4}" type="presOf" srcId="{152B2941-0D67-43A1-8CDE-9BD4EF0B3C6C}" destId="{0C6109DF-B72C-41EF-B806-2A8653351604}" srcOrd="0" destOrd="0" presId="urn:microsoft.com/office/officeart/2008/layout/LinedList"/>
    <dgm:cxn modelId="{CD7182C5-1E1B-4352-A60E-3E32647B8B33}" type="presOf" srcId="{E481310A-D4C2-48F4-A53D-4B9D426713A8}" destId="{D0F9CE4F-08C7-42D3-9BC1-4C4C5D80FE04}" srcOrd="0" destOrd="0" presId="urn:microsoft.com/office/officeart/2008/layout/LinedList"/>
    <dgm:cxn modelId="{15A1CD28-1803-455C-9E4C-207774EBBAE4}" type="presParOf" srcId="{35005E63-D1E6-41B9-AE34-EB3C5E12AEB0}" destId="{784151A9-2AFD-4A54-9C99-E0D13D2C589B}" srcOrd="0" destOrd="0" presId="urn:microsoft.com/office/officeart/2008/layout/LinedList"/>
    <dgm:cxn modelId="{D91F06A5-0BFD-4D2F-992E-7860B5FDEA33}" type="presParOf" srcId="{35005E63-D1E6-41B9-AE34-EB3C5E12AEB0}" destId="{DF3DD6B6-DA3D-44F7-9B63-9EB9A5DEF091}" srcOrd="1" destOrd="0" presId="urn:microsoft.com/office/officeart/2008/layout/LinedList"/>
    <dgm:cxn modelId="{1B8F4090-4CF3-49E6-96EA-854E2D7DCC60}" type="presParOf" srcId="{DF3DD6B6-DA3D-44F7-9B63-9EB9A5DEF091}" destId="{0C6109DF-B72C-41EF-B806-2A8653351604}" srcOrd="0" destOrd="0" presId="urn:microsoft.com/office/officeart/2008/layout/LinedList"/>
    <dgm:cxn modelId="{DA875636-FAEC-429B-87B3-849A874902A5}" type="presParOf" srcId="{DF3DD6B6-DA3D-44F7-9B63-9EB9A5DEF091}" destId="{A1A606FF-F3C2-4178-8ADA-81406A11BE11}" srcOrd="1" destOrd="0" presId="urn:microsoft.com/office/officeart/2008/layout/LinedList"/>
    <dgm:cxn modelId="{4A60DDF8-262E-40C8-9D4F-C020E2BE1C7D}" type="presParOf" srcId="{35005E63-D1E6-41B9-AE34-EB3C5E12AEB0}" destId="{293BF76C-B5B8-477A-B7B3-2B3B7152306F}" srcOrd="2" destOrd="0" presId="urn:microsoft.com/office/officeart/2008/layout/LinedList"/>
    <dgm:cxn modelId="{CC438FA6-1BFA-4E5E-85A0-21F3126B2F03}" type="presParOf" srcId="{35005E63-D1E6-41B9-AE34-EB3C5E12AEB0}" destId="{159E876A-AC8F-4051-A0FB-649B7243FA18}" srcOrd="3" destOrd="0" presId="urn:microsoft.com/office/officeart/2008/layout/LinedList"/>
    <dgm:cxn modelId="{71FFAA93-82B9-4BD3-B486-FA2892040EEE}" type="presParOf" srcId="{159E876A-AC8F-4051-A0FB-649B7243FA18}" destId="{D0F9CE4F-08C7-42D3-9BC1-4C4C5D80FE04}" srcOrd="0" destOrd="0" presId="urn:microsoft.com/office/officeart/2008/layout/LinedList"/>
    <dgm:cxn modelId="{B62091AF-4DF7-4F35-93D4-4B4395976652}" type="presParOf" srcId="{159E876A-AC8F-4051-A0FB-649B7243FA18}" destId="{2CAA36E8-C07E-48F1-8B14-DCABF9F1B33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D822A63-30F0-4B05-8495-22942D35235B}" type="doc">
      <dgm:prSet loTypeId="urn:microsoft.com/office/officeart/2008/layout/LinedList" loCatId="list" qsTypeId="urn:microsoft.com/office/officeart/2005/8/quickstyle/simple4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2B2941-0D67-43A1-8CDE-9BD4EF0B3C6C}">
      <dgm:prSet/>
      <dgm:spPr/>
      <dgm:t>
        <a:bodyPr/>
        <a:lstStyle/>
        <a:p>
          <a:r>
            <a:rPr lang="ru-RU" dirty="0"/>
            <a:t>Назначение: настройка системы, контроль доступа, регистрация аварий, формирование отчетов для агронома и начальника цеха.</a:t>
          </a:r>
          <a:endParaRPr lang="en-US" dirty="0"/>
        </a:p>
      </dgm:t>
    </dgm:pt>
    <dgm:pt modelId="{46DD8877-F0D5-46FB-A7D8-2BFD516200CC}" type="parTrans" cxnId="{1B96E843-2F53-4BDA-8075-C8A10C256731}">
      <dgm:prSet/>
      <dgm:spPr/>
      <dgm:t>
        <a:bodyPr/>
        <a:lstStyle/>
        <a:p>
          <a:endParaRPr lang="en-US"/>
        </a:p>
      </dgm:t>
    </dgm:pt>
    <dgm:pt modelId="{30CF2EC9-BB70-4EAB-AD95-76CAEDFAE148}" type="sibTrans" cxnId="{1B96E843-2F53-4BDA-8075-C8A10C256731}">
      <dgm:prSet/>
      <dgm:spPr/>
      <dgm:t>
        <a:bodyPr/>
        <a:lstStyle/>
        <a:p>
          <a:endParaRPr lang="en-US"/>
        </a:p>
      </dgm:t>
    </dgm:pt>
    <dgm:pt modelId="{E481310A-D4C2-48F4-A53D-4B9D426713A8}">
      <dgm:prSet/>
      <dgm:spPr/>
      <dgm:t>
        <a:bodyPr/>
        <a:lstStyle/>
        <a:p>
          <a:r>
            <a:rPr lang="ru-RU" dirty="0"/>
            <a:t>Возможности: управление пользователями/ролями, просмотр логов, генерация отчетов по микроклимату, настройка параметров ПИД и дельт.</a:t>
          </a:r>
          <a:endParaRPr lang="en-US" dirty="0"/>
        </a:p>
      </dgm:t>
    </dgm:pt>
    <dgm:pt modelId="{1C71E269-763A-4B80-A872-C0112BC5B642}" type="parTrans" cxnId="{0C396219-5B5F-4A76-83B6-3CE828186132}">
      <dgm:prSet/>
      <dgm:spPr/>
      <dgm:t>
        <a:bodyPr/>
        <a:lstStyle/>
        <a:p>
          <a:endParaRPr lang="en-US"/>
        </a:p>
      </dgm:t>
    </dgm:pt>
    <dgm:pt modelId="{AED0CCBB-CAC8-4D1F-821B-C722532323ED}" type="sibTrans" cxnId="{0C396219-5B5F-4A76-83B6-3CE828186132}">
      <dgm:prSet/>
      <dgm:spPr/>
      <dgm:t>
        <a:bodyPr/>
        <a:lstStyle/>
        <a:p>
          <a:endParaRPr lang="en-US"/>
        </a:p>
      </dgm:t>
    </dgm:pt>
    <dgm:pt modelId="{35005E63-D1E6-41B9-AE34-EB3C5E12AEB0}" type="pres">
      <dgm:prSet presAssocID="{BD822A63-30F0-4B05-8495-22942D35235B}" presName="vert0" presStyleCnt="0">
        <dgm:presLayoutVars>
          <dgm:dir/>
          <dgm:animOne val="branch"/>
          <dgm:animLvl val="lvl"/>
        </dgm:presLayoutVars>
      </dgm:prSet>
      <dgm:spPr/>
    </dgm:pt>
    <dgm:pt modelId="{784151A9-2AFD-4A54-9C99-E0D13D2C589B}" type="pres">
      <dgm:prSet presAssocID="{152B2941-0D67-43A1-8CDE-9BD4EF0B3C6C}" presName="thickLine" presStyleLbl="alignNode1" presStyleIdx="0" presStyleCnt="2"/>
      <dgm:spPr/>
    </dgm:pt>
    <dgm:pt modelId="{DF3DD6B6-DA3D-44F7-9B63-9EB9A5DEF091}" type="pres">
      <dgm:prSet presAssocID="{152B2941-0D67-43A1-8CDE-9BD4EF0B3C6C}" presName="horz1" presStyleCnt="0"/>
      <dgm:spPr/>
    </dgm:pt>
    <dgm:pt modelId="{0C6109DF-B72C-41EF-B806-2A8653351604}" type="pres">
      <dgm:prSet presAssocID="{152B2941-0D67-43A1-8CDE-9BD4EF0B3C6C}" presName="tx1" presStyleLbl="revTx" presStyleIdx="0" presStyleCnt="2"/>
      <dgm:spPr/>
    </dgm:pt>
    <dgm:pt modelId="{A1A606FF-F3C2-4178-8ADA-81406A11BE11}" type="pres">
      <dgm:prSet presAssocID="{152B2941-0D67-43A1-8CDE-9BD4EF0B3C6C}" presName="vert1" presStyleCnt="0"/>
      <dgm:spPr/>
    </dgm:pt>
    <dgm:pt modelId="{293BF76C-B5B8-477A-B7B3-2B3B7152306F}" type="pres">
      <dgm:prSet presAssocID="{E481310A-D4C2-48F4-A53D-4B9D426713A8}" presName="thickLine" presStyleLbl="alignNode1" presStyleIdx="1" presStyleCnt="2"/>
      <dgm:spPr/>
    </dgm:pt>
    <dgm:pt modelId="{159E876A-AC8F-4051-A0FB-649B7243FA18}" type="pres">
      <dgm:prSet presAssocID="{E481310A-D4C2-48F4-A53D-4B9D426713A8}" presName="horz1" presStyleCnt="0"/>
      <dgm:spPr/>
    </dgm:pt>
    <dgm:pt modelId="{D0F9CE4F-08C7-42D3-9BC1-4C4C5D80FE04}" type="pres">
      <dgm:prSet presAssocID="{E481310A-D4C2-48F4-A53D-4B9D426713A8}" presName="tx1" presStyleLbl="revTx" presStyleIdx="1" presStyleCnt="2"/>
      <dgm:spPr/>
    </dgm:pt>
    <dgm:pt modelId="{2CAA36E8-C07E-48F1-8B14-DCABF9F1B332}" type="pres">
      <dgm:prSet presAssocID="{E481310A-D4C2-48F4-A53D-4B9D426713A8}" presName="vert1" presStyleCnt="0"/>
      <dgm:spPr/>
    </dgm:pt>
  </dgm:ptLst>
  <dgm:cxnLst>
    <dgm:cxn modelId="{0C396219-5B5F-4A76-83B6-3CE828186132}" srcId="{BD822A63-30F0-4B05-8495-22942D35235B}" destId="{E481310A-D4C2-48F4-A53D-4B9D426713A8}" srcOrd="1" destOrd="0" parTransId="{1C71E269-763A-4B80-A872-C0112BC5B642}" sibTransId="{AED0CCBB-CAC8-4D1F-821B-C722532323ED}"/>
    <dgm:cxn modelId="{1B96E843-2F53-4BDA-8075-C8A10C256731}" srcId="{BD822A63-30F0-4B05-8495-22942D35235B}" destId="{152B2941-0D67-43A1-8CDE-9BD4EF0B3C6C}" srcOrd="0" destOrd="0" parTransId="{46DD8877-F0D5-46FB-A7D8-2BFD516200CC}" sibTransId="{30CF2EC9-BB70-4EAB-AD95-76CAEDFAE148}"/>
    <dgm:cxn modelId="{7D622FA2-8F0F-498F-9E72-0AFEDFF8F740}" type="presOf" srcId="{BD822A63-30F0-4B05-8495-22942D35235B}" destId="{35005E63-D1E6-41B9-AE34-EB3C5E12AEB0}" srcOrd="0" destOrd="0" presId="urn:microsoft.com/office/officeart/2008/layout/LinedList"/>
    <dgm:cxn modelId="{3BEA1FC0-32E6-480F-862F-C65DAB97BEA4}" type="presOf" srcId="{152B2941-0D67-43A1-8CDE-9BD4EF0B3C6C}" destId="{0C6109DF-B72C-41EF-B806-2A8653351604}" srcOrd="0" destOrd="0" presId="urn:microsoft.com/office/officeart/2008/layout/LinedList"/>
    <dgm:cxn modelId="{CD7182C5-1E1B-4352-A60E-3E32647B8B33}" type="presOf" srcId="{E481310A-D4C2-48F4-A53D-4B9D426713A8}" destId="{D0F9CE4F-08C7-42D3-9BC1-4C4C5D80FE04}" srcOrd="0" destOrd="0" presId="urn:microsoft.com/office/officeart/2008/layout/LinedList"/>
    <dgm:cxn modelId="{15A1CD28-1803-455C-9E4C-207774EBBAE4}" type="presParOf" srcId="{35005E63-D1E6-41B9-AE34-EB3C5E12AEB0}" destId="{784151A9-2AFD-4A54-9C99-E0D13D2C589B}" srcOrd="0" destOrd="0" presId="urn:microsoft.com/office/officeart/2008/layout/LinedList"/>
    <dgm:cxn modelId="{D91F06A5-0BFD-4D2F-992E-7860B5FDEA33}" type="presParOf" srcId="{35005E63-D1E6-41B9-AE34-EB3C5E12AEB0}" destId="{DF3DD6B6-DA3D-44F7-9B63-9EB9A5DEF091}" srcOrd="1" destOrd="0" presId="urn:microsoft.com/office/officeart/2008/layout/LinedList"/>
    <dgm:cxn modelId="{1B8F4090-4CF3-49E6-96EA-854E2D7DCC60}" type="presParOf" srcId="{DF3DD6B6-DA3D-44F7-9B63-9EB9A5DEF091}" destId="{0C6109DF-B72C-41EF-B806-2A8653351604}" srcOrd="0" destOrd="0" presId="urn:microsoft.com/office/officeart/2008/layout/LinedList"/>
    <dgm:cxn modelId="{DA875636-FAEC-429B-87B3-849A874902A5}" type="presParOf" srcId="{DF3DD6B6-DA3D-44F7-9B63-9EB9A5DEF091}" destId="{A1A606FF-F3C2-4178-8ADA-81406A11BE11}" srcOrd="1" destOrd="0" presId="urn:microsoft.com/office/officeart/2008/layout/LinedList"/>
    <dgm:cxn modelId="{4A60DDF8-262E-40C8-9D4F-C020E2BE1C7D}" type="presParOf" srcId="{35005E63-D1E6-41B9-AE34-EB3C5E12AEB0}" destId="{293BF76C-B5B8-477A-B7B3-2B3B7152306F}" srcOrd="2" destOrd="0" presId="urn:microsoft.com/office/officeart/2008/layout/LinedList"/>
    <dgm:cxn modelId="{CC438FA6-1BFA-4E5E-85A0-21F3126B2F03}" type="presParOf" srcId="{35005E63-D1E6-41B9-AE34-EB3C5E12AEB0}" destId="{159E876A-AC8F-4051-A0FB-649B7243FA18}" srcOrd="3" destOrd="0" presId="urn:microsoft.com/office/officeart/2008/layout/LinedList"/>
    <dgm:cxn modelId="{71FFAA93-82B9-4BD3-B486-FA2892040EEE}" type="presParOf" srcId="{159E876A-AC8F-4051-A0FB-649B7243FA18}" destId="{D0F9CE4F-08C7-42D3-9BC1-4C4C5D80FE04}" srcOrd="0" destOrd="0" presId="urn:microsoft.com/office/officeart/2008/layout/LinedList"/>
    <dgm:cxn modelId="{B62091AF-4DF7-4F35-93D4-4B4395976652}" type="presParOf" srcId="{159E876A-AC8F-4051-A0FB-649B7243FA18}" destId="{2CAA36E8-C07E-48F1-8B14-DCABF9F1B33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D822A63-30F0-4B05-8495-22942D35235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52B2941-0D67-43A1-8CDE-9BD4EF0B3C6C}">
      <dgm:prSet custT="1"/>
      <dgm:spPr/>
      <dgm:t>
        <a:bodyPr/>
        <a:lstStyle/>
        <a:p>
          <a:pPr>
            <a:defRPr cap="all"/>
          </a:pPr>
          <a:r>
            <a:rPr lang="ru-RU" sz="1400" dirty="0"/>
            <a:t>Стек </a:t>
          </a:r>
          <a:r>
            <a:rPr lang="ru-RU" sz="1400" dirty="0" err="1"/>
            <a:t>теХнологий</a:t>
          </a:r>
          <a:r>
            <a:rPr lang="ru-RU" sz="1400" dirty="0"/>
            <a:t>:</a:t>
          </a:r>
        </a:p>
        <a:p>
          <a:pPr>
            <a:defRPr cap="all"/>
          </a:pPr>
          <a:r>
            <a:rPr lang="en-US" sz="1400" b="0" dirty="0"/>
            <a:t>Backend: </a:t>
          </a:r>
          <a:r>
            <a:rPr lang="en-US" sz="1400" b="0" dirty="0" err="1"/>
            <a:t>Javascript</a:t>
          </a:r>
          <a:r>
            <a:rPr lang="ru-RU" sz="1400" dirty="0"/>
            <a:t>(ES6) </a:t>
          </a:r>
          <a:endParaRPr lang="en-US" sz="1400" b="1" dirty="0"/>
        </a:p>
        <a:p>
          <a:pPr>
            <a:defRPr cap="all"/>
          </a:pPr>
          <a:r>
            <a:rPr lang="en-US" sz="1400" b="0" dirty="0"/>
            <a:t>Frontend: HTML5, CSS3</a:t>
          </a:r>
          <a:endParaRPr lang="ru-RU" sz="1400" b="1" dirty="0"/>
        </a:p>
      </dgm:t>
    </dgm:pt>
    <dgm:pt modelId="{46DD8877-F0D5-46FB-A7D8-2BFD516200CC}" type="parTrans" cxnId="{1B96E843-2F53-4BDA-8075-C8A10C256731}">
      <dgm:prSet/>
      <dgm:spPr/>
      <dgm:t>
        <a:bodyPr/>
        <a:lstStyle/>
        <a:p>
          <a:endParaRPr lang="en-US"/>
        </a:p>
      </dgm:t>
    </dgm:pt>
    <dgm:pt modelId="{30CF2EC9-BB70-4EAB-AD95-76CAEDFAE148}" type="sibTrans" cxnId="{1B96E843-2F53-4BDA-8075-C8A10C256731}">
      <dgm:prSet/>
      <dgm:spPr/>
      <dgm:t>
        <a:bodyPr/>
        <a:lstStyle/>
        <a:p>
          <a:endParaRPr lang="en-US"/>
        </a:p>
      </dgm:t>
    </dgm:pt>
    <dgm:pt modelId="{E481310A-D4C2-48F4-A53D-4B9D426713A8}">
      <dgm:prSet custT="1"/>
      <dgm:spPr/>
      <dgm:t>
        <a:bodyPr/>
        <a:lstStyle/>
        <a:p>
          <a:r>
            <a:rPr lang="ru-RU" sz="1400" dirty="0"/>
            <a:t>Структура проекта:</a:t>
          </a:r>
          <a:endParaRPr lang="en-US" sz="1400" dirty="0"/>
        </a:p>
        <a:p>
          <a:r>
            <a:rPr lang="en-US" sz="1400" dirty="0"/>
            <a:t>Index.html</a:t>
          </a:r>
        </a:p>
        <a:p>
          <a:r>
            <a:rPr lang="en-US" sz="1400" dirty="0"/>
            <a:t>Style.css</a:t>
          </a:r>
        </a:p>
        <a:p>
          <a:r>
            <a:rPr lang="en-US" sz="1400" dirty="0"/>
            <a:t>script.js</a:t>
          </a:r>
        </a:p>
        <a:p>
          <a:endParaRPr lang="en-US" sz="1100" dirty="0"/>
        </a:p>
      </dgm:t>
    </dgm:pt>
    <dgm:pt modelId="{1C71E269-763A-4B80-A872-C0112BC5B642}" type="parTrans" cxnId="{0C396219-5B5F-4A76-83B6-3CE828186132}">
      <dgm:prSet/>
      <dgm:spPr/>
      <dgm:t>
        <a:bodyPr/>
        <a:lstStyle/>
        <a:p>
          <a:endParaRPr lang="en-US"/>
        </a:p>
      </dgm:t>
    </dgm:pt>
    <dgm:pt modelId="{AED0CCBB-CAC8-4D1F-821B-C722532323ED}" type="sibTrans" cxnId="{0C396219-5B5F-4A76-83B6-3CE828186132}">
      <dgm:prSet/>
      <dgm:spPr/>
      <dgm:t>
        <a:bodyPr/>
        <a:lstStyle/>
        <a:p>
          <a:endParaRPr lang="en-US"/>
        </a:p>
      </dgm:t>
    </dgm:pt>
    <dgm:pt modelId="{335F9D83-A938-4CA4-9141-91DE4B4F256F}" type="pres">
      <dgm:prSet presAssocID="{BD822A63-30F0-4B05-8495-22942D35235B}" presName="root" presStyleCnt="0">
        <dgm:presLayoutVars>
          <dgm:dir/>
          <dgm:resizeHandles val="exact"/>
        </dgm:presLayoutVars>
      </dgm:prSet>
      <dgm:spPr/>
    </dgm:pt>
    <dgm:pt modelId="{BF363640-7C2D-47C0-9520-2AB1442634DB}" type="pres">
      <dgm:prSet presAssocID="{152B2941-0D67-43A1-8CDE-9BD4EF0B3C6C}" presName="compNode" presStyleCnt="0"/>
      <dgm:spPr/>
    </dgm:pt>
    <dgm:pt modelId="{8B4992BC-1248-4DBD-804D-EDD68E1ED49D}" type="pres">
      <dgm:prSet presAssocID="{152B2941-0D67-43A1-8CDE-9BD4EF0B3C6C}" presName="iconBgRect" presStyleLbl="bgShp" presStyleIdx="0" presStyleCnt="2"/>
      <dgm:spPr/>
    </dgm:pt>
    <dgm:pt modelId="{6CEBAAB7-207C-4269-8B68-E853B62053B3}" type="pres">
      <dgm:prSet presAssocID="{152B2941-0D67-43A1-8CDE-9BD4EF0B3C6C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Комета"/>
        </a:ext>
      </dgm:extLst>
    </dgm:pt>
    <dgm:pt modelId="{1CA4770E-4472-4C97-829C-A873E55C36D1}" type="pres">
      <dgm:prSet presAssocID="{152B2941-0D67-43A1-8CDE-9BD4EF0B3C6C}" presName="spaceRect" presStyleCnt="0"/>
      <dgm:spPr/>
    </dgm:pt>
    <dgm:pt modelId="{5E065AD5-1E4E-429C-9E9D-83D2F2F51B79}" type="pres">
      <dgm:prSet presAssocID="{152B2941-0D67-43A1-8CDE-9BD4EF0B3C6C}" presName="textRect" presStyleLbl="revTx" presStyleIdx="0" presStyleCnt="2">
        <dgm:presLayoutVars>
          <dgm:chMax val="1"/>
          <dgm:chPref val="1"/>
        </dgm:presLayoutVars>
      </dgm:prSet>
      <dgm:spPr/>
    </dgm:pt>
    <dgm:pt modelId="{25EB149D-2BCF-4EAA-ADEB-407ACEA32AC9}" type="pres">
      <dgm:prSet presAssocID="{30CF2EC9-BB70-4EAB-AD95-76CAEDFAE148}" presName="sibTrans" presStyleCnt="0"/>
      <dgm:spPr/>
    </dgm:pt>
    <dgm:pt modelId="{3D546D45-AE8E-44AA-94FE-D49153D56EF4}" type="pres">
      <dgm:prSet presAssocID="{E481310A-D4C2-48F4-A53D-4B9D426713A8}" presName="compNode" presStyleCnt="0"/>
      <dgm:spPr/>
    </dgm:pt>
    <dgm:pt modelId="{5A34AFC8-DD54-43AB-9054-B1DA7AACA9D5}" type="pres">
      <dgm:prSet presAssocID="{E481310A-D4C2-48F4-A53D-4B9D426713A8}" presName="iconBgRect" presStyleLbl="bgShp" presStyleIdx="1" presStyleCnt="2"/>
      <dgm:spPr/>
    </dgm:pt>
    <dgm:pt modelId="{161D224E-5FAA-48EE-B7B3-E4412A30CC2C}" type="pres">
      <dgm:prSet presAssocID="{E481310A-D4C2-48F4-A53D-4B9D426713A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Компьютер"/>
        </a:ext>
      </dgm:extLst>
    </dgm:pt>
    <dgm:pt modelId="{5AA84416-C385-4A47-9FD1-CE1DEC399612}" type="pres">
      <dgm:prSet presAssocID="{E481310A-D4C2-48F4-A53D-4B9D426713A8}" presName="spaceRect" presStyleCnt="0"/>
      <dgm:spPr/>
    </dgm:pt>
    <dgm:pt modelId="{5377684D-71FB-4D57-B24D-2B6729FADE18}" type="pres">
      <dgm:prSet presAssocID="{E481310A-D4C2-48F4-A53D-4B9D426713A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C396219-5B5F-4A76-83B6-3CE828186132}" srcId="{BD822A63-30F0-4B05-8495-22942D35235B}" destId="{E481310A-D4C2-48F4-A53D-4B9D426713A8}" srcOrd="1" destOrd="0" parTransId="{1C71E269-763A-4B80-A872-C0112BC5B642}" sibTransId="{AED0CCBB-CAC8-4D1F-821B-C722532323ED}"/>
    <dgm:cxn modelId="{E3350A1A-B140-47AD-AA05-425612DAFBCC}" type="presOf" srcId="{E481310A-D4C2-48F4-A53D-4B9D426713A8}" destId="{5377684D-71FB-4D57-B24D-2B6729FADE18}" srcOrd="0" destOrd="0" presId="urn:microsoft.com/office/officeart/2018/5/layout/IconCircleLabelList"/>
    <dgm:cxn modelId="{1B96E843-2F53-4BDA-8075-C8A10C256731}" srcId="{BD822A63-30F0-4B05-8495-22942D35235B}" destId="{152B2941-0D67-43A1-8CDE-9BD4EF0B3C6C}" srcOrd="0" destOrd="0" parTransId="{46DD8877-F0D5-46FB-A7D8-2BFD516200CC}" sibTransId="{30CF2EC9-BB70-4EAB-AD95-76CAEDFAE148}"/>
    <dgm:cxn modelId="{5C25A94B-DF42-4E3E-80AC-F2EB42FA06E7}" type="presOf" srcId="{152B2941-0D67-43A1-8CDE-9BD4EF0B3C6C}" destId="{5E065AD5-1E4E-429C-9E9D-83D2F2F51B79}" srcOrd="0" destOrd="0" presId="urn:microsoft.com/office/officeart/2018/5/layout/IconCircleLabelList"/>
    <dgm:cxn modelId="{51122156-705A-4EA8-9EAF-0FDA5A619959}" type="presOf" srcId="{BD822A63-30F0-4B05-8495-22942D35235B}" destId="{335F9D83-A938-4CA4-9141-91DE4B4F256F}" srcOrd="0" destOrd="0" presId="urn:microsoft.com/office/officeart/2018/5/layout/IconCircleLabelList"/>
    <dgm:cxn modelId="{D5ADAD6F-559A-407D-954B-A89AEFD64C6B}" type="presParOf" srcId="{335F9D83-A938-4CA4-9141-91DE4B4F256F}" destId="{BF363640-7C2D-47C0-9520-2AB1442634DB}" srcOrd="0" destOrd="0" presId="urn:microsoft.com/office/officeart/2018/5/layout/IconCircleLabelList"/>
    <dgm:cxn modelId="{7F84AB8C-48CF-4FEE-98FC-3E5F4864706E}" type="presParOf" srcId="{BF363640-7C2D-47C0-9520-2AB1442634DB}" destId="{8B4992BC-1248-4DBD-804D-EDD68E1ED49D}" srcOrd="0" destOrd="0" presId="urn:microsoft.com/office/officeart/2018/5/layout/IconCircleLabelList"/>
    <dgm:cxn modelId="{FA187B53-73E6-4B9B-90BC-6A2D2C0CB6DC}" type="presParOf" srcId="{BF363640-7C2D-47C0-9520-2AB1442634DB}" destId="{6CEBAAB7-207C-4269-8B68-E853B62053B3}" srcOrd="1" destOrd="0" presId="urn:microsoft.com/office/officeart/2018/5/layout/IconCircleLabelList"/>
    <dgm:cxn modelId="{91BB99C6-00BF-4857-BC42-2A90B1EB0C92}" type="presParOf" srcId="{BF363640-7C2D-47C0-9520-2AB1442634DB}" destId="{1CA4770E-4472-4C97-829C-A873E55C36D1}" srcOrd="2" destOrd="0" presId="urn:microsoft.com/office/officeart/2018/5/layout/IconCircleLabelList"/>
    <dgm:cxn modelId="{E2795F5F-FD23-40B4-B7A1-2872A07522A0}" type="presParOf" srcId="{BF363640-7C2D-47C0-9520-2AB1442634DB}" destId="{5E065AD5-1E4E-429C-9E9D-83D2F2F51B79}" srcOrd="3" destOrd="0" presId="urn:microsoft.com/office/officeart/2018/5/layout/IconCircleLabelList"/>
    <dgm:cxn modelId="{19E182B0-9A6B-4C37-9C0A-ED4E4B893D65}" type="presParOf" srcId="{335F9D83-A938-4CA4-9141-91DE4B4F256F}" destId="{25EB149D-2BCF-4EAA-ADEB-407ACEA32AC9}" srcOrd="1" destOrd="0" presId="urn:microsoft.com/office/officeart/2018/5/layout/IconCircleLabelList"/>
    <dgm:cxn modelId="{5275BEF9-0095-4C32-BAE7-927E15A06771}" type="presParOf" srcId="{335F9D83-A938-4CA4-9141-91DE4B4F256F}" destId="{3D546D45-AE8E-44AA-94FE-D49153D56EF4}" srcOrd="2" destOrd="0" presId="urn:microsoft.com/office/officeart/2018/5/layout/IconCircleLabelList"/>
    <dgm:cxn modelId="{C77FD985-4B79-4371-83D5-904BF9C5EB48}" type="presParOf" srcId="{3D546D45-AE8E-44AA-94FE-D49153D56EF4}" destId="{5A34AFC8-DD54-43AB-9054-B1DA7AACA9D5}" srcOrd="0" destOrd="0" presId="urn:microsoft.com/office/officeart/2018/5/layout/IconCircleLabelList"/>
    <dgm:cxn modelId="{F2C168F0-CBCE-4876-8BA0-A3B623F57E06}" type="presParOf" srcId="{3D546D45-AE8E-44AA-94FE-D49153D56EF4}" destId="{161D224E-5FAA-48EE-B7B3-E4412A30CC2C}" srcOrd="1" destOrd="0" presId="urn:microsoft.com/office/officeart/2018/5/layout/IconCircleLabelList"/>
    <dgm:cxn modelId="{D6E7A609-C1AE-4359-92FB-D77CC3443AAA}" type="presParOf" srcId="{3D546D45-AE8E-44AA-94FE-D49153D56EF4}" destId="{5AA84416-C385-4A47-9FD1-CE1DEC399612}" srcOrd="2" destOrd="0" presId="urn:microsoft.com/office/officeart/2018/5/layout/IconCircleLabelList"/>
    <dgm:cxn modelId="{943CCD55-F4F3-4394-8913-87312FFB659B}" type="presParOf" srcId="{3D546D45-AE8E-44AA-94FE-D49153D56EF4}" destId="{5377684D-71FB-4D57-B24D-2B6729FADE1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06379-EAE9-4EA9-B045-9676846DB2C1}">
      <dsp:nvSpPr>
        <dsp:cNvPr id="0" name=""/>
        <dsp:cNvSpPr/>
      </dsp:nvSpPr>
      <dsp:spPr>
        <a:xfrm>
          <a:off x="866400" y="680834"/>
          <a:ext cx="1341562" cy="1341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2B4002-D284-434F-8C1C-AF9210CABA5D}">
      <dsp:nvSpPr>
        <dsp:cNvPr id="0" name=""/>
        <dsp:cNvSpPr/>
      </dsp:nvSpPr>
      <dsp:spPr>
        <a:xfrm>
          <a:off x="46557" y="2394339"/>
          <a:ext cx="298125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Назначение: сбор, отображение и архивирование данных с датчиков температуры, влажности, метеостанции, теплоносителя, давления.</a:t>
          </a:r>
          <a:endParaRPr lang="en-US" sz="1100" kern="1200"/>
        </a:p>
      </dsp:txBody>
      <dsp:txXfrm>
        <a:off x="46557" y="2394339"/>
        <a:ext cx="2981250" cy="765000"/>
      </dsp:txXfrm>
    </dsp:sp>
    <dsp:sp modelId="{CFB41193-FD56-4A02-8EC7-C149D4D5998A}">
      <dsp:nvSpPr>
        <dsp:cNvPr id="0" name=""/>
        <dsp:cNvSpPr/>
      </dsp:nvSpPr>
      <dsp:spPr>
        <a:xfrm>
          <a:off x="4369369" y="680834"/>
          <a:ext cx="1341562" cy="1341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C417B7-82B6-437B-B9F3-9425C0FA02AF}">
      <dsp:nvSpPr>
        <dsp:cNvPr id="0" name=""/>
        <dsp:cNvSpPr/>
      </dsp:nvSpPr>
      <dsp:spPr>
        <a:xfrm>
          <a:off x="3549525" y="2394339"/>
          <a:ext cx="298125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Возможности: графики трендов, мнемосхемы отделений, экстренные индикаторы, просмотр архивов за 24 часа.</a:t>
          </a:r>
          <a:endParaRPr lang="en-US" sz="1100" kern="1200"/>
        </a:p>
      </dsp:txBody>
      <dsp:txXfrm>
        <a:off x="3549525" y="2394339"/>
        <a:ext cx="2981250" cy="76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4151A9-2AFD-4A54-9C99-E0D13D2C589B}">
      <dsp:nvSpPr>
        <dsp:cNvPr id="0" name=""/>
        <dsp:cNvSpPr/>
      </dsp:nvSpPr>
      <dsp:spPr>
        <a:xfrm>
          <a:off x="0" y="0"/>
          <a:ext cx="4953000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C6109DF-B72C-41EF-B806-2A8653351604}">
      <dsp:nvSpPr>
        <dsp:cNvPr id="0" name=""/>
        <dsp:cNvSpPr/>
      </dsp:nvSpPr>
      <dsp:spPr>
        <a:xfrm>
          <a:off x="0" y="0"/>
          <a:ext cx="4953000" cy="17835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Назначение: автоматическое и ручное управление системами обогрева, форточками, вентиляторами, зашториванием, досвечиванием, поливом, CO₂.</a:t>
          </a:r>
          <a:endParaRPr lang="en-US" sz="2100" kern="1200" dirty="0"/>
        </a:p>
      </dsp:txBody>
      <dsp:txXfrm>
        <a:off x="0" y="0"/>
        <a:ext cx="4953000" cy="1783559"/>
      </dsp:txXfrm>
    </dsp:sp>
    <dsp:sp modelId="{293BF76C-B5B8-477A-B7B3-2B3B7152306F}">
      <dsp:nvSpPr>
        <dsp:cNvPr id="0" name=""/>
        <dsp:cNvSpPr/>
      </dsp:nvSpPr>
      <dsp:spPr>
        <a:xfrm>
          <a:off x="0" y="1783559"/>
          <a:ext cx="4953000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0F9CE4F-08C7-42D3-9BC1-4C4C5D80FE04}">
      <dsp:nvSpPr>
        <dsp:cNvPr id="0" name=""/>
        <dsp:cNvSpPr/>
      </dsp:nvSpPr>
      <dsp:spPr>
        <a:xfrm>
          <a:off x="0" y="1783559"/>
          <a:ext cx="4953000" cy="17835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Возможности: ПИД-регулирование, иерархическое включение обогрева, защита от перегрева, управление тепловым узлом.</a:t>
          </a:r>
          <a:endParaRPr lang="en-US" sz="2100" kern="1200" dirty="0"/>
        </a:p>
      </dsp:txBody>
      <dsp:txXfrm>
        <a:off x="0" y="1783559"/>
        <a:ext cx="4953000" cy="17835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4151A9-2AFD-4A54-9C99-E0D13D2C589B}">
      <dsp:nvSpPr>
        <dsp:cNvPr id="0" name=""/>
        <dsp:cNvSpPr/>
      </dsp:nvSpPr>
      <dsp:spPr>
        <a:xfrm>
          <a:off x="0" y="0"/>
          <a:ext cx="4953000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C6109DF-B72C-41EF-B806-2A8653351604}">
      <dsp:nvSpPr>
        <dsp:cNvPr id="0" name=""/>
        <dsp:cNvSpPr/>
      </dsp:nvSpPr>
      <dsp:spPr>
        <a:xfrm>
          <a:off x="0" y="0"/>
          <a:ext cx="4953000" cy="17835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Назначение: настройка системы, контроль доступа, регистрация аварий, формирование отчетов для агронома и начальника цеха.</a:t>
          </a:r>
          <a:endParaRPr lang="en-US" sz="2100" kern="1200" dirty="0"/>
        </a:p>
      </dsp:txBody>
      <dsp:txXfrm>
        <a:off x="0" y="0"/>
        <a:ext cx="4953000" cy="1783559"/>
      </dsp:txXfrm>
    </dsp:sp>
    <dsp:sp modelId="{293BF76C-B5B8-477A-B7B3-2B3B7152306F}">
      <dsp:nvSpPr>
        <dsp:cNvPr id="0" name=""/>
        <dsp:cNvSpPr/>
      </dsp:nvSpPr>
      <dsp:spPr>
        <a:xfrm>
          <a:off x="0" y="1783559"/>
          <a:ext cx="4953000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0F9CE4F-08C7-42D3-9BC1-4C4C5D80FE04}">
      <dsp:nvSpPr>
        <dsp:cNvPr id="0" name=""/>
        <dsp:cNvSpPr/>
      </dsp:nvSpPr>
      <dsp:spPr>
        <a:xfrm>
          <a:off x="0" y="1783559"/>
          <a:ext cx="4953000" cy="17835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Возможности: управление пользователями/ролями, просмотр логов, генерация отчетов по микроклимату, настройка параметров ПИД и дельт.</a:t>
          </a:r>
          <a:endParaRPr lang="en-US" sz="2100" kern="1200" dirty="0"/>
        </a:p>
      </dsp:txBody>
      <dsp:txXfrm>
        <a:off x="0" y="1783559"/>
        <a:ext cx="4953000" cy="178355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4992BC-1248-4DBD-804D-EDD68E1ED49D}">
      <dsp:nvSpPr>
        <dsp:cNvPr id="0" name=""/>
        <dsp:cNvSpPr/>
      </dsp:nvSpPr>
      <dsp:spPr>
        <a:xfrm>
          <a:off x="2817970" y="17128"/>
          <a:ext cx="1647000" cy="1647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EBAAB7-207C-4269-8B68-E853B62053B3}">
      <dsp:nvSpPr>
        <dsp:cNvPr id="0" name=""/>
        <dsp:cNvSpPr/>
      </dsp:nvSpPr>
      <dsp:spPr>
        <a:xfrm>
          <a:off x="3168970" y="368128"/>
          <a:ext cx="945000" cy="945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065AD5-1E4E-429C-9E9D-83D2F2F51B79}">
      <dsp:nvSpPr>
        <dsp:cNvPr id="0" name=""/>
        <dsp:cNvSpPr/>
      </dsp:nvSpPr>
      <dsp:spPr>
        <a:xfrm>
          <a:off x="2291470" y="2177129"/>
          <a:ext cx="2700000" cy="1366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400" kern="1200" dirty="0"/>
            <a:t>Стек </a:t>
          </a:r>
          <a:r>
            <a:rPr lang="ru-RU" sz="1400" kern="1200" dirty="0" err="1"/>
            <a:t>теХнологий</a:t>
          </a:r>
          <a:r>
            <a:rPr lang="ru-RU" sz="1400" kern="1200" dirty="0"/>
            <a:t>: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kern="1200" dirty="0"/>
            <a:t>Backend: </a:t>
          </a:r>
          <a:r>
            <a:rPr lang="en-US" sz="1400" b="0" kern="1200" dirty="0" err="1"/>
            <a:t>Javascript</a:t>
          </a:r>
          <a:r>
            <a:rPr lang="ru-RU" sz="1400" kern="1200" dirty="0"/>
            <a:t>(ES6) </a:t>
          </a:r>
          <a:endParaRPr lang="en-US" sz="1400" b="1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kern="1200" dirty="0"/>
            <a:t>Frontend: HTML5, CSS3</a:t>
          </a:r>
          <a:endParaRPr lang="ru-RU" sz="1400" b="1" kern="1200" dirty="0"/>
        </a:p>
      </dsp:txBody>
      <dsp:txXfrm>
        <a:off x="2291470" y="2177129"/>
        <a:ext cx="2700000" cy="1366875"/>
      </dsp:txXfrm>
    </dsp:sp>
    <dsp:sp modelId="{5A34AFC8-DD54-43AB-9054-B1DA7AACA9D5}">
      <dsp:nvSpPr>
        <dsp:cNvPr id="0" name=""/>
        <dsp:cNvSpPr/>
      </dsp:nvSpPr>
      <dsp:spPr>
        <a:xfrm>
          <a:off x="5990471" y="17128"/>
          <a:ext cx="1647000" cy="1647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1D224E-5FAA-48EE-B7B3-E4412A30CC2C}">
      <dsp:nvSpPr>
        <dsp:cNvPr id="0" name=""/>
        <dsp:cNvSpPr/>
      </dsp:nvSpPr>
      <dsp:spPr>
        <a:xfrm>
          <a:off x="6341471" y="368128"/>
          <a:ext cx="945000" cy="945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77684D-71FB-4D57-B24D-2B6729FADE18}">
      <dsp:nvSpPr>
        <dsp:cNvPr id="0" name=""/>
        <dsp:cNvSpPr/>
      </dsp:nvSpPr>
      <dsp:spPr>
        <a:xfrm>
          <a:off x="5463971" y="2177129"/>
          <a:ext cx="2700000" cy="1366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Структура проекта:</a:t>
          </a:r>
          <a:endParaRPr lang="en-US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Index.html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Style.css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script.js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5463971" y="2177129"/>
        <a:ext cx="2700000" cy="13668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50B90-3824-4D55-B0E5-8E3F4A4228E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6CC4F2-80C2-4E3D-950C-8643C86F8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8946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CC4F2-80C2-4E3D-950C-8643C86F8DE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5042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60141-EEBD-4EC1-8E34-0344C16A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18308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FCBBA-905A-4FD1-BFBA-F3EE6DA26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81098"/>
            <a:ext cx="8986580" cy="2832404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48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D287E-F1C8-463F-8429-D1B5B1582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463522"/>
            <a:ext cx="8986580" cy="65031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F44ED-7973-4A99-B2CA-A8962BCE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F96F2-D6BE-49AC-A605-5AE87C3F2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FC50-B13C-4B63-AE64-F71A6EDE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75A547-BCD1-42BE-966E-53CA0AB93165}"/>
              </a:ext>
            </a:extLst>
          </p:cNvPr>
          <p:cNvCxnSpPr>
            <a:cxnSpLocks/>
          </p:cNvCxnSpPr>
          <p:nvPr/>
        </p:nvCxnSpPr>
        <p:spPr>
          <a:xfrm>
            <a:off x="1188357" y="5151666"/>
            <a:ext cx="98225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0199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D6F3-88F1-4195-8395-57AA096B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8D06C-EB08-40B3-AFB3-A62F4411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3962F-B413-4C4C-A490-724DDB9E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71813-4E87-4C04-835D-76246010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22BA3-033C-491E-A045-F0052AC1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538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E19AD-2EDD-4B4F-9F9E-46A44418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709738"/>
            <a:ext cx="8520952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E5927-21D5-4EBA-A112-CAD1BD38B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4589466"/>
            <a:ext cx="8520952" cy="81326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F0D16-9D87-4D76-A5A5-534E24B7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5F387-5AAC-45D0-ABCE-B1CF4BC7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F6FE-0006-4F40-A7FB-E0FDBADF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621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AADE-587E-4574-B21B-7ABDE5A2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F9DA5-4DFB-4211-A58A-FFD842C27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2339501"/>
            <a:ext cx="4798979" cy="3550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99F26-66AF-4614-91CE-C93A24BAC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0020" y="2339501"/>
            <a:ext cx="4798980" cy="355059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F678E-59B5-4DF9-ABCB-506B9CB7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50A53-317B-444A-9BA2-F69CDBF5D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269A1-B0FB-4C8F-B6AA-0718C9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3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BBBF-42B2-4A5D-B145-46983A530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33272"/>
            <a:ext cx="9905999" cy="8463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4BE44-5271-4B5D-B649-35E3AF20B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2999" y="2067127"/>
            <a:ext cx="4798980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7891E-0C0A-4688-97DD-C0715E322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3001" y="2864795"/>
            <a:ext cx="4798978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EAF30-3412-49B0-93D1-596CC2695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018" y="2067127"/>
            <a:ext cx="4798981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7B9B7-F41C-4314-9F0C-BB84547FB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019" y="2864795"/>
            <a:ext cx="4798982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21587F-6AFC-4906-86EB-6B0A86EE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BE2C5-583B-49BC-9864-B01EEF79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9B236-45F5-4CC6-8D53-A6903A1C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07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B206-0678-4577-B79F-760526A5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1322615"/>
            <a:ext cx="8175171" cy="42127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5FCB8-AFD3-4801-BBD6-9548F4CF7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DACF8-CBC0-416B-B28E-EE18C423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0C7421-FF49-4CE9-87D0-2B4FFE0E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449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9CBFE-15AA-4447-9F9C-D8B0BEB2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48227-EC1E-4063-9682-891A2DB1A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C6A63-C3F4-4563-A542-9A41AC94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9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00C1-FE18-461C-801C-8626C775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0"/>
            <a:ext cx="3932237" cy="1964986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4CFF3-3406-49E3-9D5A-1BE90FFA5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451" y="987425"/>
            <a:ext cx="542154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D14FF-9082-4BBA-BC7A-F4C5B7859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62464"/>
            <a:ext cx="3932237" cy="2206523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A2726-EB8E-4DF7-9A1B-F03BD8C7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929BE-611C-4FE6-B0A5-E0FF9DF9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90B32-1D0E-4BCD-8850-59EA235F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89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1460E-1069-4FCA-B04E-28F77C861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13614" y="987425"/>
            <a:ext cx="55353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38C1E-867B-4FE9-8783-9B1246AEB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57601"/>
            <a:ext cx="3932236" cy="2211388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21568-4870-46F2-9F7E-F4107020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3CC65-0E73-45A1-9D4F-3F4559B3B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C58CD-9BC3-431E-A7B4-D596A7F0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8F756-D171-474C-8B1A-C818032F6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1"/>
            <a:ext cx="3932236" cy="1959428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1248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3BF2-BCE9-47D7-B1C0-1F0E4936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722E9-C3E4-48AF-996A-495AE659F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E516-382B-4845-93BF-20C16EE0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96E16-F168-442A-843C-5D490D54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61BEA-A969-437A-BD8B-CB1B709A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24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28449-3E11-45FF-BF3A-651867603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72500" y="870625"/>
            <a:ext cx="2476499" cy="50292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0EAB0-2DFA-4CBA-86B1-1826EF523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43000" y="870625"/>
            <a:ext cx="7324928" cy="50292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22F89-E1F5-45D7-945A-8A2886C4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7E82-5FB8-4289-AD0C-0BA788E1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A4046-1A2C-41F5-A177-1C3919C2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259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1C2F78B-DEE8-4195-A196-DFC51BDADFF9}"/>
              </a:ext>
            </a:extLst>
          </p:cNvPr>
          <p:cNvSpPr/>
          <p:nvPr/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1D79D08-4BE8-4799-BE09-5078DFEE2256}"/>
              </a:ext>
            </a:extLst>
          </p:cNvPr>
          <p:cNvSpPr/>
          <p:nvPr/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5D65A1-16CB-407F-993F-2A6D59BCC0C8}"/>
              </a:ext>
            </a:extLst>
          </p:cNvPr>
          <p:cNvCxnSpPr>
            <a:cxnSpLocks/>
          </p:cNvCxnSpPr>
          <p:nvPr/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A018A2-815D-41B0-A189-FDF7A5E8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5"/>
            <a:ext cx="9905999" cy="1360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FAE63-1276-4C7C-BFF5-F5DF1CDB2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332026"/>
            <a:ext cx="9905999" cy="3567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80268-2D73-487C-843B-51648AE18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8157" y="6356350"/>
            <a:ext cx="30933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3CADBD16-5BFB-4D9F-9646-C75D1B53BBB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61E6D-D51F-4BD7-B59D-19AF17917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0" y="6356350"/>
            <a:ext cx="39591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701B1-1C93-41C2-AEE1-815DEA51B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23186" y="6356350"/>
            <a:ext cx="6258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8399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28" r:id="rId6"/>
    <p:sldLayoutId id="2147483724" r:id="rId7"/>
    <p:sldLayoutId id="2147483725" r:id="rId8"/>
    <p:sldLayoutId id="2147483726" r:id="rId9"/>
    <p:sldLayoutId id="2147483727" r:id="rId10"/>
    <p:sldLayoutId id="214748372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029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37">
            <a:extLst>
              <a:ext uri="{FF2B5EF4-FFF2-40B4-BE49-F238E27FC236}">
                <a16:creationId xmlns:a16="http://schemas.microsoft.com/office/drawing/2014/main" id="{6BF1DCD9-4684-4B84-AD73-6652C8BAC7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EDE999-5EB7-29CA-41BA-E1BAD91EFF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932"/>
          <a:stretch>
            <a:fillRect/>
          </a:stretch>
        </p:blipFill>
        <p:spPr>
          <a:xfrm>
            <a:off x="20" y="10"/>
            <a:ext cx="12199237" cy="6857989"/>
          </a:xfrm>
          <a:prstGeom prst="rect">
            <a:avLst/>
          </a:prstGeom>
        </p:spPr>
      </p:pic>
      <p:sp>
        <p:nvSpPr>
          <p:cNvPr id="44" name="Freeform: Shape 39">
            <a:extLst>
              <a:ext uri="{FF2B5EF4-FFF2-40B4-BE49-F238E27FC236}">
                <a16:creationId xmlns:a16="http://schemas.microsoft.com/office/drawing/2014/main" id="{4BE6A732-8124-4A59-8EC9-BF4A1648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2226538" y="-2233466"/>
            <a:ext cx="6858000" cy="11324929"/>
          </a:xfrm>
          <a:custGeom>
            <a:avLst/>
            <a:gdLst>
              <a:gd name="connsiteX0" fmla="*/ 0 w 6858000"/>
              <a:gd name="connsiteY0" fmla="*/ 9303227 h 11262142"/>
              <a:gd name="connsiteX1" fmla="*/ 0 w 6858000"/>
              <a:gd name="connsiteY1" fmla="*/ 6495555 h 11262142"/>
              <a:gd name="connsiteX2" fmla="*/ 1 w 6858000"/>
              <a:gd name="connsiteY2" fmla="*/ 6495555 h 11262142"/>
              <a:gd name="connsiteX3" fmla="*/ 1 w 6858000"/>
              <a:gd name="connsiteY3" fmla="*/ 0 h 11262142"/>
              <a:gd name="connsiteX4" fmla="*/ 6858000 w 6858000"/>
              <a:gd name="connsiteY4" fmla="*/ 6015407 h 11262142"/>
              <a:gd name="connsiteX5" fmla="*/ 6858000 w 6858000"/>
              <a:gd name="connsiteY5" fmla="*/ 8999698 h 11262142"/>
              <a:gd name="connsiteX6" fmla="*/ 6858000 w 6858000"/>
              <a:gd name="connsiteY6" fmla="*/ 11262142 h 11262142"/>
              <a:gd name="connsiteX7" fmla="*/ 1 w 6858000"/>
              <a:gd name="connsiteY7" fmla="*/ 11262142 h 11262142"/>
              <a:gd name="connsiteX8" fmla="*/ 1 w 6858000"/>
              <a:gd name="connsiteY8" fmla="*/ 9303227 h 1126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1262142">
                <a:moveTo>
                  <a:pt x="0" y="9303227"/>
                </a:moveTo>
                <a:lnTo>
                  <a:pt x="0" y="6495555"/>
                </a:lnTo>
                <a:lnTo>
                  <a:pt x="1" y="6495555"/>
                </a:lnTo>
                <a:lnTo>
                  <a:pt x="1" y="0"/>
                </a:lnTo>
                <a:lnTo>
                  <a:pt x="6858000" y="6015407"/>
                </a:lnTo>
                <a:lnTo>
                  <a:pt x="6858000" y="8999698"/>
                </a:lnTo>
                <a:lnTo>
                  <a:pt x="6858000" y="11262142"/>
                </a:lnTo>
                <a:lnTo>
                  <a:pt x="1" y="11262142"/>
                </a:lnTo>
                <a:lnTo>
                  <a:pt x="1" y="9303227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4413B2-4BC1-722C-92C5-12F229799E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890" y="1061686"/>
            <a:ext cx="8266139" cy="379333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5100" b="1" dirty="0">
                <a:solidFill>
                  <a:srgbClr val="FFFFFF"/>
                </a:solidFill>
              </a:rPr>
              <a:t>АСУ ТП по поддержанию температуры в оранжереи</a:t>
            </a:r>
            <a:br>
              <a:rPr lang="ru-RU" sz="5100" dirty="0">
                <a:solidFill>
                  <a:srgbClr val="FFFFFF"/>
                </a:solidFill>
              </a:rPr>
            </a:br>
            <a:endParaRPr lang="ru-RU" sz="5100" dirty="0">
              <a:solidFill>
                <a:srgbClr val="FFFFFF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831264E-3213-6638-8C0B-38461037A6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453796"/>
            <a:ext cx="4264677" cy="732996"/>
          </a:xfrm>
        </p:spPr>
        <p:txBody>
          <a:bodyPr anchor="t">
            <a:normAutofit/>
          </a:bodyPr>
          <a:lstStyle/>
          <a:p>
            <a:r>
              <a:rPr lang="ru-RU" dirty="0">
                <a:solidFill>
                  <a:srgbClr val="FFFFFF"/>
                </a:solidFill>
              </a:rPr>
              <a:t>Астахов Сергей Павлович ИКБО-50-23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FDAA6A4-1F42-460B-A500-921EEB4BC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8357" y="5151666"/>
            <a:ext cx="986064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316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91C2F78B-DEE8-4195-A196-DFC51BDAD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A1D79D08-4BE8-4799-BE09-5078DFEE2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95D65A1-16CB-407F-993F-2A6D59BCC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54F20867-41B0-484D-9DA7-0FC742D31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E37FD100-AD6C-4FB9-B662-CC1C2F000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6497" y="1526602"/>
            <a:ext cx="4667254" cy="5330310"/>
          </a:xfrm>
          <a:custGeom>
            <a:avLst/>
            <a:gdLst>
              <a:gd name="connsiteX0" fmla="*/ 4667254 w 4667254"/>
              <a:gd name="connsiteY0" fmla="*/ 0 h 5325271"/>
              <a:gd name="connsiteX1" fmla="*/ 4667254 w 4667254"/>
              <a:gd name="connsiteY1" fmla="*/ 2543639 h 5325271"/>
              <a:gd name="connsiteX2" fmla="*/ 2229334 w 4667254"/>
              <a:gd name="connsiteY2" fmla="*/ 5325271 h 5325271"/>
              <a:gd name="connsiteX3" fmla="*/ 0 w 4667254"/>
              <a:gd name="connsiteY3" fmla="*/ 5325271 h 5325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7254" h="5325271">
                <a:moveTo>
                  <a:pt x="4667254" y="0"/>
                </a:moveTo>
                <a:lnTo>
                  <a:pt x="4667254" y="2543639"/>
                </a:lnTo>
                <a:lnTo>
                  <a:pt x="2229334" y="5325271"/>
                </a:lnTo>
                <a:lnTo>
                  <a:pt x="0" y="5325271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CBB905-F8E9-636A-9ED1-BAB80A4F7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72937"/>
            <a:ext cx="8862060" cy="13608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kern="1200" dirty="0">
                <a:solidFill>
                  <a:schemeClr val="tx1"/>
                </a:solidFill>
                <a:ea typeface="+mj-ea"/>
                <a:cs typeface="+mj-cs"/>
              </a:rPr>
              <a:t>Практическая работа №1: Описание объекта и причины автоматизации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3F2170-2822-A4BB-5EC8-7183208A3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2332028"/>
            <a:ext cx="8606269" cy="3652983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1600" b="1" dirty="0" err="1"/>
              <a:t>Объект</a:t>
            </a:r>
            <a:r>
              <a:rPr lang="en-US" sz="1600" b="1" dirty="0"/>
              <a:t> автоматизации: </a:t>
            </a:r>
            <a:r>
              <a:rPr lang="en-US" sz="1600" dirty="0" err="1"/>
              <a:t>Поддержание</a:t>
            </a:r>
            <a:r>
              <a:rPr lang="en-US" sz="1600" dirty="0"/>
              <a:t> </a:t>
            </a:r>
            <a:r>
              <a:rPr lang="en-US" sz="1600" dirty="0" err="1"/>
              <a:t>комфортной</a:t>
            </a:r>
            <a:r>
              <a:rPr lang="en-US" sz="1600" dirty="0"/>
              <a:t> </a:t>
            </a:r>
            <a:r>
              <a:rPr lang="en-US" sz="1600" dirty="0" err="1"/>
              <a:t>температуры</a:t>
            </a:r>
            <a:r>
              <a:rPr lang="en-US" sz="1600" dirty="0"/>
              <a:t> </a:t>
            </a:r>
            <a:r>
              <a:rPr lang="en-US" sz="1600" dirty="0" err="1"/>
              <a:t>растений</a:t>
            </a:r>
            <a:r>
              <a:rPr lang="en-US" sz="1600" dirty="0"/>
              <a:t> в </a:t>
            </a:r>
            <a:r>
              <a:rPr lang="en-US" sz="1600" dirty="0" err="1"/>
              <a:t>теплице</a:t>
            </a:r>
            <a:r>
              <a:rPr lang="en-US" sz="1600" dirty="0"/>
              <a:t> и </a:t>
            </a:r>
            <a:r>
              <a:rPr lang="en-US" sz="1600" dirty="0" err="1"/>
              <a:t>регулирование</a:t>
            </a:r>
            <a:r>
              <a:rPr lang="en-US" sz="1600" dirty="0"/>
              <a:t> </a:t>
            </a:r>
            <a:r>
              <a:rPr lang="en-US" sz="1600" dirty="0" err="1"/>
              <a:t>температуры</a:t>
            </a:r>
            <a:r>
              <a:rPr lang="en-US" sz="1600" dirty="0"/>
              <a:t> </a:t>
            </a:r>
            <a:r>
              <a:rPr lang="en-US" sz="1600" dirty="0" err="1"/>
              <a:t>по</a:t>
            </a:r>
            <a:r>
              <a:rPr lang="en-US" sz="1600" dirty="0"/>
              <a:t> </a:t>
            </a:r>
            <a:r>
              <a:rPr lang="en-US" sz="1600" dirty="0" err="1"/>
              <a:t>предпочтению</a:t>
            </a:r>
            <a:r>
              <a:rPr lang="en-US" sz="1600" dirty="0"/>
              <a:t> </a:t>
            </a:r>
            <a:r>
              <a:rPr lang="en-US" sz="1600" dirty="0" err="1"/>
              <a:t>пользователя</a:t>
            </a:r>
            <a:r>
              <a:rPr lang="en-US" sz="1600" dirty="0"/>
              <a:t>.</a:t>
            </a:r>
          </a:p>
          <a:p>
            <a:pPr>
              <a:lnSpc>
                <a:spcPct val="110000"/>
              </a:lnSpc>
            </a:pPr>
            <a:r>
              <a:rPr lang="en-US" sz="1600" b="1" dirty="0" err="1"/>
              <a:t>Наименование</a:t>
            </a:r>
            <a:r>
              <a:rPr lang="en-US" sz="1600" b="1" dirty="0"/>
              <a:t> </a:t>
            </a:r>
            <a:r>
              <a:rPr lang="en-US" sz="1600" b="1" dirty="0" err="1"/>
              <a:t>системы</a:t>
            </a:r>
            <a:r>
              <a:rPr lang="en-US" sz="1600" b="1" dirty="0"/>
              <a:t>:</a:t>
            </a:r>
            <a:r>
              <a:rPr lang="en-US" sz="1600" dirty="0"/>
              <a:t> АСУ ТП «</a:t>
            </a:r>
            <a:r>
              <a:rPr lang="en-US" sz="1600" dirty="0" err="1"/>
              <a:t>поддержание</a:t>
            </a:r>
            <a:r>
              <a:rPr lang="en-US" sz="1600" dirty="0"/>
              <a:t> </a:t>
            </a:r>
            <a:r>
              <a:rPr lang="en-US" sz="1600" dirty="0" err="1"/>
              <a:t>температуры</a:t>
            </a:r>
            <a:r>
              <a:rPr lang="en-US" sz="1600" dirty="0"/>
              <a:t> в </a:t>
            </a:r>
            <a:r>
              <a:rPr lang="en-US" sz="1600" dirty="0" err="1"/>
              <a:t>оранжерее</a:t>
            </a:r>
            <a:r>
              <a:rPr lang="en-US" sz="1600" dirty="0"/>
              <a:t>»</a:t>
            </a:r>
          </a:p>
          <a:p>
            <a:pPr>
              <a:lnSpc>
                <a:spcPct val="110000"/>
              </a:lnSpc>
            </a:pPr>
            <a:r>
              <a:rPr lang="en-US" sz="1600" b="1" dirty="0" err="1"/>
              <a:t>Процесс</a:t>
            </a:r>
            <a:r>
              <a:rPr lang="en-US" sz="1600" b="1" dirty="0"/>
              <a:t>, </a:t>
            </a:r>
            <a:r>
              <a:rPr lang="en-US" sz="1600" b="1" dirty="0" err="1"/>
              <a:t>требующий</a:t>
            </a:r>
            <a:r>
              <a:rPr lang="en-US" sz="1600" b="1" dirty="0"/>
              <a:t> автоматизации: </a:t>
            </a:r>
            <a:r>
              <a:rPr lang="en-US" sz="1600" dirty="0" err="1"/>
              <a:t>процесс</a:t>
            </a:r>
            <a:r>
              <a:rPr lang="en-US" sz="1600" dirty="0"/>
              <a:t> </a:t>
            </a:r>
            <a:r>
              <a:rPr lang="en-US" sz="1600" dirty="0" err="1"/>
              <a:t>поддержание</a:t>
            </a:r>
            <a:r>
              <a:rPr lang="en-US" sz="1600" dirty="0"/>
              <a:t> </a:t>
            </a:r>
            <a:r>
              <a:rPr lang="en-US" sz="1600" dirty="0" err="1"/>
              <a:t>температуры</a:t>
            </a:r>
            <a:r>
              <a:rPr lang="en-US" sz="1600" dirty="0"/>
              <a:t> в </a:t>
            </a:r>
            <a:r>
              <a:rPr lang="en-US" sz="1600" dirty="0" err="1"/>
              <a:t>умной</a:t>
            </a:r>
            <a:r>
              <a:rPr lang="en-US" sz="1600" dirty="0"/>
              <a:t> </a:t>
            </a:r>
            <a:r>
              <a:rPr lang="en-US" sz="1600" dirty="0" err="1"/>
              <a:t>теплице</a:t>
            </a:r>
            <a:r>
              <a:rPr lang="en-US" sz="1600" dirty="0"/>
              <a:t>.</a:t>
            </a:r>
            <a:endParaRPr lang="en-US" sz="1600" b="1" dirty="0"/>
          </a:p>
          <a:p>
            <a:pPr>
              <a:lnSpc>
                <a:spcPct val="110000"/>
              </a:lnSpc>
            </a:pPr>
            <a:r>
              <a:rPr lang="en-US" sz="1600" b="1" dirty="0"/>
              <a:t>Причины автоматизации(</a:t>
            </a:r>
            <a:r>
              <a:rPr lang="en-US" sz="1600" dirty="0"/>
              <a:t>AS-IS</a:t>
            </a:r>
            <a:r>
              <a:rPr lang="en-US" sz="1600" b="1" dirty="0"/>
              <a:t>):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Нет</a:t>
            </a:r>
            <a:r>
              <a:rPr lang="en-US" sz="1600" dirty="0"/>
              <a:t> </a:t>
            </a:r>
            <a:r>
              <a:rPr lang="en-US" sz="1600" dirty="0" err="1"/>
              <a:t>контроля</a:t>
            </a:r>
            <a:r>
              <a:rPr lang="en-US" sz="1600" dirty="0"/>
              <a:t> </a:t>
            </a:r>
            <a:r>
              <a:rPr lang="en-US" sz="1600" dirty="0" err="1"/>
              <a:t>температуры</a:t>
            </a:r>
            <a:r>
              <a:rPr lang="en-US" sz="1600" dirty="0"/>
              <a:t> </a:t>
            </a:r>
            <a:r>
              <a:rPr lang="en-US" sz="1600" dirty="0" err="1"/>
              <a:t>для</a:t>
            </a:r>
            <a:r>
              <a:rPr lang="en-US" sz="1600" dirty="0"/>
              <a:t> </a:t>
            </a:r>
            <a:r>
              <a:rPr lang="en-US" sz="1600" dirty="0" err="1"/>
              <a:t>микроклимата</a:t>
            </a:r>
            <a:r>
              <a:rPr lang="en-US" sz="1600" dirty="0"/>
              <a:t>;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Нет</a:t>
            </a:r>
            <a:r>
              <a:rPr lang="en-US" sz="1600" dirty="0"/>
              <a:t> </a:t>
            </a:r>
            <a:r>
              <a:rPr lang="en-US" sz="1600" dirty="0" err="1"/>
              <a:t>возможности</a:t>
            </a:r>
            <a:r>
              <a:rPr lang="en-US" sz="1600" dirty="0"/>
              <a:t> </a:t>
            </a:r>
            <a:r>
              <a:rPr lang="en-US" sz="1600" dirty="0" err="1"/>
              <a:t>менять</a:t>
            </a:r>
            <a:r>
              <a:rPr lang="en-US" sz="1600" dirty="0"/>
              <a:t> </a:t>
            </a:r>
            <a:r>
              <a:rPr lang="en-US" sz="1600" dirty="0" err="1"/>
              <a:t>температуры</a:t>
            </a:r>
            <a:r>
              <a:rPr lang="en-US" sz="1600" dirty="0"/>
              <a:t> </a:t>
            </a:r>
            <a:r>
              <a:rPr lang="en-US" sz="1600" dirty="0" err="1"/>
              <a:t>для</a:t>
            </a:r>
            <a:r>
              <a:rPr lang="en-US" sz="1600" dirty="0"/>
              <a:t> </a:t>
            </a:r>
            <a:r>
              <a:rPr lang="en-US" sz="1600" dirty="0" err="1"/>
              <a:t>определенных</a:t>
            </a:r>
            <a:r>
              <a:rPr lang="en-US" sz="1600" dirty="0"/>
              <a:t> </a:t>
            </a:r>
            <a:r>
              <a:rPr lang="en-US" sz="1600" dirty="0" err="1"/>
              <a:t>сортов</a:t>
            </a:r>
            <a:r>
              <a:rPr lang="en-US" sz="1600" dirty="0"/>
              <a:t> </a:t>
            </a:r>
            <a:r>
              <a:rPr lang="en-US" sz="1600" dirty="0" err="1"/>
              <a:t>растений</a:t>
            </a:r>
            <a:r>
              <a:rPr lang="en-US" sz="1600" dirty="0"/>
              <a:t>;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Невозможность</a:t>
            </a:r>
            <a:r>
              <a:rPr lang="en-US" sz="1600" dirty="0"/>
              <a:t> </a:t>
            </a:r>
            <a:r>
              <a:rPr lang="en-US" sz="1600" dirty="0" err="1"/>
              <a:t>корректировки</a:t>
            </a:r>
            <a:r>
              <a:rPr lang="en-US" sz="1600" dirty="0"/>
              <a:t> </a:t>
            </a:r>
            <a:r>
              <a:rPr lang="en-US" sz="1600" dirty="0" err="1"/>
              <a:t>роста</a:t>
            </a:r>
            <a:r>
              <a:rPr lang="en-US" sz="1600" dirty="0"/>
              <a:t> </a:t>
            </a:r>
            <a:r>
              <a:rPr lang="en-US" sz="1600" dirty="0" err="1"/>
              <a:t>растений</a:t>
            </a:r>
            <a:r>
              <a:rPr lang="en-US" sz="1600" dirty="0"/>
              <a:t>;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Нет</a:t>
            </a:r>
            <a:r>
              <a:rPr lang="en-US" sz="1600" dirty="0"/>
              <a:t> </a:t>
            </a:r>
            <a:r>
              <a:rPr lang="en-US" sz="1600" dirty="0" err="1"/>
              <a:t>обработки</a:t>
            </a:r>
            <a:r>
              <a:rPr lang="en-US" sz="1600" dirty="0"/>
              <a:t> </a:t>
            </a:r>
            <a:r>
              <a:rPr lang="en-US" sz="1600" dirty="0" err="1"/>
              <a:t>изображений</a:t>
            </a:r>
            <a:r>
              <a:rPr lang="en-US" sz="1600" dirty="0"/>
              <a:t> </a:t>
            </a:r>
            <a:r>
              <a:rPr lang="en-US" sz="1600" dirty="0" err="1"/>
              <a:t>растений</a:t>
            </a:r>
            <a:r>
              <a:rPr lang="en-US" sz="1600" dirty="0"/>
              <a:t> </a:t>
            </a:r>
            <a:r>
              <a:rPr lang="en-US" sz="1600" dirty="0" err="1"/>
              <a:t>для</a:t>
            </a:r>
            <a:r>
              <a:rPr lang="en-US" sz="1600" dirty="0"/>
              <a:t> </a:t>
            </a:r>
            <a:r>
              <a:rPr lang="en-US" sz="1600" dirty="0" err="1"/>
              <a:t>определения</a:t>
            </a:r>
            <a:r>
              <a:rPr lang="en-US" sz="1600" dirty="0"/>
              <a:t> </a:t>
            </a:r>
            <a:r>
              <a:rPr lang="en-US" sz="1600" dirty="0" err="1"/>
              <a:t>этапов</a:t>
            </a:r>
            <a:r>
              <a:rPr lang="en-US" sz="1600" dirty="0"/>
              <a:t> </a:t>
            </a:r>
            <a:r>
              <a:rPr lang="en-US" sz="1600" dirty="0" err="1"/>
              <a:t>роста</a:t>
            </a:r>
            <a:r>
              <a:rPr lang="en-US" sz="1600" dirty="0"/>
              <a:t>.</a:t>
            </a:r>
          </a:p>
          <a:p>
            <a:pPr>
              <a:lnSpc>
                <a:spcPct val="110000"/>
              </a:lnSpc>
            </a:pPr>
            <a:r>
              <a:rPr lang="en-US" sz="1600" b="1" dirty="0" err="1"/>
              <a:t>Как</a:t>
            </a:r>
            <a:r>
              <a:rPr lang="en-US" sz="1600" b="1" dirty="0"/>
              <a:t> </a:t>
            </a:r>
            <a:r>
              <a:rPr lang="en-US" sz="1600" b="1" dirty="0" err="1"/>
              <a:t>станет</a:t>
            </a:r>
            <a:r>
              <a:rPr lang="en-US" sz="1600" b="1" dirty="0"/>
              <a:t> (TO-BE):</a:t>
            </a:r>
            <a:r>
              <a:rPr lang="en-US" sz="1600" dirty="0"/>
              <a:t> </a:t>
            </a:r>
            <a:r>
              <a:rPr lang="en-US" sz="1600" dirty="0" err="1"/>
              <a:t>Теплица</a:t>
            </a:r>
            <a:r>
              <a:rPr lang="en-US" sz="1600" dirty="0"/>
              <a:t> </a:t>
            </a:r>
            <a:r>
              <a:rPr lang="en-US" sz="1600" dirty="0" err="1"/>
              <a:t>сама</a:t>
            </a:r>
            <a:r>
              <a:rPr lang="en-US" sz="1600" dirty="0"/>
              <a:t> </a:t>
            </a:r>
            <a:r>
              <a:rPr lang="en-US" sz="1600" dirty="0" err="1"/>
              <a:t>регулирует</a:t>
            </a:r>
            <a:r>
              <a:rPr lang="en-US" sz="1600" dirty="0"/>
              <a:t> </a:t>
            </a:r>
            <a:r>
              <a:rPr lang="en-US" sz="1600" dirty="0" err="1"/>
              <a:t>параметры</a:t>
            </a:r>
            <a:r>
              <a:rPr lang="en-US" sz="1600" dirty="0"/>
              <a:t> </a:t>
            </a:r>
            <a:r>
              <a:rPr lang="en-US" sz="1600" dirty="0" err="1"/>
              <a:t>микроклимата</a:t>
            </a:r>
            <a:r>
              <a:rPr lang="en-US" sz="1600" dirty="0"/>
              <a:t> в </a:t>
            </a:r>
            <a:r>
              <a:rPr lang="en-US" sz="1600" dirty="0" err="1"/>
              <a:t>зависимости</a:t>
            </a:r>
            <a:r>
              <a:rPr lang="en-US" sz="1600" dirty="0"/>
              <a:t> </a:t>
            </a:r>
            <a:r>
              <a:rPr lang="en-US" sz="1600" dirty="0" err="1"/>
              <a:t>от</a:t>
            </a:r>
            <a:r>
              <a:rPr lang="en-US" sz="1600" dirty="0"/>
              <a:t> </a:t>
            </a:r>
            <a:r>
              <a:rPr lang="en-US" sz="1600" dirty="0" err="1"/>
              <a:t>типа</a:t>
            </a:r>
            <a:r>
              <a:rPr lang="en-US" sz="1600" dirty="0"/>
              <a:t> </a:t>
            </a:r>
            <a:r>
              <a:rPr lang="en-US" sz="1600" dirty="0" err="1"/>
              <a:t>растений</a:t>
            </a:r>
            <a:r>
              <a:rPr lang="en-US" sz="1600" dirty="0"/>
              <a:t> и </a:t>
            </a:r>
            <a:r>
              <a:rPr lang="en-US" sz="1600" dirty="0" err="1"/>
              <a:t>стадии</a:t>
            </a:r>
            <a:r>
              <a:rPr lang="en-US" sz="1600" dirty="0"/>
              <a:t> </a:t>
            </a:r>
            <a:r>
              <a:rPr lang="en-US" sz="1600" dirty="0" err="1"/>
              <a:t>роста</a:t>
            </a:r>
            <a:r>
              <a:rPr lang="en-US" sz="1600" dirty="0"/>
              <a:t>. </a:t>
            </a:r>
            <a:r>
              <a:rPr lang="en-US" sz="1600" dirty="0" err="1"/>
              <a:t>Агроном</a:t>
            </a:r>
            <a:r>
              <a:rPr lang="en-US" sz="1600" dirty="0"/>
              <a:t> </a:t>
            </a:r>
            <a:r>
              <a:rPr lang="en-US" sz="1600" dirty="0" err="1"/>
              <a:t>управляет</a:t>
            </a:r>
            <a:r>
              <a:rPr lang="en-US" sz="1600" dirty="0"/>
              <a:t> </a:t>
            </a:r>
            <a:r>
              <a:rPr lang="en-US" sz="1600" dirty="0" err="1"/>
              <a:t>удалённо</a:t>
            </a:r>
            <a:r>
              <a:rPr lang="en-US" sz="1600" dirty="0"/>
              <a:t> </a:t>
            </a:r>
            <a:r>
              <a:rPr lang="en-US" sz="1600" dirty="0" err="1"/>
              <a:t>через</a:t>
            </a:r>
            <a:r>
              <a:rPr lang="en-US" sz="1600" dirty="0"/>
              <a:t> </a:t>
            </a:r>
            <a:r>
              <a:rPr lang="en-US" sz="1600" dirty="0" err="1"/>
              <a:t>веб-интерфейс</a:t>
            </a:r>
            <a:r>
              <a:rPr lang="en-US" sz="1600" dirty="0"/>
              <a:t>.</a:t>
            </a:r>
          </a:p>
          <a:p>
            <a:pPr>
              <a:lnSpc>
                <a:spcPct val="110000"/>
              </a:lnSpc>
            </a:pPr>
            <a:endParaRPr lang="en-US" sz="1100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0249902-6C42-4139-A46F-ADF022B8C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275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86B28-89BC-F129-B0C9-AAB17E57A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5"/>
            <a:ext cx="9905999" cy="965697"/>
          </a:xfrm>
        </p:spPr>
        <p:txBody>
          <a:bodyPr>
            <a:noAutofit/>
          </a:bodyPr>
          <a:lstStyle/>
          <a:p>
            <a:r>
              <a:rPr lang="en-US" sz="3100" dirty="0"/>
              <a:t>Практическая работа №1: </a:t>
            </a:r>
            <a:r>
              <a:rPr lang="ru-RU" sz="3100" dirty="0"/>
              <a:t>Процессы автоматизации и функциональная структура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57B4E7-2F03-A7FD-7A2D-38A83B994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201711"/>
            <a:ext cx="4195916" cy="3783354"/>
          </a:xfrm>
        </p:spPr>
        <p:txBody>
          <a:bodyPr numCol="2">
            <a:normAutofit fontScale="55000" lnSpcReduction="20000"/>
          </a:bodyPr>
          <a:lstStyle/>
          <a:p>
            <a:pPr marL="0" indent="0">
              <a:buNone/>
            </a:pPr>
            <a:r>
              <a:rPr lang="ru-RU" sz="3300" b="1" dirty="0"/>
              <a:t>Автоматизации подлежат:</a:t>
            </a:r>
            <a:endParaRPr lang="ru-RU" sz="3300" dirty="0"/>
          </a:p>
          <a:p>
            <a:r>
              <a:rPr lang="ru-RU" sz="2600" dirty="0"/>
              <a:t>Измерение температуры воздуха и почвы в разных зонах оранжереи</a:t>
            </a:r>
          </a:p>
          <a:p>
            <a:r>
              <a:rPr lang="ru-RU" sz="2600" dirty="0"/>
              <a:t>Сравнение с заданными уставками (по типу растений и стадии роста)</a:t>
            </a:r>
          </a:p>
          <a:p>
            <a:r>
              <a:rPr lang="ru-RU" sz="2600" dirty="0"/>
              <a:t>Автоматическое включение/отключение обогревателей, вентиляции,</a:t>
            </a:r>
            <a:r>
              <a:rPr lang="en-US" sz="2600" dirty="0"/>
              <a:t> </a:t>
            </a:r>
            <a:r>
              <a:rPr lang="ru-RU" sz="2600" dirty="0"/>
              <a:t>затенения, форточек</a:t>
            </a:r>
          </a:p>
          <a:p>
            <a:r>
              <a:rPr lang="ru-RU" sz="2600" dirty="0"/>
              <a:t>Визуальный контроль состояния растений через камеры</a:t>
            </a:r>
          </a:p>
          <a:p>
            <a:r>
              <a:rPr lang="ru-RU" sz="2600" dirty="0"/>
              <a:t>Регистрация и архивирование параметров микроклимата</a:t>
            </a:r>
          </a:p>
          <a:p>
            <a:r>
              <a:rPr lang="ru-RU" sz="2600" dirty="0"/>
              <a:t>Удалённый мониторинг через интерфейс оператора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009D75-429F-2E92-389F-CFB5FF06DDCB}"/>
              </a:ext>
            </a:extLst>
          </p:cNvPr>
          <p:cNvSpPr txBox="1"/>
          <p:nvPr/>
        </p:nvSpPr>
        <p:spPr>
          <a:xfrm>
            <a:off x="5515896" y="2201710"/>
            <a:ext cx="54470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Логическая структура АСУ (5 подсистем):</a:t>
            </a:r>
            <a:endParaRPr lang="ru-RU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Измерение и контроль (датчики)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Управление исполнительными механизмами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Техническое зрение (камеры) 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Хранение и архивирование (БД)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Человеко-машинный интерфейс (SCADA/HMI)</a:t>
            </a:r>
          </a:p>
        </p:txBody>
      </p:sp>
    </p:spTree>
    <p:extLst>
      <p:ext uri="{BB962C8B-B14F-4D97-AF65-F5344CB8AC3E}">
        <p14:creationId xmlns:p14="http://schemas.microsoft.com/office/powerpoint/2010/main" val="2560475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BEA1A24-9CA1-4513-A409-3AD90DB09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97CC3-81E7-C094-E0AE-717938EB4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370" y="340493"/>
            <a:ext cx="8689571" cy="1001886"/>
          </a:xfrm>
        </p:spPr>
        <p:txBody>
          <a:bodyPr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ru-RU" sz="3100" dirty="0"/>
              <a:t>Практическая работа №2: Функциональные требования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C0930BD-361E-4C4D-8B08-ED210DFA2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A48D2417-7BB4-AC95-2BA0-E1BAB946E7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3424171"/>
              </p:ext>
            </p:extLst>
          </p:nvPr>
        </p:nvGraphicFramePr>
        <p:xfrm>
          <a:off x="1143000" y="1682873"/>
          <a:ext cx="9906002" cy="4333689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395112">
                  <a:extLst>
                    <a:ext uri="{9D8B030D-6E8A-4147-A177-3AD203B41FA5}">
                      <a16:colId xmlns:a16="http://schemas.microsoft.com/office/drawing/2014/main" val="185608442"/>
                    </a:ext>
                  </a:extLst>
                </a:gridCol>
                <a:gridCol w="5387690">
                  <a:extLst>
                    <a:ext uri="{9D8B030D-6E8A-4147-A177-3AD203B41FA5}">
                      <a16:colId xmlns:a16="http://schemas.microsoft.com/office/drawing/2014/main" val="1318469265"/>
                    </a:ext>
                  </a:extLst>
                </a:gridCol>
                <a:gridCol w="4123200">
                  <a:extLst>
                    <a:ext uri="{9D8B030D-6E8A-4147-A177-3AD203B41FA5}">
                      <a16:colId xmlns:a16="http://schemas.microsoft.com/office/drawing/2014/main" val="1619327295"/>
                    </a:ext>
                  </a:extLst>
                </a:gridCol>
              </a:tblGrid>
              <a:tr h="3366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000" b="1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№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000" b="1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Функциональные требования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000" b="1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Источник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565147"/>
                  </a:ext>
                </a:extLst>
              </a:tr>
              <a:tr h="454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Система должна обеспечивать автоматический сбор данных с датчиков температуры воздуха (не менее 2 датчиков на отделение)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SCADA TRACE MODE (внедрена на Агрокомбинате «Московский»)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433707"/>
                  </a:ext>
                </a:extLst>
              </a:tr>
              <a:tr h="2813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ru-RU" sz="1000" b="1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Система должна измерять влажность воздуха в каждой климатической зоне оранжереи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SCADA TRACE MODE (внедрена на Агрокомбинате «Московский»)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989461"/>
                  </a:ext>
                </a:extLst>
              </a:tr>
              <a:tr h="454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Система должна получать данные с локальной метеостанции (температура наружного воздуха, направление и скорость ветра)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SCADA TRACE MODE (внедрена на Агрокомбинате «Московский»)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108729"/>
                  </a:ext>
                </a:extLst>
              </a:tr>
              <a:tr h="454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Система должна измерять температуру теплоносителя на входе и выходе из каждого отделения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SCADA TRACE MODE (внедрена на Агрокомбинате «Московский»)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321962"/>
                  </a:ext>
                </a:extLst>
              </a:tr>
              <a:tr h="2813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Система должна измерять давление воды системы отопления на входе и выходе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SCADA TRACE MODE (внедрена на Агрокомбинате «Московский»)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107141"/>
                  </a:ext>
                </a:extLst>
              </a:tr>
              <a:tr h="454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Система должна управлять системами обогрева (подпочвенный, надпочвенный, зональный, кровельный)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"Умная теплица" (НПО "АвтоматикА")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357926"/>
                  </a:ext>
                </a:extLst>
              </a:tr>
              <a:tr h="4263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Система должна управлять форточками (фрамугами) с учётом направления и скорости ветра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"Умная теплица" (НПО "АвтоматикА")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359775"/>
                  </a:ext>
                </a:extLst>
              </a:tr>
              <a:tr h="2813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Система должна обеспечивать ПИД-регулирование температуры воздуха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SCADA TRACE MODE (внедрена на Агрокомбинате «Московский»)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62731"/>
                  </a:ext>
                </a:extLst>
              </a:tr>
              <a:tr h="454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Система должна включать системы обогрева в иерархическом порядке (надпочвенный → зональный → кровельный при недостаточности предыдущего)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"Умная теплица" (НПО "АвтоматикА")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49783"/>
                  </a:ext>
                </a:extLst>
              </a:tr>
              <a:tr h="454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Система должна управлять рециркуляционными вентиляторами для обеспечения равномерного распределения тепла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"Умная теплица" (НПО "</a:t>
                      </a:r>
                      <a:r>
                        <a:rPr lang="ru-RU" sz="1000" kern="100" cap="none" spc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АвтоматикА</a:t>
                      </a: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")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034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0298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6348CE-22BA-9D95-D927-28F1D937B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801C69F-AC22-ADE7-FFBA-0C8BCF5B8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9CF721-8EF9-1639-D059-4388A75FB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370" y="404744"/>
            <a:ext cx="8689571" cy="1001886"/>
          </a:xfrm>
        </p:spPr>
        <p:txBody>
          <a:bodyPr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ru-RU" sz="3100"/>
              <a:t>Практическая работа №2: Функциональные требования</a:t>
            </a:r>
            <a:endParaRPr lang="ru-RU" sz="310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528BEDF-2F79-2F1C-8DFE-BD91D22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A2B56D8-51D1-9C85-AD03-047023F142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1530701"/>
              </p:ext>
            </p:extLst>
          </p:nvPr>
        </p:nvGraphicFramePr>
        <p:xfrm>
          <a:off x="1142999" y="1527437"/>
          <a:ext cx="9906002" cy="4374069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395112">
                  <a:extLst>
                    <a:ext uri="{9D8B030D-6E8A-4147-A177-3AD203B41FA5}">
                      <a16:colId xmlns:a16="http://schemas.microsoft.com/office/drawing/2014/main" val="185608442"/>
                    </a:ext>
                  </a:extLst>
                </a:gridCol>
                <a:gridCol w="5387690">
                  <a:extLst>
                    <a:ext uri="{9D8B030D-6E8A-4147-A177-3AD203B41FA5}">
                      <a16:colId xmlns:a16="http://schemas.microsoft.com/office/drawing/2014/main" val="1318469265"/>
                    </a:ext>
                  </a:extLst>
                </a:gridCol>
                <a:gridCol w="4123200">
                  <a:extLst>
                    <a:ext uri="{9D8B030D-6E8A-4147-A177-3AD203B41FA5}">
                      <a16:colId xmlns:a16="http://schemas.microsoft.com/office/drawing/2014/main" val="1619327295"/>
                    </a:ext>
                  </a:extLst>
                </a:gridCol>
              </a:tblGrid>
              <a:tr h="18471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000" b="1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№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000" b="1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Функциональные требования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000" b="1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Источник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565147"/>
                  </a:ext>
                </a:extLst>
              </a:tr>
              <a:tr h="3011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Система должна управлять системой зашторивания (затенения) для регулировки солнечной радиации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"Умная теплица" (НПО "АвтоматикА")</a:t>
                      </a:r>
                      <a:endParaRPr lang="ru-RU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433707"/>
                  </a:ext>
                </a:extLst>
              </a:tr>
              <a:tr h="157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12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4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Система должна управлять электродосвечиванием растений</a:t>
                      </a:r>
                      <a:endParaRPr lang="ru-RU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"Умная теплица" (НПО "АвтоматикА")</a:t>
                      </a:r>
                      <a:endParaRPr lang="ru-RU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989461"/>
                  </a:ext>
                </a:extLst>
              </a:tr>
              <a:tr h="3011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13</a:t>
                      </a: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Система должна управлять системой CO₂ для интенсификации фотосинтеза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SCADA TRACE MODE (внедрена на Агрокомбинате «Московский»)</a:t>
                      </a:r>
                      <a:endParaRPr lang="ru-RU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108729"/>
                  </a:ext>
                </a:extLst>
              </a:tr>
              <a:tr h="214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Система должна обеспечивать управление поливом растений</a:t>
                      </a:r>
                      <a:endParaRPr lang="ru-RU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"Умная теплица" (НПО "АвтоматикА")</a:t>
                      </a:r>
                      <a:endParaRPr lang="ru-RU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321962"/>
                  </a:ext>
                </a:extLst>
              </a:tr>
              <a:tr h="3275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15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4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Система должна архивировать значения температуры воздуха за последние 24 часа в графической форме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"Умная теплица" (НПО "АвтоматикА")</a:t>
                      </a:r>
                      <a:endParaRPr lang="ru-RU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107141"/>
                  </a:ext>
                </a:extLst>
              </a:tr>
              <a:tr h="451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Система должна защищать систему подпочвенного обогрева от перегрева (автоматическое отключение насоса и закрытие клапана при превышении заданной температуры на 10°С)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"Умная теплица" (НПО "АвтоматикА")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357926"/>
                  </a:ext>
                </a:extLst>
              </a:tr>
              <a:tr h="3011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Система должна обеспечивать дискретное управление задвижками отопления и фрамугами для каждого отделения</a:t>
                      </a:r>
                      <a:endParaRPr lang="ru-RU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SCADA TRACE MODE (внедрена на Агрокомбинате «Московский»)</a:t>
                      </a:r>
                      <a:endParaRPr lang="ru-RU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359775"/>
                  </a:ext>
                </a:extLst>
              </a:tr>
              <a:tr h="3011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Система должна регистрировать и сохранять суммарную солнечную радиацию (для анализа фотосинтеза)</a:t>
                      </a:r>
                      <a:endParaRPr lang="ru-RU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SCADA TRACE MODE (внедрена на Агрокомбинате «Московский»)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62731"/>
                  </a:ext>
                </a:extLst>
              </a:tr>
              <a:tr h="3011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Система должна обеспечивать возможность накопления статистики с выдачей рекомендаций по режимам выращивания</a:t>
                      </a:r>
                      <a:endParaRPr lang="ru-RU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SCADA TRACE MODE (внедрена на Агрокомбинате «Московский»)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49783"/>
                  </a:ext>
                </a:extLst>
              </a:tr>
              <a:tr h="3011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23299" marR="3178" marT="6657" marB="499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Система должна управлять тепловым узлом (регулирование температуры теплоносителя для систем обогрева)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"Умная теплица" (НПО "</a:t>
                      </a:r>
                      <a:r>
                        <a:rPr lang="ru-RU" sz="140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АвтоматикА</a:t>
                      </a: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")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034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0816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76C443-10F6-D36B-9E15-533F92C8B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3BEA1A24-9CA1-4513-A409-3AD90DB09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C2CF91-B2F6-E5A9-80FD-FFD01AA53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214" y="385079"/>
            <a:ext cx="8689571" cy="873450"/>
          </a:xfrm>
        </p:spPr>
        <p:txBody>
          <a:bodyPr anchor="b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ru-RU" sz="3100" dirty="0"/>
              <a:t>Практическая работа №2: Нефункциональные требования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C0930BD-361E-4C4D-8B08-ED210DFA2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6B23EBB-77EF-910C-9D46-8A7DF0E464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5393862"/>
              </p:ext>
            </p:extLst>
          </p:nvPr>
        </p:nvGraphicFramePr>
        <p:xfrm>
          <a:off x="1143000" y="1465006"/>
          <a:ext cx="9906001" cy="4795765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471714">
                  <a:extLst>
                    <a:ext uri="{9D8B030D-6E8A-4147-A177-3AD203B41FA5}">
                      <a16:colId xmlns:a16="http://schemas.microsoft.com/office/drawing/2014/main" val="185608442"/>
                    </a:ext>
                  </a:extLst>
                </a:gridCol>
                <a:gridCol w="4894982">
                  <a:extLst>
                    <a:ext uri="{9D8B030D-6E8A-4147-A177-3AD203B41FA5}">
                      <a16:colId xmlns:a16="http://schemas.microsoft.com/office/drawing/2014/main" val="1318469265"/>
                    </a:ext>
                  </a:extLst>
                </a:gridCol>
                <a:gridCol w="4539305">
                  <a:extLst>
                    <a:ext uri="{9D8B030D-6E8A-4147-A177-3AD203B41FA5}">
                      <a16:colId xmlns:a16="http://schemas.microsoft.com/office/drawing/2014/main" val="1619327295"/>
                    </a:ext>
                  </a:extLst>
                </a:gridCol>
              </a:tblGrid>
              <a:tr h="25640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b="1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№</a:t>
                      </a:r>
                      <a:endParaRPr lang="ru-RU" sz="11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5290" marR="2086" marT="4369" marB="32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b="1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Нефункциональные требования</a:t>
                      </a:r>
                      <a:endParaRPr lang="ru-RU" sz="11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5290" marR="2086" marT="4369" marB="32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b="1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Источник</a:t>
                      </a:r>
                      <a:endParaRPr lang="ru-RU" sz="1100" b="1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5290" marR="2086" marT="4369" marB="32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565147"/>
                  </a:ext>
                </a:extLst>
              </a:tr>
              <a:tr h="596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1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1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SCADA-система должна быть способна работать на отечественном программном обеспечении (TRACE MODE или аналог) в рамках политики импортозамещения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Постановление Правительства РФ № 325-ФЗ "О промышленной политике", ФЗ № 188-ФЗ "Об импортозамещении"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433707"/>
                  </a:ext>
                </a:extLst>
              </a:tr>
              <a:tr h="4037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2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Система должна соответствовать требованиям Ростехнадзора для объектов, подконтрольных надзорным органам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Нормативные документы Ростехнадзора по построению систем технологических защит и защитных блокировок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989461"/>
                  </a:ext>
                </a:extLst>
              </a:tr>
              <a:tr h="4037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1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3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Контроллеры должны быть совместимы со стандартами IEC 61131-3 и IEC 614999 для программирования (языки: LD, FBD, ST, IL, SFC)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Нормативные документы Ростехнадзора по построению систем технологических защит и защитных блокировок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108729"/>
                  </a:ext>
                </a:extLst>
              </a:tr>
              <a:tr h="4037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4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Система должна обеспечивать передачу данных в СУБД через интерфейс ODBC для документирования процесса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ГОСТ Р МЭК 61131-3-2016 "Контроллеры программируемые. Языки программирования"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321962"/>
                  </a:ext>
                </a:extLst>
              </a:tr>
              <a:tr h="4037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5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Аппаратная часть должна быть адаптирована к российским условиям эксплуатации (диапазон температур для неотапливаемых помещений от -10°C до +50°C)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ГОСТ Р 52931-2008 "Приборы контроля и регулирования технологических процессов. Общие технические условия" 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107141"/>
                  </a:ext>
                </a:extLst>
              </a:tr>
              <a:tr h="4037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6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Оборудование УСО (устройств связи с объектом) должно быть отечественного производства для ответственных применений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Стандарты организаций по построению АСУ ТП с учетом политики импортозамещения в промышленности и энергетике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357926"/>
                  </a:ext>
                </a:extLst>
              </a:tr>
              <a:tr h="4037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7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SCADA-система должна иметь лицензию на необходимое количество точек ввода-вывода (не менее 32000 для масштабирования)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Технические требования к АСУ ТП крупных агрокомбинатов (12-й блок АК "Московский" — 32000 точек)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359775"/>
                  </a:ext>
                </a:extLst>
              </a:tr>
              <a:tr h="4037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8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Система должна иметь простой и интуитивно понятный интерфейс для оперативного персонала с минимальным временем обучения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ГОСТ 34.602-2020 "Техническое задание на создание автоматизированной системы" (раздел "Требования к эргономике")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62731"/>
                  </a:ext>
                </a:extLst>
              </a:tr>
              <a:tr h="4037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9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Система должна обеспечивать время реакции на отклонение параметров не более заданного порога (отклонение температуры для форточек — настраиваемая дельта)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ГОСТ Р МЭК 60870-5-104-2004 "Устройства и системы телемеханики" (требования к времени доставки сообщений)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49783"/>
                  </a:ext>
                </a:extLst>
              </a:tr>
              <a:tr h="4037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10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1263650" algn="l"/>
                        </a:tabLst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Система должна быть масштабируемой: от управления одним блоком до корпоративной системы всего агрокомбината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ГОСТ Р 55061-2012 "Автоматизированные системы управления технологическими процессами. Масштабируемость"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007" marR="450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034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5698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F98755-6D4D-A752-1B4E-C3A1A58CB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3BEA1A24-9CA1-4513-A409-3AD90DB09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53C7C8-2AEC-6A50-29B4-036FFCB7A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214" y="343161"/>
            <a:ext cx="8689571" cy="1001886"/>
          </a:xfrm>
        </p:spPr>
        <p:txBody>
          <a:bodyPr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ru-RU" sz="3100" dirty="0"/>
              <a:t>Практическая работа №2: Нефункциональные требования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C0930BD-361E-4C4D-8B08-ED210DFA2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3B685CD-3E49-EB66-8A74-48EF8F575C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8161144"/>
              </p:ext>
            </p:extLst>
          </p:nvPr>
        </p:nvGraphicFramePr>
        <p:xfrm>
          <a:off x="1143000" y="1502229"/>
          <a:ext cx="9906001" cy="4738252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526011">
                  <a:extLst>
                    <a:ext uri="{9D8B030D-6E8A-4147-A177-3AD203B41FA5}">
                      <a16:colId xmlns:a16="http://schemas.microsoft.com/office/drawing/2014/main" val="185608442"/>
                    </a:ext>
                  </a:extLst>
                </a:gridCol>
                <a:gridCol w="4689995">
                  <a:extLst>
                    <a:ext uri="{9D8B030D-6E8A-4147-A177-3AD203B41FA5}">
                      <a16:colId xmlns:a16="http://schemas.microsoft.com/office/drawing/2014/main" val="1318469265"/>
                    </a:ext>
                  </a:extLst>
                </a:gridCol>
                <a:gridCol w="4689995">
                  <a:extLst>
                    <a:ext uri="{9D8B030D-6E8A-4147-A177-3AD203B41FA5}">
                      <a16:colId xmlns:a16="http://schemas.microsoft.com/office/drawing/2014/main" val="1619327295"/>
                    </a:ext>
                  </a:extLst>
                </a:gridCol>
              </a:tblGrid>
              <a:tr h="24856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b="1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№</a:t>
                      </a:r>
                      <a:endParaRPr lang="ru-RU" sz="1100" b="1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0164" marR="1387" marT="2904" marB="21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b="1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Нефункциональные требования</a:t>
                      </a:r>
                      <a:endParaRPr lang="ru-RU" sz="1100" b="1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0164" marR="1387" marT="2904" marB="21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b="1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Источник</a:t>
                      </a:r>
                      <a:endParaRPr lang="ru-RU" sz="1100" b="1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0164" marR="1387" marT="2904" marB="21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565147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11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Контроллеры должны поддерживать работу с распределенными модулями ввода-вывода серии Advantech 5000 или отечественными аналогами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Требования к совместимости оборудования АСУ ТП (опыт АК "Московский" с распределенными УСО)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433707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12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Система должна обеспечивать возможность тест-драйва перед внедрением для проверки функциональности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ГОСТ 34.603-2020 "Виды испытаний автоматизированных систем" (предпусковая отработка)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989461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13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Время выполнения модернизации системы (реконструкции) не должно превышать 2 рабочих дней для критических объектов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Опыт реконструкции "Умной теплицы" в Сысерти (НПО "АвтоматикА" за 2 дня)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108729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14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Система должна поддерживать формирование отчетов о параметрах микроклимата с помощью специализированного генератора отчетов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ГОСТ Р ИСО/МЭК 25051-2017 "Требования к качеству программного продукта"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321962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15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Точность поддержания температуры воздуха должна позволять реализацию научных методов выращивания растений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Требования агрономической службы Агрокомбината "Московский" к качеству температурного контроля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107141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16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Система должна быть гибкой и легко адаптироваться к новому оборудованию и изменениям технологии выращивания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ГОСТ 34.601-2020 "Автоматизированные системы. Стадии создания" (требования к модифицируемости)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357926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17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Система должна стоить не дороже импортных аналогов при сопоставимой функциональности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Технико-экономическое обоснование при выборе SCADA-системы (TRACE MODE vs зарубежные климат-компьютеры)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359775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18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Система должна обеспечивать согласованную работу систем обогрева и вентиляции (исключение их одновременной работы в штатном режиме)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Алгоритмы согласованного управления (опыт НПО "АвтоматикА" с дельтой температуры для форточек)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62731"/>
                  </a:ext>
                </a:extLst>
              </a:tr>
              <a:tr h="5694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19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Система должна обеспечивать защиту от несанкционированного доступа к настройкам и архивным данным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ГОСТ Р 56545-2015 "Защита информации. Правила разработки безопасного ПО"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49783"/>
                  </a:ext>
                </a:extLst>
              </a:tr>
              <a:tr h="5694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20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Период хранения архива параметров микроклимата должен позволять анализ условий выращивания за длительный срок (не менее 1 года)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1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Times New Roman" panose="02020603050405020304" pitchFamily="18" charset="0"/>
                        </a:rPr>
                        <a:t>Агрокомбинат "Московский": возможность просмотра параметров "день назад, неделю, месяц" с накоплением статистики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45589" marR="45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034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5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AC04A4-9071-418F-15EB-BE08005C9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Практическая работа №3: Архитектура модулей АСУ и ролевой доступ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2543EE-4CB3-6448-D9FA-F7AE0B91D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332026"/>
            <a:ext cx="3871913" cy="3653039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Модули проектируемой АСУ ТП</a:t>
            </a:r>
          </a:p>
          <a:p>
            <a:r>
              <a:rPr lang="ru-RU" dirty="0"/>
              <a:t>Мониторинг и визуализация параметров</a:t>
            </a:r>
          </a:p>
          <a:p>
            <a:r>
              <a:rPr lang="ru-RU" dirty="0"/>
              <a:t>Управления исполнительными механизмами</a:t>
            </a:r>
          </a:p>
          <a:p>
            <a:r>
              <a:rPr lang="ru-RU" dirty="0"/>
              <a:t>Администрирование, логирование и отчетность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35125936-84D4-0790-F4C4-EE7173EAFD5E}"/>
              </a:ext>
            </a:extLst>
          </p:cNvPr>
          <p:cNvSpPr txBox="1">
            <a:spLocks/>
          </p:cNvSpPr>
          <p:nvPr/>
        </p:nvSpPr>
        <p:spPr>
          <a:xfrm>
            <a:off x="6948489" y="2332026"/>
            <a:ext cx="3871913" cy="3653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0292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Ролевой доступ</a:t>
            </a:r>
          </a:p>
          <a:p>
            <a:r>
              <a:rPr lang="ru-RU" dirty="0"/>
              <a:t>Оператор </a:t>
            </a:r>
            <a:r>
              <a:rPr lang="en-US" dirty="0"/>
              <a:t>/ </a:t>
            </a:r>
            <a:r>
              <a:rPr lang="ru-RU" dirty="0"/>
              <a:t>агроном</a:t>
            </a:r>
          </a:p>
          <a:p>
            <a:r>
              <a:rPr lang="ru-RU" dirty="0"/>
              <a:t>Начальник цеха</a:t>
            </a:r>
          </a:p>
          <a:p>
            <a:r>
              <a:rPr lang="ru-RU" dirty="0"/>
              <a:t>Инженер-технолог</a:t>
            </a:r>
          </a:p>
          <a:p>
            <a:r>
              <a:rPr lang="ru-RU" dirty="0"/>
              <a:t>Администратор </a:t>
            </a:r>
            <a:r>
              <a:rPr lang="en-US" dirty="0"/>
              <a:t>SCADA</a:t>
            </a:r>
          </a:p>
          <a:p>
            <a:r>
              <a:rPr lang="ru-RU" dirty="0"/>
              <a:t>Обслуживающий персонал(КИПиА)</a:t>
            </a:r>
          </a:p>
        </p:txBody>
      </p:sp>
    </p:spTree>
    <p:extLst>
      <p:ext uri="{BB962C8B-B14F-4D97-AF65-F5344CB8AC3E}">
        <p14:creationId xmlns:p14="http://schemas.microsoft.com/office/powerpoint/2010/main" val="772036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8">
            <a:extLst>
              <a:ext uri="{FF2B5EF4-FFF2-40B4-BE49-F238E27FC236}">
                <a16:creationId xmlns:a16="http://schemas.microsoft.com/office/drawing/2014/main" id="{5D3B97D3-3894-4963-90C5-4EAA66131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FD04F7-7E7C-B609-9E65-27D72007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873" y="872935"/>
            <a:ext cx="6577332" cy="1360898"/>
          </a:xfrm>
        </p:spPr>
        <p:txBody>
          <a:bodyPr>
            <a:normAutofit/>
          </a:bodyPr>
          <a:lstStyle/>
          <a:p>
            <a:r>
              <a:rPr lang="ru-RU" sz="3200"/>
              <a:t>Практическая работа №3: модуль 1 - Мониторинг и визуализация</a:t>
            </a:r>
            <a:endParaRPr lang="ru-RU" sz="3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791E0BC-8529-7118-230C-5418DD301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20" y="633102"/>
            <a:ext cx="4998650" cy="5745575"/>
          </a:xfrm>
          <a:prstGeom prst="rect">
            <a:avLst/>
          </a:prstGeom>
        </p:spPr>
      </p:pic>
      <p:graphicFrame>
        <p:nvGraphicFramePr>
          <p:cNvPr id="11" name="Объект 2">
            <a:extLst>
              <a:ext uri="{FF2B5EF4-FFF2-40B4-BE49-F238E27FC236}">
                <a16:creationId xmlns:a16="http://schemas.microsoft.com/office/drawing/2014/main" id="{5C29A0E5-988B-DE51-D282-5906364C592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50872" y="2332026"/>
          <a:ext cx="6577333" cy="38401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81059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7AB4C5-0719-4E35-87CD-199EB59E3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F51EE1E-6258-4F09-963A-853315C6F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1127553" y="-1127553"/>
            <a:ext cx="6858000" cy="9113106"/>
          </a:xfrm>
          <a:custGeom>
            <a:avLst/>
            <a:gdLst>
              <a:gd name="connsiteX0" fmla="*/ 0 w 6858000"/>
              <a:gd name="connsiteY0" fmla="*/ 7143270 h 9113106"/>
              <a:gd name="connsiteX1" fmla="*/ 0 w 6858000"/>
              <a:gd name="connsiteY1" fmla="*/ 6878623 h 9113106"/>
              <a:gd name="connsiteX2" fmla="*/ 1 w 6858000"/>
              <a:gd name="connsiteY2" fmla="*/ 6878623 h 9113106"/>
              <a:gd name="connsiteX3" fmla="*/ 0 w 6858000"/>
              <a:gd name="connsiteY3" fmla="*/ 4319945 h 9113106"/>
              <a:gd name="connsiteX4" fmla="*/ 1 w 6858000"/>
              <a:gd name="connsiteY4" fmla="*/ 4319945 h 9113106"/>
              <a:gd name="connsiteX5" fmla="*/ 1 w 6858000"/>
              <a:gd name="connsiteY5" fmla="*/ 13542 h 9113106"/>
              <a:gd name="connsiteX6" fmla="*/ 0 w 6858000"/>
              <a:gd name="connsiteY6" fmla="*/ 13540 h 9113106"/>
              <a:gd name="connsiteX7" fmla="*/ 0 w 6858000"/>
              <a:gd name="connsiteY7" fmla="*/ 0 h 9113106"/>
              <a:gd name="connsiteX8" fmla="*/ 6858000 w 6858000"/>
              <a:gd name="connsiteY8" fmla="*/ 6010591 h 9113106"/>
              <a:gd name="connsiteX9" fmla="*/ 6858000 w 6858000"/>
              <a:gd name="connsiteY9" fmla="*/ 3794798 h 9113106"/>
              <a:gd name="connsiteX10" fmla="*/ 6858000 w 6858000"/>
              <a:gd name="connsiteY10" fmla="*/ 3794798 h 9113106"/>
              <a:gd name="connsiteX11" fmla="*/ 6858000 w 6858000"/>
              <a:gd name="connsiteY11" fmla="*/ 3837120 h 9113106"/>
              <a:gd name="connsiteX12" fmla="*/ 6858000 w 6858000"/>
              <a:gd name="connsiteY12" fmla="*/ 6838049 h 9113106"/>
              <a:gd name="connsiteX13" fmla="*/ 6858000 w 6858000"/>
              <a:gd name="connsiteY13" fmla="*/ 9113106 h 9113106"/>
              <a:gd name="connsiteX14" fmla="*/ 1 w 6858000"/>
              <a:gd name="connsiteY14" fmla="*/ 9113106 h 9113106"/>
              <a:gd name="connsiteX15" fmla="*/ 1 w 6858000"/>
              <a:gd name="connsiteY15" fmla="*/ 7143270 h 9113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9113106">
                <a:moveTo>
                  <a:pt x="0" y="7143270"/>
                </a:moveTo>
                <a:lnTo>
                  <a:pt x="0" y="6878623"/>
                </a:lnTo>
                <a:lnTo>
                  <a:pt x="1" y="6878623"/>
                </a:lnTo>
                <a:lnTo>
                  <a:pt x="0" y="4319945"/>
                </a:lnTo>
                <a:lnTo>
                  <a:pt x="1" y="4319945"/>
                </a:lnTo>
                <a:lnTo>
                  <a:pt x="1" y="13542"/>
                </a:lnTo>
                <a:lnTo>
                  <a:pt x="0" y="13540"/>
                </a:lnTo>
                <a:lnTo>
                  <a:pt x="0" y="0"/>
                </a:lnTo>
                <a:lnTo>
                  <a:pt x="6858000" y="6010591"/>
                </a:lnTo>
                <a:lnTo>
                  <a:pt x="6858000" y="3794798"/>
                </a:lnTo>
                <a:lnTo>
                  <a:pt x="6858000" y="3794798"/>
                </a:lnTo>
                <a:lnTo>
                  <a:pt x="6858000" y="3837120"/>
                </a:lnTo>
                <a:lnTo>
                  <a:pt x="6858000" y="6838049"/>
                </a:lnTo>
                <a:lnTo>
                  <a:pt x="6858000" y="9113106"/>
                </a:lnTo>
                <a:lnTo>
                  <a:pt x="1" y="9113106"/>
                </a:lnTo>
                <a:lnTo>
                  <a:pt x="1" y="714327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D2B671-1592-ECD6-0F89-86B0DF922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061" y="872935"/>
            <a:ext cx="10827818" cy="136089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800" dirty="0"/>
              <a:t>Практическая работа №3: Модуль 2 - Управление исполнительными механизмами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8BA2E6-9B5B-30F1-2389-711D17F8D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334" y="2332029"/>
            <a:ext cx="5567545" cy="356711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FA07B03-7E5B-4F33-A494-D72BC5BEB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2C69728D-E6EB-1A8D-AA85-0433CC17B1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2272471"/>
              </p:ext>
            </p:extLst>
          </p:nvPr>
        </p:nvGraphicFramePr>
        <p:xfrm>
          <a:off x="1069061" y="2332029"/>
          <a:ext cx="4953000" cy="35671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66664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9F2A68-217C-C7DA-AEF4-C1DAFF7F4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327AB4C5-0719-4E35-87CD-199EB59E3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2">
            <a:extLst>
              <a:ext uri="{FF2B5EF4-FFF2-40B4-BE49-F238E27FC236}">
                <a16:creationId xmlns:a16="http://schemas.microsoft.com/office/drawing/2014/main" id="{3F51EE1E-6258-4F09-963A-853315C6F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1127553" y="-1127553"/>
            <a:ext cx="6858000" cy="9113106"/>
          </a:xfrm>
          <a:custGeom>
            <a:avLst/>
            <a:gdLst>
              <a:gd name="connsiteX0" fmla="*/ 0 w 6858000"/>
              <a:gd name="connsiteY0" fmla="*/ 7143270 h 9113106"/>
              <a:gd name="connsiteX1" fmla="*/ 0 w 6858000"/>
              <a:gd name="connsiteY1" fmla="*/ 6878623 h 9113106"/>
              <a:gd name="connsiteX2" fmla="*/ 1 w 6858000"/>
              <a:gd name="connsiteY2" fmla="*/ 6878623 h 9113106"/>
              <a:gd name="connsiteX3" fmla="*/ 0 w 6858000"/>
              <a:gd name="connsiteY3" fmla="*/ 4319945 h 9113106"/>
              <a:gd name="connsiteX4" fmla="*/ 1 w 6858000"/>
              <a:gd name="connsiteY4" fmla="*/ 4319945 h 9113106"/>
              <a:gd name="connsiteX5" fmla="*/ 1 w 6858000"/>
              <a:gd name="connsiteY5" fmla="*/ 13542 h 9113106"/>
              <a:gd name="connsiteX6" fmla="*/ 0 w 6858000"/>
              <a:gd name="connsiteY6" fmla="*/ 13540 h 9113106"/>
              <a:gd name="connsiteX7" fmla="*/ 0 w 6858000"/>
              <a:gd name="connsiteY7" fmla="*/ 0 h 9113106"/>
              <a:gd name="connsiteX8" fmla="*/ 6858000 w 6858000"/>
              <a:gd name="connsiteY8" fmla="*/ 6010591 h 9113106"/>
              <a:gd name="connsiteX9" fmla="*/ 6858000 w 6858000"/>
              <a:gd name="connsiteY9" fmla="*/ 3794798 h 9113106"/>
              <a:gd name="connsiteX10" fmla="*/ 6858000 w 6858000"/>
              <a:gd name="connsiteY10" fmla="*/ 3794798 h 9113106"/>
              <a:gd name="connsiteX11" fmla="*/ 6858000 w 6858000"/>
              <a:gd name="connsiteY11" fmla="*/ 3837120 h 9113106"/>
              <a:gd name="connsiteX12" fmla="*/ 6858000 w 6858000"/>
              <a:gd name="connsiteY12" fmla="*/ 6838049 h 9113106"/>
              <a:gd name="connsiteX13" fmla="*/ 6858000 w 6858000"/>
              <a:gd name="connsiteY13" fmla="*/ 9113106 h 9113106"/>
              <a:gd name="connsiteX14" fmla="*/ 1 w 6858000"/>
              <a:gd name="connsiteY14" fmla="*/ 9113106 h 9113106"/>
              <a:gd name="connsiteX15" fmla="*/ 1 w 6858000"/>
              <a:gd name="connsiteY15" fmla="*/ 7143270 h 9113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9113106">
                <a:moveTo>
                  <a:pt x="0" y="7143270"/>
                </a:moveTo>
                <a:lnTo>
                  <a:pt x="0" y="6878623"/>
                </a:lnTo>
                <a:lnTo>
                  <a:pt x="1" y="6878623"/>
                </a:lnTo>
                <a:lnTo>
                  <a:pt x="0" y="4319945"/>
                </a:lnTo>
                <a:lnTo>
                  <a:pt x="1" y="4319945"/>
                </a:lnTo>
                <a:lnTo>
                  <a:pt x="1" y="13542"/>
                </a:lnTo>
                <a:lnTo>
                  <a:pt x="0" y="13540"/>
                </a:lnTo>
                <a:lnTo>
                  <a:pt x="0" y="0"/>
                </a:lnTo>
                <a:lnTo>
                  <a:pt x="6858000" y="6010591"/>
                </a:lnTo>
                <a:lnTo>
                  <a:pt x="6858000" y="3794798"/>
                </a:lnTo>
                <a:lnTo>
                  <a:pt x="6858000" y="3794798"/>
                </a:lnTo>
                <a:lnTo>
                  <a:pt x="6858000" y="3837120"/>
                </a:lnTo>
                <a:lnTo>
                  <a:pt x="6858000" y="6838049"/>
                </a:lnTo>
                <a:lnTo>
                  <a:pt x="6858000" y="9113106"/>
                </a:lnTo>
                <a:lnTo>
                  <a:pt x="1" y="9113106"/>
                </a:lnTo>
                <a:lnTo>
                  <a:pt x="1" y="714327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2DE2A9E-90C6-4170-6C80-CD0691C9D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098" y="905433"/>
            <a:ext cx="5486016" cy="5047133"/>
          </a:xfrm>
          <a:prstGeom prst="rect">
            <a:avLst/>
          </a:prstGeom>
        </p:spPr>
      </p:pic>
      <p:cxnSp>
        <p:nvCxnSpPr>
          <p:cNvPr id="29" name="Straight Connector 24">
            <a:extLst>
              <a:ext uri="{FF2B5EF4-FFF2-40B4-BE49-F238E27FC236}">
                <a16:creationId xmlns:a16="http://schemas.microsoft.com/office/drawing/2014/main" id="{7FA07B03-7E5B-4F33-A494-D72BC5BEB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Объект 2">
            <a:extLst>
              <a:ext uri="{FF2B5EF4-FFF2-40B4-BE49-F238E27FC236}">
                <a16:creationId xmlns:a16="http://schemas.microsoft.com/office/drawing/2014/main" id="{FB83624C-BB35-46A4-8E19-DA8DB2B81B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8603624"/>
              </p:ext>
            </p:extLst>
          </p:nvPr>
        </p:nvGraphicFramePr>
        <p:xfrm>
          <a:off x="1143001" y="2332026"/>
          <a:ext cx="4953000" cy="35671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27A40C0-1116-D87F-77F7-E6ADB14CCE75}"/>
              </a:ext>
            </a:extLst>
          </p:cNvPr>
          <p:cNvSpPr txBox="1"/>
          <p:nvPr/>
        </p:nvSpPr>
        <p:spPr>
          <a:xfrm>
            <a:off x="1143000" y="1252713"/>
            <a:ext cx="48912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Практическая работа №3: модуль 3 -Администрирование, логирование и отчетность</a:t>
            </a:r>
          </a:p>
        </p:txBody>
      </p:sp>
    </p:spTree>
    <p:extLst>
      <p:ext uri="{BB962C8B-B14F-4D97-AF65-F5344CB8AC3E}">
        <p14:creationId xmlns:p14="http://schemas.microsoft.com/office/powerpoint/2010/main" val="257895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D06658-5BC0-EC43-6254-0D26B2B8F3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8356" y="452283"/>
            <a:ext cx="5193833" cy="130913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cap="all" spc="300" dirty="0"/>
              <a:t>Практическая работа №4: </a:t>
            </a:r>
            <a:r>
              <a:rPr lang="en-US" sz="2400" cap="all" spc="300" dirty="0" err="1"/>
              <a:t>диаграммы</a:t>
            </a:r>
            <a:r>
              <a:rPr lang="ru-RU" sz="2400" dirty="0"/>
              <a:t> </a:t>
            </a:r>
            <a:r>
              <a:rPr lang="en-US" sz="2400" cap="all" spc="300" dirty="0" err="1"/>
              <a:t>последовательностей</a:t>
            </a:r>
            <a:endParaRPr lang="en-US" sz="2400" cap="all" spc="300" dirty="0"/>
          </a:p>
        </p:txBody>
      </p:sp>
      <p:sp>
        <p:nvSpPr>
          <p:cNvPr id="7" name="Подзаголовок 6">
            <a:extLst>
              <a:ext uri="{FF2B5EF4-FFF2-40B4-BE49-F238E27FC236}">
                <a16:creationId xmlns:a16="http://schemas.microsoft.com/office/drawing/2014/main" id="{B88BEDF3-68BA-82F9-B33A-4607D6DD0F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562" y="2766376"/>
            <a:ext cx="5423888" cy="523220"/>
          </a:xfrm>
        </p:spPr>
        <p:txBody>
          <a:bodyPr>
            <a:noAutofit/>
          </a:bodyPr>
          <a:lstStyle/>
          <a:p>
            <a:r>
              <a:rPr lang="ru-RU" sz="1600" dirty="0"/>
              <a:t>Процесс 1: Автоматическое ПИД-регулирование температуры в климатической зоне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250C69-8209-CBFE-3CA7-DB6811D4688F}"/>
              </a:ext>
            </a:extLst>
          </p:cNvPr>
          <p:cNvSpPr txBox="1"/>
          <p:nvPr/>
        </p:nvSpPr>
        <p:spPr>
          <a:xfrm>
            <a:off x="278561" y="6085649"/>
            <a:ext cx="53561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Процесс 2: Защитное отключение подпочвенного обогрева при перегреве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D49292-4AFD-1676-3A5E-CA73F18EA56F}"/>
              </a:ext>
            </a:extLst>
          </p:cNvPr>
          <p:cNvSpPr txBox="1"/>
          <p:nvPr/>
        </p:nvSpPr>
        <p:spPr>
          <a:xfrm>
            <a:off x="6096000" y="6085649"/>
            <a:ext cx="58066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Процесс 3: Настройка ПИД-коэффициентов инженером-технологом</a:t>
            </a:r>
          </a:p>
          <a:p>
            <a:endParaRPr lang="ru-RU" sz="16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B85FD4-1265-1598-08FA-468A167F9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07" y="187576"/>
            <a:ext cx="5806681" cy="259089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DD167E9-CA04-F01D-82D5-8F37DCDCD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61" y="3286913"/>
            <a:ext cx="5356133" cy="279873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83A50DF-A0AD-1C44-3521-7DADD4124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530" y="2520574"/>
            <a:ext cx="5573851" cy="359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209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68EEDE-B901-86C1-E903-37C0D270B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cap="all" spc="300" dirty="0"/>
              <a:t>Практическая работа №4:</a:t>
            </a:r>
            <a:r>
              <a:rPr lang="ru-RU" sz="3200" cap="all" spc="300" dirty="0"/>
              <a:t> Диаграмма классов</a:t>
            </a:r>
            <a:endParaRPr lang="ru-RU" sz="32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92A9832-21DC-A1E6-6F4C-B74E3B84E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508385"/>
            <a:ext cx="10308183" cy="339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000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8B51F4-B2C5-134D-A48E-F8F9E8E8C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5013"/>
            <a:ext cx="9905999" cy="1093517"/>
          </a:xfrm>
        </p:spPr>
        <p:txBody>
          <a:bodyPr>
            <a:noAutofit/>
          </a:bodyPr>
          <a:lstStyle/>
          <a:p>
            <a:r>
              <a:rPr lang="ru-RU" sz="2800" dirty="0"/>
              <a:t>Практическая работа №5: Аппаратное обеспечение для автоматизированной системы по розливу напитков</a:t>
            </a:r>
          </a:p>
        </p:txBody>
      </p:sp>
      <p:graphicFrame>
        <p:nvGraphicFramePr>
          <p:cNvPr id="5" name="Объект 3">
            <a:extLst>
              <a:ext uri="{FF2B5EF4-FFF2-40B4-BE49-F238E27FC236}">
                <a16:creationId xmlns:a16="http://schemas.microsoft.com/office/drawing/2014/main" id="{2210EFF5-42CE-6AB2-6848-9BFC6C3668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6227643"/>
              </p:ext>
            </p:extLst>
          </p:nvPr>
        </p:nvGraphicFramePr>
        <p:xfrm>
          <a:off x="851191" y="1258530"/>
          <a:ext cx="10489617" cy="5110107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230132">
                  <a:extLst>
                    <a:ext uri="{9D8B030D-6E8A-4147-A177-3AD203B41FA5}">
                      <a16:colId xmlns:a16="http://schemas.microsoft.com/office/drawing/2014/main" val="185608442"/>
                    </a:ext>
                  </a:extLst>
                </a:gridCol>
                <a:gridCol w="2051897">
                  <a:extLst>
                    <a:ext uri="{9D8B030D-6E8A-4147-A177-3AD203B41FA5}">
                      <a16:colId xmlns:a16="http://schemas.microsoft.com/office/drawing/2014/main" val="1318469265"/>
                    </a:ext>
                  </a:extLst>
                </a:gridCol>
                <a:gridCol w="2051897">
                  <a:extLst>
                    <a:ext uri="{9D8B030D-6E8A-4147-A177-3AD203B41FA5}">
                      <a16:colId xmlns:a16="http://schemas.microsoft.com/office/drawing/2014/main" val="1619327295"/>
                    </a:ext>
                  </a:extLst>
                </a:gridCol>
                <a:gridCol w="2051897">
                  <a:extLst>
                    <a:ext uri="{9D8B030D-6E8A-4147-A177-3AD203B41FA5}">
                      <a16:colId xmlns:a16="http://schemas.microsoft.com/office/drawing/2014/main" val="1477579156"/>
                    </a:ext>
                  </a:extLst>
                </a:gridCol>
                <a:gridCol w="2051897">
                  <a:extLst>
                    <a:ext uri="{9D8B030D-6E8A-4147-A177-3AD203B41FA5}">
                      <a16:colId xmlns:a16="http://schemas.microsoft.com/office/drawing/2014/main" val="2634213288"/>
                    </a:ext>
                  </a:extLst>
                </a:gridCol>
                <a:gridCol w="2051897">
                  <a:extLst>
                    <a:ext uri="{9D8B030D-6E8A-4147-A177-3AD203B41FA5}">
                      <a16:colId xmlns:a16="http://schemas.microsoft.com/office/drawing/2014/main" val="2209827482"/>
                    </a:ext>
                  </a:extLst>
                </a:gridCol>
              </a:tblGrid>
              <a:tr h="1759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№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Наименование оборудования / компонента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Назначение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Кол-во (рекомендуемое)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Примерные характеристики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Обеспечиваемые подсистемы и функции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565147"/>
                  </a:ext>
                </a:extLst>
              </a:tr>
              <a:tr h="3232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1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Контроллер программируемый (ПЛК) Siemens S7-1500 или отечественный аналог (SEGNETICS)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Сбор данных с датчиков, ПИД-регулирование, управление исполнительными механизмами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5 (по числу климатических зон)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Процессор: 2-ядерный, RAM: 1 ГБ, дискрет: 64 входа/64 выхода, аналог: 32 входа/16 выходов, Ethernet, Profinet, поддержка IEC 61131-3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2 (управление), Модуль 1 (сбор данных)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433707"/>
                  </a:ext>
                </a:extLst>
              </a:tr>
              <a:tr h="3232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2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Модули распределённого ввода-вывода (УСО) Advantech ADAM-5000 или отечественный аналог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Подключение датчиков температуры, давления, влажности в удалённых точках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10 (по 2 на зону)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Протокол Modbus TCP/RTU, количество каналов: 8-16 на модуль, диапазон аналоговых входов: 4-20 мА, 0-10 В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1 (сбор данных с датчиков)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989461"/>
                  </a:ext>
                </a:extLst>
              </a:tr>
              <a:tr h="3145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3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Датчики температуры воздуха (DS18B20 / PT100)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Измерение температуры воздуха в каждой зоне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20 (минимум 2 на зону)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Диапазон: -40…+85°C, точность ±0.5°C, интерфейс 1-Wire или 4-20 мА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1 (мониторинг)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108729"/>
                  </a:ext>
                </a:extLst>
              </a:tr>
              <a:tr h="3145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4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Датчики влажности воздуха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Измерение влажности для контроля микроклимата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10 (по 1 на зону)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Диапазон: 0…100%, точность ±2%, выход 4-20 мА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1 (мониторинг)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321962"/>
                  </a:ext>
                </a:extLst>
              </a:tr>
              <a:tr h="3232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5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Метеостанция (датчик ветра + температуры наружного воздуха)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Данные для управления фрамугами и обогревом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1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Измерение скорости ветра (0…30 м/с), направления, температуры (-40…+50°C), протокол Modbus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1 (мониторинг), Модуль 2 (управление форточками)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107141"/>
                  </a:ext>
                </a:extLst>
              </a:tr>
              <a:tr h="3232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6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Датчики температуры теплоносителя на входе/выходе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Контроль эффективности системы отопления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10 (5 зон × 2)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Термопара или Pt100, диапазон 0…120°C, выход 4-20 мА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1 (мониторинг)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357926"/>
                  </a:ext>
                </a:extLst>
              </a:tr>
              <a:tr h="3145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7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Датчики давления воды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Контроль давления в системе отопления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5 (на каждую зону)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Диапазон 0…10 бар, выход 4-20 мА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1 (мониторинг)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359775"/>
                  </a:ext>
                </a:extLst>
              </a:tr>
              <a:tr h="3145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8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Датчики солнечной радиации (пиранометр)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Анализ фотосинтеза и управление зашториванием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2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Спектральный диапазон 300…2800 нм, точность ±5%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1 (мониторинг)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62731"/>
                  </a:ext>
                </a:extLst>
              </a:tr>
              <a:tr h="458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9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Исполнительные механизмы (приводы) фрамуг (форточек)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Автоматическое открытие/закрытие вентиляции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20 (по 2 на зону)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Управление: дискретное (24 В) или аналоговое (0-10 В), обратная связь по энкодеру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2 (управление)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49783"/>
                  </a:ext>
                </a:extLst>
              </a:tr>
              <a:tr h="458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10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Клапаны системы отопления (электромагнитные/моторные)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Регулирование подачи теплоносителя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10 (подача/возврат на зону)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DN25…DN50, управление 24 В или 0-10 В, обратная связь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2 (управление)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034468"/>
                  </a:ext>
                </a:extLst>
              </a:tr>
              <a:tr h="3759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11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Трёхходовой клапан теплового узла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Смешение теплоносителя для поддержания температуры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1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Диаметр DN50…DN100, управление аналоговое 0-10 В, обратная связь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2 (управление тепловым узлом)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827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12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Насосы системы отопления (подпочвенный/надпочвенный)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Циркуляция теплоносителя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3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Мощность 1.5-5 кВт, управление дискретное + защита от сухого хода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2 (обогрев)</a:t>
                      </a: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163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2203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EA1A24-9CA1-4513-A409-3AD90DB09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FDD200-FCF8-89F8-E2AB-8F56C869C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963" y="165709"/>
            <a:ext cx="10080074" cy="797852"/>
          </a:xfrm>
        </p:spPr>
        <p:txBody>
          <a:bodyPr anchor="b">
            <a:noAutofit/>
          </a:bodyPr>
          <a:lstStyle/>
          <a:p>
            <a:r>
              <a:rPr lang="ru-RU" sz="2800" dirty="0"/>
              <a:t>Практическая работа №5: Аппаратное обеспечение для автоматизированной системы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0930BD-361E-4C4D-8B08-ED210DFA2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31497E9-B990-F521-16F1-2FB3DD736D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55658"/>
              </p:ext>
            </p:extLst>
          </p:nvPr>
        </p:nvGraphicFramePr>
        <p:xfrm>
          <a:off x="1055963" y="1132125"/>
          <a:ext cx="10080074" cy="5298608"/>
        </p:xfrm>
        <a:graphic>
          <a:graphicData uri="http://schemas.openxmlformats.org/drawingml/2006/table">
            <a:tbl>
              <a:tblPr firstRow="1" firstCol="1" bandRow="1">
                <a:noFill/>
                <a:tableStyleId>{073A0DAA-6AF3-43AB-8588-CEC1D06C72B9}</a:tableStyleId>
              </a:tblPr>
              <a:tblGrid>
                <a:gridCol w="192938">
                  <a:extLst>
                    <a:ext uri="{9D8B030D-6E8A-4147-A177-3AD203B41FA5}">
                      <a16:colId xmlns:a16="http://schemas.microsoft.com/office/drawing/2014/main" val="139229643"/>
                    </a:ext>
                  </a:extLst>
                </a:gridCol>
                <a:gridCol w="1939577">
                  <a:extLst>
                    <a:ext uri="{9D8B030D-6E8A-4147-A177-3AD203B41FA5}">
                      <a16:colId xmlns:a16="http://schemas.microsoft.com/office/drawing/2014/main" val="999159831"/>
                    </a:ext>
                  </a:extLst>
                </a:gridCol>
                <a:gridCol w="2047996">
                  <a:extLst>
                    <a:ext uri="{9D8B030D-6E8A-4147-A177-3AD203B41FA5}">
                      <a16:colId xmlns:a16="http://schemas.microsoft.com/office/drawing/2014/main" val="78304113"/>
                    </a:ext>
                  </a:extLst>
                </a:gridCol>
                <a:gridCol w="1432760">
                  <a:extLst>
                    <a:ext uri="{9D8B030D-6E8A-4147-A177-3AD203B41FA5}">
                      <a16:colId xmlns:a16="http://schemas.microsoft.com/office/drawing/2014/main" val="1869660708"/>
                    </a:ext>
                  </a:extLst>
                </a:gridCol>
                <a:gridCol w="2997762">
                  <a:extLst>
                    <a:ext uri="{9D8B030D-6E8A-4147-A177-3AD203B41FA5}">
                      <a16:colId xmlns:a16="http://schemas.microsoft.com/office/drawing/2014/main" val="4017001579"/>
                    </a:ext>
                  </a:extLst>
                </a:gridCol>
                <a:gridCol w="1469041">
                  <a:extLst>
                    <a:ext uri="{9D8B030D-6E8A-4147-A177-3AD203B41FA5}">
                      <a16:colId xmlns:a16="http://schemas.microsoft.com/office/drawing/2014/main" val="2481502380"/>
                    </a:ext>
                  </a:extLst>
                </a:gridCol>
              </a:tblGrid>
              <a:tr h="2222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0" kern="100" cap="none" spc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ru-RU" sz="1000" b="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Рециркуляционные вентиляторы</a:t>
                      </a:r>
                      <a:endParaRPr lang="ru-RU" sz="1000" b="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b="0" kern="100" cap="none" spc="0">
                          <a:solidFill>
                            <a:schemeClr val="tx1"/>
                          </a:solidFill>
                          <a:effectLst/>
                        </a:rPr>
                        <a:t>Выравнивание температуры воздуха</a:t>
                      </a:r>
                      <a:endParaRPr lang="ru-RU" sz="1000" b="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b="0" kern="100" cap="none" spc="0">
                          <a:solidFill>
                            <a:schemeClr val="tx1"/>
                          </a:solidFill>
                          <a:effectLst/>
                        </a:rPr>
                        <a:t>10 (по 2 на зону)</a:t>
                      </a:r>
                      <a:endParaRPr lang="ru-RU" sz="1000" b="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Мощность 0.5-1 кВт, ШИМ-управление или дискретное</a:t>
                      </a:r>
                      <a:endParaRPr lang="ru-RU" sz="1000" b="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Модуль 2 (вентиляция)</a:t>
                      </a:r>
                      <a:endParaRPr lang="ru-RU" sz="1000" b="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28689"/>
                  </a:ext>
                </a:extLst>
              </a:tr>
              <a:tr h="3476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>
                          <a:solidFill>
                            <a:schemeClr val="tx1"/>
                          </a:solidFill>
                          <a:effectLst/>
                        </a:rPr>
                        <a:t>14</a:t>
                      </a:r>
                      <a:endParaRPr lang="ru-RU" sz="1000" b="1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Система </a:t>
                      </a:r>
                      <a:r>
                        <a:rPr lang="ru-RU" sz="1000" kern="100" cap="none" spc="0" dirty="0" err="1">
                          <a:solidFill>
                            <a:schemeClr val="tx1"/>
                          </a:solidFill>
                          <a:effectLst/>
                        </a:rPr>
                        <a:t>электродосвечивания</a:t>
                      </a: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 (LED фитолампы)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Искусственное освещение растений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5 (по комплекту на зону)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Спектр 400…700 нм, мощность 200-500 Вт/зону, релейное управление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Модуль 2 (досвечивание)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045448"/>
                  </a:ext>
                </a:extLst>
              </a:tr>
              <a:tr h="3118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  <a:endParaRPr lang="ru-RU" sz="1000" b="1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Система зашторивания (сервоприводы штор)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Регулировка солнечной радиации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5 (на зону)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Управление 0-10 В, обратная связь по положению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Модуль 2 (зашторивание)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74914"/>
                  </a:ext>
                </a:extLst>
              </a:tr>
              <a:tr h="2222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  <a:endParaRPr lang="ru-RU" sz="1000" b="1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Клапаны подачи CO₂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Обогащение воздуха углекислым газом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5 (на зону)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Соленоидный клапан 24 В, DN15…DN25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Модуль 2 (управление CO₂)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736408"/>
                  </a:ext>
                </a:extLst>
              </a:tr>
              <a:tr h="2222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endParaRPr lang="ru-RU" sz="1000" b="1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Датчики CO₂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Контроль концентрации углекислого газа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5 (на зону)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Диапазон 0…2000 ppm, выход 4-20 мА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Модуль 1 (мониторинг)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044517"/>
                  </a:ext>
                </a:extLst>
              </a:tr>
              <a:tr h="3476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>
                          <a:solidFill>
                            <a:schemeClr val="tx1"/>
                          </a:solidFill>
                          <a:effectLst/>
                        </a:rPr>
                        <a:t>18</a:t>
                      </a:r>
                      <a:endParaRPr lang="ru-RU" sz="1000" b="1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SCADA-сервер (визуализация и архивация)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Сбор данных, отображение мнемосхем, архивация, выдача команд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2 (основной + резервный)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Процессор</a:t>
                      </a:r>
                      <a:r>
                        <a:rPr lang="en-US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: Intel Xeon, RAM: 64 </a:t>
                      </a: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ГБ</a:t>
                      </a:r>
                      <a:r>
                        <a:rPr lang="en-US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, SSD: 1 </a:t>
                      </a: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ТБ</a:t>
                      </a:r>
                      <a:r>
                        <a:rPr lang="en-US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, RAID 10, 2 × 10 </a:t>
                      </a: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Гбит</a:t>
                      </a:r>
                      <a:r>
                        <a:rPr lang="en-US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с</a:t>
                      </a:r>
                      <a:r>
                        <a:rPr lang="en-US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 Ethernet, </a:t>
                      </a: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ОС</a:t>
                      </a:r>
                      <a:r>
                        <a:rPr lang="en-US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: Windows Server / Linux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Модуль 1 (визуализация), Модуль 3 (архивация)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808751"/>
                  </a:ext>
                </a:extLst>
              </a:tr>
              <a:tr h="3118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>
                          <a:solidFill>
                            <a:schemeClr val="tx1"/>
                          </a:solidFill>
                          <a:effectLst/>
                        </a:rPr>
                        <a:t>19</a:t>
                      </a:r>
                      <a:endParaRPr lang="ru-RU" sz="1000" b="1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Сервер баз данных (исторических данных)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Хранение архивов температуры, давления, аварий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1 (с репликацией)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Процессор: Intel Xeon, RAM: 64 ГБ, HDD: 20 ТБ (RAID 10), SSD-кэш, СУБД: PostgreSQL / TimescaleDB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Модуль 3 (логирование, отчёты)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465080"/>
                  </a:ext>
                </a:extLst>
              </a:tr>
              <a:tr h="3476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>
                          <a:solidFill>
                            <a:schemeClr val="tx1"/>
                          </a:solidFill>
                          <a:effectLst/>
                        </a:rPr>
                        <a:t>20</a:t>
                      </a:r>
                      <a:endParaRPr lang="ru-RU" sz="1000" b="1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Операторская станция (АРМ оператора)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Мониторинг и управление через SCADA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Монитор 24" (мнемосхемы), процессор i7, ОС Windows, подключение по сети к SCADA-серверу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Модуль 1 (интерфейс)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703414"/>
                  </a:ext>
                </a:extLst>
              </a:tr>
              <a:tr h="3118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>
                          <a:solidFill>
                            <a:schemeClr val="tx1"/>
                          </a:solidFill>
                          <a:effectLst/>
                        </a:rPr>
                        <a:t>21</a:t>
                      </a:r>
                      <a:endParaRPr lang="ru-RU" sz="1000" b="1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Инженерная станция (для настройки ПЛК и ПИД)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Программирование контроллеров, настройка регуляторов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Ноутбук с ПО</a:t>
                      </a:r>
                      <a:r>
                        <a:rPr lang="en-US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 TIA Portal / CodeSys, Ethernet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Модуль 3 (администрирование)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266249"/>
                  </a:ext>
                </a:extLst>
              </a:tr>
              <a:tr h="3476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>
                          <a:solidFill>
                            <a:schemeClr val="tx1"/>
                          </a:solidFill>
                          <a:effectLst/>
                        </a:rPr>
                        <a:t>22</a:t>
                      </a:r>
                      <a:endParaRPr lang="ru-RU" sz="1000" b="1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Сетевое оборудование (управляемые коммутаторы)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Объединение ПЛК, SCADA-серверов, датчиков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3 (распределённо)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Industrial Ethernet, </a:t>
                      </a: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поддержка</a:t>
                      </a:r>
                      <a:r>
                        <a:rPr lang="en-US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 Profinet, VLAN, QoS, </a:t>
                      </a: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резервирование</a:t>
                      </a:r>
                      <a:r>
                        <a:rPr lang="en-US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 (MRP)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Информационное обеспечение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222368"/>
                  </a:ext>
                </a:extLst>
              </a:tr>
              <a:tr h="3118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>
                          <a:solidFill>
                            <a:schemeClr val="tx1"/>
                          </a:solidFill>
                          <a:effectLst/>
                        </a:rPr>
                        <a:t>23</a:t>
                      </a:r>
                      <a:endParaRPr lang="ru-RU" sz="1000" b="1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Шкафы управления (щитовые)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Размещение ПЛК, УСО, реле, блоков питания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5 (по одному на климатическую зону)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Степень защиты IP54, вентиляция, резервирование питания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Все модули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248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24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Источники бесперебойного питания (ИБП) для ПЛК и серверов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Защита от потери управления при отключении электроэнергии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5 (ПЛК) + 2 (SCADA)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Мощность: 1-3 кВА для ПЛК, 5-10 кВА для серверов, время автономии ≥ 30 минут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Все модули (надёжность)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804677"/>
                  </a:ext>
                </a:extLst>
              </a:tr>
              <a:tr h="3118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25</a:t>
                      </a:r>
                      <a:endParaRPr lang="ru-RU" sz="1000" b="1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GSM-модуль (для аварийных уведомлений)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Отправка SMS оператору и инженеру при авариях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Поддержка 4G, работа с SIM-картой интеграция с контроллером/SCADA</a:t>
                      </a:r>
                      <a:endParaRPr lang="ru-RU" sz="10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Модуль 3 (оповещение)</a:t>
                      </a:r>
                      <a:endParaRPr lang="ru-RU" sz="10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2260" marR="2260" marT="33808" marB="338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759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8764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54BF6F-335F-B068-582F-CFBA47906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73167"/>
            <a:ext cx="9905999" cy="857542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Практическая работа №5: Аппаратное обеспечение для автоматизированной системы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1F1998F7-A9BC-554E-81EC-CEB411158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843515"/>
              </p:ext>
            </p:extLst>
          </p:nvPr>
        </p:nvGraphicFramePr>
        <p:xfrm>
          <a:off x="851189" y="1130709"/>
          <a:ext cx="10554230" cy="4865830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287858">
                  <a:extLst>
                    <a:ext uri="{9D8B030D-6E8A-4147-A177-3AD203B41FA5}">
                      <a16:colId xmlns:a16="http://schemas.microsoft.com/office/drawing/2014/main" val="987582653"/>
                    </a:ext>
                  </a:extLst>
                </a:gridCol>
                <a:gridCol w="2566593">
                  <a:extLst>
                    <a:ext uri="{9D8B030D-6E8A-4147-A177-3AD203B41FA5}">
                      <a16:colId xmlns:a16="http://schemas.microsoft.com/office/drawing/2014/main" val="1867734840"/>
                    </a:ext>
                  </a:extLst>
                </a:gridCol>
                <a:gridCol w="2566593">
                  <a:extLst>
                    <a:ext uri="{9D8B030D-6E8A-4147-A177-3AD203B41FA5}">
                      <a16:colId xmlns:a16="http://schemas.microsoft.com/office/drawing/2014/main" val="164073854"/>
                    </a:ext>
                  </a:extLst>
                </a:gridCol>
                <a:gridCol w="2566593">
                  <a:extLst>
                    <a:ext uri="{9D8B030D-6E8A-4147-A177-3AD203B41FA5}">
                      <a16:colId xmlns:a16="http://schemas.microsoft.com/office/drawing/2014/main" val="91043807"/>
                    </a:ext>
                  </a:extLst>
                </a:gridCol>
                <a:gridCol w="2566593">
                  <a:extLst>
                    <a:ext uri="{9D8B030D-6E8A-4147-A177-3AD203B41FA5}">
                      <a16:colId xmlns:a16="http://schemas.microsoft.com/office/drawing/2014/main" val="515843064"/>
                    </a:ext>
                  </a:extLst>
                </a:gridCol>
              </a:tblGrid>
              <a:tr h="3212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№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Наименование ПО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Назначение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Обеспечиваемые подсистемы и функции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Обоснование выбора / Соответствие требованиям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128776"/>
                  </a:ext>
                </a:extLst>
              </a:tr>
              <a:tr h="463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1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Операционная система SCADA-сервера: Windows Server / Linux (Rocky Linux / Ubuntu Server)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Базовая ОС для серверов мониторинга и архивации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1, Модуль 3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Стабильность, безопасность, поддержка SCADA-систем, совместимость с оборудованием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177797"/>
                  </a:ext>
                </a:extLst>
              </a:tr>
              <a:tr h="7477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2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SCADA-система: TRACE MODE (российская) или MasterSCADA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Визуализация технологического процесса, сбор данных с ПЛК, архивация, ПИД-регулирование, аварийная сигнализация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1 (визуализация, тренды), Модуль 2 (ПИД, управление), Модуль 3 (архивы, отчёты)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1. Импортозамещение (Постановление № 325-ФЗ). 2. Поддержка ≥32000 точек ввода-вывода (требование из ПР2). 3. Работа на российском ПО. 4. Поддержка ПИД-регуляторов. 5. Встроенный генератор отчётов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256006"/>
                  </a:ext>
                </a:extLst>
              </a:tr>
              <a:tr h="463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3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Среда программирования ПЛК: CoDeSys (российская лицензия) / TIA Portal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Разработка логики управления обогревом, вентиляцией, ПИД-регуляторов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2 (логика управления)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Поддержка стандартов IEC 61131-3 (LD, FBD, ST, SFC), импортозамещение, совместимость с большинством контроллеров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455913"/>
                  </a:ext>
                </a:extLst>
              </a:tr>
              <a:tr h="3261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4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Операционная система ПЛК: реального времени (CODESYS Runtime)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Выполнение управляющих программ на контроллере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2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Цикл сканирования 1-100 мс, детерминированность, соответствие IEC 61131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557806"/>
                  </a:ext>
                </a:extLst>
              </a:tr>
              <a:tr h="605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5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СУБД для архивации: PostgreSQL + TimescaleDB (TimescaleDB — расширение для временных рядов)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Хранение исторических данных температуры, влажности, давления, аварийных событий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3 (архивы, отчёты)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Оптимизация для временных рядов (отлично подходит для данных с датчиков), производительность, открытость, поддержка ODBC (ГОСТ Р МЭК 61131-3-2016)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559590"/>
                  </a:ext>
                </a:extLst>
              </a:tr>
              <a:tr h="3351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6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Протокол промышленной сети: Modbus TCP / Profinet / OPC UA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Обмен данными между ПЛК, датчиками, SCADA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1 (сбор данных)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Открытые стандарты, совместимость с любым оборудованием, безопасность (OPC UA)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434967"/>
                  </a:ext>
                </a:extLst>
              </a:tr>
              <a:tr h="3261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7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Web-сервер SCADA (встроенный в TRACE MODE)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Удалённый просмотр параметров через браузер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1 (удалённый доступ)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Позволяет начальнику цеха и инженеру смотреть параметры без установки SCADA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52078"/>
                  </a:ext>
                </a:extLst>
              </a:tr>
              <a:tr h="3261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8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Генератор отчётов (встроенный в SCADA)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Формирование отчётов по микроклимату, авариям, потреблению энергии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3 (отчётность)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Соответствует требованию ПР2 №14 (ГОСТ Р ИСО/МЭК 25051-2017)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030506"/>
                  </a:ext>
                </a:extLst>
              </a:tr>
              <a:tr h="475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9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ПИД-регулятор (встроенный в SCADA или ПЛК)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Автоматическое поддержание температуры воздуха в заданных пределах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2 (ПИД-регулирование)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Требование ПР2 №8. Автоматическая настройка коэффициентов, антивиндап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0584837"/>
                  </a:ext>
                </a:extLst>
              </a:tr>
              <a:tr h="475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10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Система логирования и алертинга (встроенная в SCADA)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Запись всех событий (команды, аварии, отклонения) и отправка уведомлений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3 (логи, уведомления)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Требование ПР2 №16 (защита от перегрева) — автоматическое отключение и запись в лог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045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4572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E565C-8952-41E8-A55D-641B5E7F9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21A085-0919-1009-CDCA-BD1789F53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73167"/>
            <a:ext cx="9905999" cy="857542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Практическая работа №5: Аппаратное обеспечение для автоматизированной системы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A9C750A4-1931-C96C-F190-D4903255CE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116959"/>
              </p:ext>
            </p:extLst>
          </p:nvPr>
        </p:nvGraphicFramePr>
        <p:xfrm>
          <a:off x="851189" y="1130708"/>
          <a:ext cx="10554230" cy="4952459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287858">
                  <a:extLst>
                    <a:ext uri="{9D8B030D-6E8A-4147-A177-3AD203B41FA5}">
                      <a16:colId xmlns:a16="http://schemas.microsoft.com/office/drawing/2014/main" val="987582653"/>
                    </a:ext>
                  </a:extLst>
                </a:gridCol>
                <a:gridCol w="2566593">
                  <a:extLst>
                    <a:ext uri="{9D8B030D-6E8A-4147-A177-3AD203B41FA5}">
                      <a16:colId xmlns:a16="http://schemas.microsoft.com/office/drawing/2014/main" val="1867734840"/>
                    </a:ext>
                  </a:extLst>
                </a:gridCol>
                <a:gridCol w="2566593">
                  <a:extLst>
                    <a:ext uri="{9D8B030D-6E8A-4147-A177-3AD203B41FA5}">
                      <a16:colId xmlns:a16="http://schemas.microsoft.com/office/drawing/2014/main" val="164073854"/>
                    </a:ext>
                  </a:extLst>
                </a:gridCol>
                <a:gridCol w="2566593">
                  <a:extLst>
                    <a:ext uri="{9D8B030D-6E8A-4147-A177-3AD203B41FA5}">
                      <a16:colId xmlns:a16="http://schemas.microsoft.com/office/drawing/2014/main" val="91043807"/>
                    </a:ext>
                  </a:extLst>
                </a:gridCol>
                <a:gridCol w="2566593">
                  <a:extLst>
                    <a:ext uri="{9D8B030D-6E8A-4147-A177-3AD203B41FA5}">
                      <a16:colId xmlns:a16="http://schemas.microsoft.com/office/drawing/2014/main" val="515843064"/>
                    </a:ext>
                  </a:extLst>
                </a:gridCol>
              </a:tblGrid>
              <a:tr h="3742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11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СУБД для оперативных данных: </a:t>
                      </a:r>
                      <a:r>
                        <a:rPr lang="ru-RU" sz="100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PostgreSQL</a:t>
                      </a:r>
                      <a:r>
                        <a:rPr lang="ru-RU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 (основная)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Хранение конфигураций, пользователей, уставок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3 (администрирование)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ACID-транзакции, репликация, безопасность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128776"/>
                  </a:ext>
                </a:extLst>
              </a:tr>
              <a:tr h="5095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12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Протокол OPC DA / OPC UA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Мост между ПЛК и SCADA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1 (связь)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Стандарт де-факто для промышленной автоматизации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177797"/>
                  </a:ext>
                </a:extLst>
              </a:tr>
              <a:tr h="8222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13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Библиотека математических функций для ПИД (в ПЛК)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Расчёт управляющего сигнала по уставке и обратной связи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2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Требование ПР2 №9 (иерархическое включение обогрева)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256006"/>
                  </a:ext>
                </a:extLst>
              </a:tr>
              <a:tr h="5418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14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Система управления резервным копированием: Veeam Backup (для серверов) + штатные средства ПЛК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Резервное копирование конфигураций SCADA, ПЛК, БД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Все модули (надёжность)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Соответствие требованию RTO и целостности данных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455913"/>
                  </a:ext>
                </a:extLst>
              </a:tr>
              <a:tr h="3742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15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FTP-сервер для экспорта архивов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Выгрузка исторических данных для анализа агрономом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3 (отчётность)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Удобство передачи отчётов в другие системы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557806"/>
                  </a:ext>
                </a:extLst>
              </a:tr>
              <a:tr h="6658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16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DNS / DHCP серверы (на базе ОС)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Сетевая инфраструктура, назначение IP-адресов оборудованию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Информационное обеспечение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Универсальность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559590"/>
                  </a:ext>
                </a:extLst>
              </a:tr>
              <a:tr h="3742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17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Антивирусное ПО (Kaspersky Industrial / Dr.Web для АСУ ТП)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Защита SCADA-серверов и операторских станций от угроз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Безопасность (информационное обеспечение)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Требования импортозамещения и защиты промышленных систем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434967"/>
                  </a:ext>
                </a:extLst>
              </a:tr>
              <a:tr h="3742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18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Система синхронизации времени: NTP-сервер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Синхронизация времени на всех ПЛК, серверах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Информационное обеспечение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Необходимо для корректного логирования и анализа аварий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52078"/>
                  </a:ext>
                </a:extLst>
              </a:tr>
              <a:tr h="3742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19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Протокол SNMP (для управления сетевым оборудованием)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Мониторинг состояния коммутаторов, маршрутизаторов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Модуль 3 (мониторинг инфраструктуры)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Промышленный стандарт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030506"/>
                  </a:ext>
                </a:extLst>
              </a:tr>
              <a:tr h="5418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20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Виртуализация: VMware </a:t>
                      </a:r>
                      <a:r>
                        <a:rPr lang="ru-RU" sz="100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vSphere</a:t>
                      </a:r>
                      <a:r>
                        <a:rPr lang="ru-RU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 / KVM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Объединение SCADA-сервера, сервера БД, сервера отчётов на одном физическом оборудовании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Все модули (оптимизация ресурсов)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roid Sans Fallback"/>
                          <a:cs typeface="FreeSans"/>
                        </a:rPr>
                        <a:t>Экономия оборудования, простота резервного копирования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0584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7005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CE2F7-4BB5-426F-BE4F-C3C7167CB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79916"/>
            <a:ext cx="9905999" cy="1360898"/>
          </a:xfrm>
        </p:spPr>
        <p:txBody>
          <a:bodyPr>
            <a:normAutofit/>
          </a:bodyPr>
          <a:lstStyle/>
          <a:p>
            <a:r>
              <a:rPr lang="ru-RU" sz="3200" dirty="0"/>
              <a:t>Практическая работа №6: Выбор функции и языка программирования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A1293E-47D0-46CC-3D21-3BC399BB5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859" y="1540814"/>
            <a:ext cx="3475922" cy="228041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b="1" dirty="0"/>
              <a:t>Выбранная функция: </a:t>
            </a:r>
            <a:r>
              <a:rPr lang="ru-RU" dirty="0"/>
              <a:t>автоматический расчёт и настройка оптимальных коэффициентов ПИД-регулятора (автонастройка ПИД) на основе анализа переходных процессов в системе.</a:t>
            </a:r>
          </a:p>
          <a:p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E826601-074B-C20A-D6A7-FB52C86B5E77}"/>
              </a:ext>
            </a:extLst>
          </p:cNvPr>
          <p:cNvSpPr/>
          <p:nvPr/>
        </p:nvSpPr>
        <p:spPr>
          <a:xfrm>
            <a:off x="431932" y="4396804"/>
            <a:ext cx="3599849" cy="1222408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Выбранный язык: </a:t>
            </a:r>
            <a:r>
              <a:rPr lang="en-US" dirty="0">
                <a:solidFill>
                  <a:schemeClr val="tx1"/>
                </a:solidFill>
              </a:rPr>
              <a:t>Python</a:t>
            </a:r>
            <a:endParaRPr lang="ru-RU" dirty="0">
              <a:solidFill>
                <a:schemeClr val="tx1"/>
              </a:solidFill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D1063EB-F90A-7DDB-B87A-1485161314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689986"/>
              </p:ext>
            </p:extLst>
          </p:nvPr>
        </p:nvGraphicFramePr>
        <p:xfrm>
          <a:off x="4522669" y="1877324"/>
          <a:ext cx="7480034" cy="4205841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1069609">
                  <a:extLst>
                    <a:ext uri="{9D8B030D-6E8A-4147-A177-3AD203B41FA5}">
                      <a16:colId xmlns:a16="http://schemas.microsoft.com/office/drawing/2014/main" val="31612645"/>
                    </a:ext>
                  </a:extLst>
                </a:gridCol>
                <a:gridCol w="3119878">
                  <a:extLst>
                    <a:ext uri="{9D8B030D-6E8A-4147-A177-3AD203B41FA5}">
                      <a16:colId xmlns:a16="http://schemas.microsoft.com/office/drawing/2014/main" val="465751633"/>
                    </a:ext>
                  </a:extLst>
                </a:gridCol>
                <a:gridCol w="3290547">
                  <a:extLst>
                    <a:ext uri="{9D8B030D-6E8A-4147-A177-3AD203B41FA5}">
                      <a16:colId xmlns:a16="http://schemas.microsoft.com/office/drawing/2014/main" val="2139409849"/>
                    </a:ext>
                  </a:extLst>
                </a:gridCol>
              </a:tblGrid>
              <a:tr h="36229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ru-RU" sz="12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Язык</a:t>
                      </a:r>
                      <a:endParaRPr lang="ru-RU" sz="12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ru-RU" sz="12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Преимущества для данной задачи</a:t>
                      </a:r>
                      <a:endParaRPr lang="ru-RU" sz="12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ru-RU" sz="12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Недостатки</a:t>
                      </a:r>
                      <a:endParaRPr lang="ru-RU" sz="12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3375633"/>
                  </a:ext>
                </a:extLst>
              </a:tr>
              <a:tr h="206448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ru-RU" sz="1200" b="1" kern="100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Python</a:t>
                      </a:r>
                      <a:endParaRPr lang="ru-RU" sz="1200" b="1" kern="100">
                        <a:solidFill>
                          <a:schemeClr val="bg2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ru-RU" sz="12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Богатый выбор библиотек для численных расчётов (</a:t>
                      </a:r>
                      <a:r>
                        <a:rPr lang="ru-RU" sz="1200" b="1" kern="100" dirty="0" err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NumPy</a:t>
                      </a:r>
                      <a:r>
                        <a:rPr lang="ru-RU" sz="12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ru-RU" sz="1200" b="1" kern="100" dirty="0" err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SciPy</a:t>
                      </a:r>
                      <a:r>
                        <a:rPr lang="ru-RU" sz="12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 — содержат реализацию </a:t>
                      </a:r>
                      <a:r>
                        <a:rPr lang="ru-RU" sz="1200" b="1" kern="100" dirty="0" err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Ziegler-Nichols</a:t>
                      </a:r>
                      <a:r>
                        <a:rPr lang="ru-RU" sz="12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ru-RU" sz="1200" b="1" kern="100" dirty="0" err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Cohen-Coon</a:t>
                      </a:r>
                      <a:r>
                        <a:rPr lang="ru-RU" sz="12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 и других методов настройки ПИД). Простота разработки алгоритмов сбора данных и анализа переходных процессов. Легко интегрируется с SCADA через OPC UA или REST API. Возможность быстрого прототипирования и отладки алгоритмов.</a:t>
                      </a:r>
                      <a:endParaRPr lang="ru-RU" sz="1200" b="1" kern="100" dirty="0">
                        <a:solidFill>
                          <a:schemeClr val="bg2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ru-RU" sz="12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Не используется непосредственно в ПЛК в реальном времени. Требуется передача рассчитанных коэффициентов в ПЛК через внешний интерфейс (OPC UA, </a:t>
                      </a:r>
                      <a:r>
                        <a:rPr lang="ru-RU" sz="1200" b="1" kern="100" dirty="0" err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Modbus</a:t>
                      </a:r>
                      <a:r>
                        <a:rPr lang="ru-RU" sz="12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 TCP). Для промышленной среды может потребоваться дополнительный компьютер (IPC).</a:t>
                      </a:r>
                      <a:endParaRPr lang="ru-RU" sz="1200" b="1" kern="100" dirty="0">
                        <a:solidFill>
                          <a:schemeClr val="bg2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071415"/>
                  </a:ext>
                </a:extLst>
              </a:tr>
              <a:tr h="177906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ru-RU" sz="12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ST (</a:t>
                      </a:r>
                      <a:r>
                        <a:rPr lang="ru-RU" sz="1200" b="1" kern="100" dirty="0" err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Structured</a:t>
                      </a:r>
                      <a:r>
                        <a:rPr lang="ru-RU" sz="12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 Text) — IEC 61131-3</a:t>
                      </a:r>
                      <a:endParaRPr lang="ru-RU" sz="1200" b="1" kern="100" dirty="0">
                        <a:solidFill>
                          <a:schemeClr val="bg2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ru-RU" sz="12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Родной язык для ПЛК, используется непосредственно в контроллере. Реализует алгоритмы в реальном времени. Не требует внешнего компьютера. Полная интеграция с ПИД-блоками ПЛК. Соответствует стандартам промышленной автоматизации.</a:t>
                      </a:r>
                      <a:endParaRPr lang="ru-RU" sz="1200" b="1" kern="100" dirty="0">
                        <a:solidFill>
                          <a:schemeClr val="bg2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ru-RU" sz="12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Меньший выбор готовых библиотек для численных методов. Сложность отладки и визуализации переходных процессов. Менее удобен для сложной математики (матричные операции, оптимизация). Разработка занимает больше времени.</a:t>
                      </a:r>
                      <a:endParaRPr lang="ru-RU" sz="1200" b="1" kern="100" dirty="0">
                        <a:solidFill>
                          <a:schemeClr val="bg2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655752"/>
                  </a:ext>
                </a:extLst>
              </a:tr>
            </a:tbl>
          </a:graphicData>
        </a:graphic>
      </p:graphicFrame>
      <p:sp>
        <p:nvSpPr>
          <p:cNvPr id="7" name="Объект 2">
            <a:extLst>
              <a:ext uri="{FF2B5EF4-FFF2-40B4-BE49-F238E27FC236}">
                <a16:creationId xmlns:a16="http://schemas.microsoft.com/office/drawing/2014/main" id="{A200C4A9-12F8-49AB-E971-91D297EEA711}"/>
              </a:ext>
            </a:extLst>
          </p:cNvPr>
          <p:cNvSpPr txBox="1">
            <a:spLocks/>
          </p:cNvSpPr>
          <p:nvPr/>
        </p:nvSpPr>
        <p:spPr>
          <a:xfrm>
            <a:off x="6524725" y="1424539"/>
            <a:ext cx="3475922" cy="452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0292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b="1" dirty="0"/>
              <a:t>Языки программирования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9936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AB45A-FF96-CE2E-D419-ED3BBCF0B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95419"/>
            <a:ext cx="9905999" cy="590105"/>
          </a:xfrm>
        </p:spPr>
        <p:txBody>
          <a:bodyPr>
            <a:normAutofit/>
          </a:bodyPr>
          <a:lstStyle/>
          <a:p>
            <a:r>
              <a:rPr lang="ru-RU" sz="3200" dirty="0"/>
              <a:t>Практическая работа №6: Выбор IDE и библиотек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A4B2F6-05D3-6FBF-2B8B-75835BC99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802" y="1213555"/>
            <a:ext cx="3274995" cy="3264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900" b="1" dirty="0"/>
              <a:t>Среды разработки (IDE)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0CF5EAA-83A3-23FF-A9CB-FF7A1F35E9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473216"/>
              </p:ext>
            </p:extLst>
          </p:nvPr>
        </p:nvGraphicFramePr>
        <p:xfrm>
          <a:off x="152803" y="1618588"/>
          <a:ext cx="5487602" cy="4406827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992603">
                  <a:extLst>
                    <a:ext uri="{9D8B030D-6E8A-4147-A177-3AD203B41FA5}">
                      <a16:colId xmlns:a16="http://schemas.microsoft.com/office/drawing/2014/main" val="3264771105"/>
                    </a:ext>
                  </a:extLst>
                </a:gridCol>
                <a:gridCol w="2215058">
                  <a:extLst>
                    <a:ext uri="{9D8B030D-6E8A-4147-A177-3AD203B41FA5}">
                      <a16:colId xmlns:a16="http://schemas.microsoft.com/office/drawing/2014/main" val="240204332"/>
                    </a:ext>
                  </a:extLst>
                </a:gridCol>
                <a:gridCol w="2279941">
                  <a:extLst>
                    <a:ext uri="{9D8B030D-6E8A-4147-A177-3AD203B41FA5}">
                      <a16:colId xmlns:a16="http://schemas.microsoft.com/office/drawing/2014/main" val="1207586164"/>
                    </a:ext>
                  </a:extLst>
                </a:gridCol>
              </a:tblGrid>
              <a:tr h="402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 dirty="0">
                          <a:effectLst/>
                        </a:rPr>
                        <a:t>IDE</a:t>
                      </a:r>
                      <a:endParaRPr lang="ru-RU" sz="1000" b="1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effectLst/>
                        </a:rPr>
                        <a:t>Преимущества для данной задачи</a:t>
                      </a:r>
                      <a:endParaRPr lang="ru-RU" sz="1000" b="1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kern="100">
                          <a:effectLst/>
                        </a:rPr>
                        <a:t>Недостатки</a:t>
                      </a:r>
                      <a:endParaRPr lang="ru-RU" sz="1000" b="1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44064"/>
                  </a:ext>
                </a:extLst>
              </a:tr>
              <a:tr h="1933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dirty="0" err="1">
                          <a:effectLst/>
                        </a:rPr>
                        <a:t>PyCharm</a:t>
                      </a:r>
                      <a:r>
                        <a:rPr lang="ru-RU" sz="1000" kern="100" dirty="0">
                          <a:effectLst/>
                        </a:rPr>
                        <a:t> Community</a:t>
                      </a:r>
                      <a:endParaRPr lang="ru-RU" sz="10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dirty="0">
                          <a:effectLst/>
                        </a:rPr>
                        <a:t>Бесплатная IDE от </a:t>
                      </a:r>
                      <a:r>
                        <a:rPr lang="ru-RU" sz="1000" kern="100" dirty="0" err="1">
                          <a:effectLst/>
                        </a:rPr>
                        <a:t>JetBrains</a:t>
                      </a:r>
                      <a:r>
                        <a:rPr lang="ru-RU" sz="1000" kern="100" dirty="0">
                          <a:effectLst/>
                        </a:rPr>
                        <a:t>. Отличная поддержка Python: умный </a:t>
                      </a:r>
                      <a:r>
                        <a:rPr lang="ru-RU" sz="1000" kern="100" dirty="0" err="1">
                          <a:effectLst/>
                        </a:rPr>
                        <a:t>автокомплит</a:t>
                      </a:r>
                      <a:r>
                        <a:rPr lang="ru-RU" sz="1000" kern="100" dirty="0">
                          <a:effectLst/>
                        </a:rPr>
                        <a:t>, навигация по коду, рефакторинг, отладчик. Встроенная поддержка </a:t>
                      </a:r>
                      <a:r>
                        <a:rPr lang="ru-RU" sz="1000" kern="100" dirty="0" err="1">
                          <a:effectLst/>
                        </a:rPr>
                        <a:t>Jupyter</a:t>
                      </a:r>
                      <a:r>
                        <a:rPr lang="ru-RU" sz="1000" kern="100" dirty="0">
                          <a:effectLst/>
                        </a:rPr>
                        <a:t> </a:t>
                      </a:r>
                      <a:r>
                        <a:rPr lang="ru-RU" sz="1000" kern="100" dirty="0" err="1">
                          <a:effectLst/>
                        </a:rPr>
                        <a:t>Notebooks</a:t>
                      </a:r>
                      <a:r>
                        <a:rPr lang="ru-RU" sz="1000" kern="100" dirty="0">
                          <a:effectLst/>
                        </a:rPr>
                        <a:t> для экспериментов с данными переходных процессов. Интеграция с </a:t>
                      </a:r>
                      <a:r>
                        <a:rPr lang="ru-RU" sz="1000" kern="100" dirty="0" err="1">
                          <a:effectLst/>
                        </a:rPr>
                        <a:t>Git</a:t>
                      </a:r>
                      <a:r>
                        <a:rPr lang="ru-RU" sz="1000" kern="100" dirty="0">
                          <a:effectLst/>
                        </a:rPr>
                        <a:t>, виртуальными окружениями. Поддержка научных библиотек (</a:t>
                      </a:r>
                      <a:r>
                        <a:rPr lang="ru-RU" sz="1000" kern="100" dirty="0" err="1">
                          <a:effectLst/>
                        </a:rPr>
                        <a:t>NumPy</a:t>
                      </a:r>
                      <a:r>
                        <a:rPr lang="ru-RU" sz="1000" kern="100" dirty="0">
                          <a:effectLst/>
                        </a:rPr>
                        <a:t>, </a:t>
                      </a:r>
                      <a:r>
                        <a:rPr lang="ru-RU" sz="1000" kern="100" dirty="0" err="1">
                          <a:effectLst/>
                        </a:rPr>
                        <a:t>SciPy</a:t>
                      </a:r>
                      <a:r>
                        <a:rPr lang="ru-RU" sz="1000" kern="100" dirty="0">
                          <a:effectLst/>
                        </a:rPr>
                        <a:t>, </a:t>
                      </a:r>
                      <a:r>
                        <a:rPr lang="ru-RU" sz="1000" kern="100" dirty="0" err="1">
                          <a:effectLst/>
                        </a:rPr>
                        <a:t>Matplotlib</a:t>
                      </a:r>
                      <a:r>
                        <a:rPr lang="ru-RU" sz="1000" kern="100" dirty="0">
                          <a:effectLst/>
                        </a:rPr>
                        <a:t>).</a:t>
                      </a:r>
                      <a:endParaRPr lang="ru-RU" sz="10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dirty="0">
                          <a:effectLst/>
                        </a:rPr>
                        <a:t>Нет встроенной поддержки удалённой разработки (но синхронизация через </a:t>
                      </a:r>
                      <a:r>
                        <a:rPr lang="ru-RU" sz="1000" kern="100" dirty="0" err="1">
                          <a:effectLst/>
                        </a:rPr>
                        <a:t>Git</a:t>
                      </a:r>
                      <a:r>
                        <a:rPr lang="ru-RU" sz="1000" kern="100" dirty="0">
                          <a:effectLst/>
                        </a:rPr>
                        <a:t> + запуск на сервере через CI/CD). Нет прямой интеграции с промышленными протоколами (OPC UA, </a:t>
                      </a:r>
                      <a:r>
                        <a:rPr lang="ru-RU" sz="1000" kern="100" dirty="0" err="1">
                          <a:effectLst/>
                        </a:rPr>
                        <a:t>Modbus</a:t>
                      </a:r>
                      <a:r>
                        <a:rPr lang="ru-RU" sz="1000" kern="100" dirty="0">
                          <a:effectLst/>
                        </a:rPr>
                        <a:t>) — требуются отдельные библиотеки.</a:t>
                      </a:r>
                      <a:endParaRPr lang="ru-RU" sz="10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304753"/>
                  </a:ext>
                </a:extLst>
              </a:tr>
              <a:tr h="20702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kern="100">
                          <a:effectLst/>
                        </a:rPr>
                        <a:t>Visual Studio Community(VS Code)</a:t>
                      </a:r>
                      <a:endParaRPr lang="ru-RU" sz="1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dirty="0">
                          <a:effectLst/>
                        </a:rPr>
                        <a:t>Бесплатная</a:t>
                      </a:r>
                      <a:r>
                        <a:rPr lang="en-US" sz="1000" kern="100" dirty="0">
                          <a:effectLst/>
                        </a:rPr>
                        <a:t>, </a:t>
                      </a:r>
                      <a:r>
                        <a:rPr lang="ru-RU" sz="1000" kern="100" dirty="0">
                          <a:effectLst/>
                        </a:rPr>
                        <a:t>лёгкая</a:t>
                      </a:r>
                      <a:r>
                        <a:rPr lang="en-US" sz="1000" kern="100" dirty="0">
                          <a:effectLst/>
                        </a:rPr>
                        <a:t>, </a:t>
                      </a:r>
                      <a:r>
                        <a:rPr lang="ru-RU" sz="1000" kern="100" dirty="0">
                          <a:effectLst/>
                        </a:rPr>
                        <a:t>кроссплатформенная</a:t>
                      </a:r>
                      <a:r>
                        <a:rPr lang="en-US" sz="1000" kern="100" dirty="0">
                          <a:effectLst/>
                        </a:rPr>
                        <a:t> IDE. </a:t>
                      </a:r>
                      <a:r>
                        <a:rPr lang="ru-RU" sz="1000" kern="100" dirty="0">
                          <a:effectLst/>
                        </a:rPr>
                        <a:t>Огромное количество расширений</a:t>
                      </a:r>
                      <a:r>
                        <a:rPr lang="en-US" sz="1000" kern="100" dirty="0">
                          <a:effectLst/>
                        </a:rPr>
                        <a:t>: Python, </a:t>
                      </a:r>
                      <a:r>
                        <a:rPr lang="en-US" sz="1000" kern="100" dirty="0" err="1">
                          <a:effectLst/>
                        </a:rPr>
                        <a:t>Jupyter</a:t>
                      </a:r>
                      <a:r>
                        <a:rPr lang="en-US" sz="1000" kern="100" dirty="0">
                          <a:effectLst/>
                        </a:rPr>
                        <a:t>, </a:t>
                      </a:r>
                      <a:r>
                        <a:rPr lang="en-US" sz="1000" kern="100" dirty="0" err="1">
                          <a:effectLst/>
                        </a:rPr>
                        <a:t>Pylance</a:t>
                      </a:r>
                      <a:r>
                        <a:rPr lang="en-US" sz="1000" kern="100" dirty="0">
                          <a:effectLst/>
                        </a:rPr>
                        <a:t>, </a:t>
                      </a:r>
                      <a:r>
                        <a:rPr lang="ru-RU" sz="1000" kern="100" dirty="0">
                          <a:effectLst/>
                        </a:rPr>
                        <a:t>даже</a:t>
                      </a:r>
                      <a:r>
                        <a:rPr lang="en-US" sz="1000" kern="100" dirty="0">
                          <a:effectLst/>
                        </a:rPr>
                        <a:t> OPC UA/Modbus (</a:t>
                      </a:r>
                      <a:r>
                        <a:rPr lang="ru-RU" sz="1000" kern="100" dirty="0">
                          <a:effectLst/>
                        </a:rPr>
                        <a:t>через плагины</a:t>
                      </a:r>
                      <a:r>
                        <a:rPr lang="en-US" sz="1000" kern="100" dirty="0">
                          <a:effectLst/>
                        </a:rPr>
                        <a:t>). </a:t>
                      </a:r>
                      <a:r>
                        <a:rPr lang="ru-RU" sz="1000" kern="100" dirty="0">
                          <a:effectLst/>
                        </a:rPr>
                        <a:t>Встроенный терминал, отладчик, интеграция с </a:t>
                      </a:r>
                      <a:r>
                        <a:rPr lang="ru-RU" sz="1000" kern="100" dirty="0" err="1">
                          <a:effectLst/>
                        </a:rPr>
                        <a:t>Git</a:t>
                      </a:r>
                      <a:r>
                        <a:rPr lang="ru-RU" sz="1000" kern="100" dirty="0">
                          <a:effectLst/>
                        </a:rPr>
                        <a:t>. Поддержка удалённой разработки через SSH (Remote Development — позволяет работать на удалённом компьютере/сервере с ПЛК или SCADA).</a:t>
                      </a:r>
                      <a:endParaRPr lang="ru-RU" sz="10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kern="100" dirty="0">
                          <a:effectLst/>
                        </a:rPr>
                        <a:t>Требует начальной настройки расширений. Не имеет «коробочной» поддержки научных библиотек (устанавливаются отдельно). Меньше «умного» рефакторинга по сравнению с </a:t>
                      </a:r>
                      <a:r>
                        <a:rPr lang="ru-RU" sz="1000" kern="100" dirty="0" err="1">
                          <a:effectLst/>
                        </a:rPr>
                        <a:t>PyCharm</a:t>
                      </a:r>
                      <a:r>
                        <a:rPr lang="ru-RU" sz="1000" kern="100" dirty="0">
                          <a:effectLst/>
                        </a:rPr>
                        <a:t>.</a:t>
                      </a:r>
                      <a:endParaRPr lang="ru-RU" sz="10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0365954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669A343-B38E-297C-551B-016DEE71F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589807"/>
              </p:ext>
            </p:extLst>
          </p:nvPr>
        </p:nvGraphicFramePr>
        <p:xfrm>
          <a:off x="5794407" y="2253856"/>
          <a:ext cx="6150544" cy="2969704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1042410">
                  <a:extLst>
                    <a:ext uri="{9D8B030D-6E8A-4147-A177-3AD203B41FA5}">
                      <a16:colId xmlns:a16="http://schemas.microsoft.com/office/drawing/2014/main" val="3956196317"/>
                    </a:ext>
                  </a:extLst>
                </a:gridCol>
                <a:gridCol w="2474334">
                  <a:extLst>
                    <a:ext uri="{9D8B030D-6E8A-4147-A177-3AD203B41FA5}">
                      <a16:colId xmlns:a16="http://schemas.microsoft.com/office/drawing/2014/main" val="424136850"/>
                    </a:ext>
                  </a:extLst>
                </a:gridCol>
                <a:gridCol w="2633800">
                  <a:extLst>
                    <a:ext uri="{9D8B030D-6E8A-4147-A177-3AD203B41FA5}">
                      <a16:colId xmlns:a16="http://schemas.microsoft.com/office/drawing/2014/main" val="719887929"/>
                    </a:ext>
                  </a:extLst>
                </a:gridCol>
              </a:tblGrid>
              <a:tr h="1350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Библиотека</a:t>
                      </a:r>
                      <a:endParaRPr lang="ru-RU" sz="1200" b="1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kern="100" dirty="0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Назначение</a:t>
                      </a:r>
                      <a:endParaRPr lang="ru-RU" sz="1200" b="1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Почему используется</a:t>
                      </a:r>
                      <a:endParaRPr lang="ru-RU" sz="1200" b="1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/>
                </a:tc>
                <a:extLst>
                  <a:ext uri="{0D108BD9-81ED-4DB2-BD59-A6C34878D82A}">
                    <a16:rowId xmlns:a16="http://schemas.microsoft.com/office/drawing/2014/main" val="2650991181"/>
                  </a:ext>
                </a:extLst>
              </a:tr>
              <a:tr h="445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NumPy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Математические операции с массивами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Для работы с временными рядами, вычисления производной, статистики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/>
                </a:tc>
                <a:extLst>
                  <a:ext uri="{0D108BD9-81ED-4DB2-BD59-A6C34878D82A}">
                    <a16:rowId xmlns:a16="http://schemas.microsoft.com/office/drawing/2014/main" val="1601261642"/>
                  </a:ext>
                </a:extLst>
              </a:tr>
              <a:tr h="591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SciPy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673100" algn="l"/>
                        </a:tabLs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Обработка сигналов (signal)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Для анализа переходных процессов (в коде импортирован, но фактически не использован — можно убрать или оставить как резерв)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/>
                </a:tc>
                <a:extLst>
                  <a:ext uri="{0D108BD9-81ED-4DB2-BD59-A6C34878D82A}">
                    <a16:rowId xmlns:a16="http://schemas.microsoft.com/office/drawing/2014/main" val="2489455291"/>
                  </a:ext>
                </a:extLst>
              </a:tr>
              <a:tr h="477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Matplotlib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Построение графиков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Для визуализации переходной характеристики и работы ПИД-регулятора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/>
                </a:tc>
                <a:extLst>
                  <a:ext uri="{0D108BD9-81ED-4DB2-BD59-A6C34878D82A}">
                    <a16:rowId xmlns:a16="http://schemas.microsoft.com/office/drawing/2014/main" val="1636638858"/>
                  </a:ext>
                </a:extLst>
              </a:tr>
              <a:tr h="477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Dataclasses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Хранение коэффициентов ПИД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Для удобной структуры данных PIDCoefficients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/>
                </a:tc>
                <a:extLst>
                  <a:ext uri="{0D108BD9-81ED-4DB2-BD59-A6C34878D82A}">
                    <a16:rowId xmlns:a16="http://schemas.microsoft.com/office/drawing/2014/main" val="3392976210"/>
                  </a:ext>
                </a:extLst>
              </a:tr>
              <a:tr h="477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Logging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Логирование процесса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Для вывода информационных сообщений в консоль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ctr"/>
                </a:tc>
                <a:extLst>
                  <a:ext uri="{0D108BD9-81ED-4DB2-BD59-A6C34878D82A}">
                    <a16:rowId xmlns:a16="http://schemas.microsoft.com/office/drawing/2014/main" val="4183118061"/>
                  </a:ext>
                </a:extLst>
              </a:tr>
            </a:tbl>
          </a:graphicData>
        </a:graphic>
      </p:graphicFrame>
      <p:sp>
        <p:nvSpPr>
          <p:cNvPr id="7" name="Объект 2">
            <a:extLst>
              <a:ext uri="{FF2B5EF4-FFF2-40B4-BE49-F238E27FC236}">
                <a16:creationId xmlns:a16="http://schemas.microsoft.com/office/drawing/2014/main" id="{4A15E3D3-2F6F-3382-71BD-24FDB69D8017}"/>
              </a:ext>
            </a:extLst>
          </p:cNvPr>
          <p:cNvSpPr txBox="1">
            <a:spLocks/>
          </p:cNvSpPr>
          <p:nvPr/>
        </p:nvSpPr>
        <p:spPr>
          <a:xfrm>
            <a:off x="5794407" y="1229407"/>
            <a:ext cx="3120993" cy="4050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0292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b="1" dirty="0"/>
              <a:t>Библиотеки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9645DC3-AC4B-C3DB-A51A-8C9D52B05FD0}"/>
              </a:ext>
            </a:extLst>
          </p:cNvPr>
          <p:cNvSpPr/>
          <p:nvPr/>
        </p:nvSpPr>
        <p:spPr>
          <a:xfrm>
            <a:off x="3050606" y="6358258"/>
            <a:ext cx="5487602" cy="400221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Выбранное </a:t>
            </a:r>
            <a:r>
              <a:rPr lang="en-US" dirty="0">
                <a:solidFill>
                  <a:schemeClr val="tx1"/>
                </a:solidFill>
              </a:rPr>
              <a:t>IDE</a:t>
            </a:r>
            <a:r>
              <a:rPr lang="ru-RU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PyCharm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13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CD60141-EEBD-4EC1-8E34-0344C16A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308" y="0"/>
            <a:ext cx="6873692" cy="6858000"/>
          </a:xfrm>
          <a:custGeom>
            <a:avLst/>
            <a:gdLst/>
            <a:ahLst/>
            <a:cxnLst/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75A547-BCD1-42BE-966E-53CA0AB93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8357" y="5151666"/>
            <a:ext cx="98225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DE524F2-C7AF-4466-BA99-09C19DE0D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391DB8F-CD1E-4B48-81D6-9781BA3F4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93268" y="-1"/>
            <a:ext cx="9098732" cy="6858000"/>
          </a:xfrm>
          <a:custGeom>
            <a:avLst/>
            <a:gdLst>
              <a:gd name="connsiteX0" fmla="*/ 6010592 w 9098732"/>
              <a:gd name="connsiteY0" fmla="*/ 0 h 6858000"/>
              <a:gd name="connsiteX1" fmla="*/ 6873692 w 9098732"/>
              <a:gd name="connsiteY1" fmla="*/ 0 h 6858000"/>
              <a:gd name="connsiteX2" fmla="*/ 6873692 w 9098732"/>
              <a:gd name="connsiteY2" fmla="*/ 1553955 h 6858000"/>
              <a:gd name="connsiteX3" fmla="*/ 8235629 w 9098732"/>
              <a:gd name="connsiteY3" fmla="*/ 4 h 6858000"/>
              <a:gd name="connsiteX4" fmla="*/ 8235630 w 9098732"/>
              <a:gd name="connsiteY4" fmla="*/ 2 h 6858000"/>
              <a:gd name="connsiteX5" fmla="*/ 8235632 w 9098732"/>
              <a:gd name="connsiteY5" fmla="*/ 0 h 6858000"/>
              <a:gd name="connsiteX6" fmla="*/ 9098732 w 9098732"/>
              <a:gd name="connsiteY6" fmla="*/ 0 h 6858000"/>
              <a:gd name="connsiteX7" fmla="*/ 9098732 w 9098732"/>
              <a:gd name="connsiteY7" fmla="*/ 6858000 h 6858000"/>
              <a:gd name="connsiteX8" fmla="*/ 6873692 w 9098732"/>
              <a:gd name="connsiteY8" fmla="*/ 6858000 h 6858000"/>
              <a:gd name="connsiteX9" fmla="*/ 2225040 w 9098732"/>
              <a:gd name="connsiteY9" fmla="*/ 6858000 h 6858000"/>
              <a:gd name="connsiteX10" fmla="*/ 0 w 9098732"/>
              <a:gd name="connsiteY10" fmla="*/ 6858000 h 6858000"/>
              <a:gd name="connsiteX11" fmla="*/ 6010589 w 9098732"/>
              <a:gd name="connsiteY11" fmla="*/ 4 h 6858000"/>
              <a:gd name="connsiteX12" fmla="*/ 6010590 w 9098732"/>
              <a:gd name="connsiteY12" fmla="*/ 2 h 6858000"/>
              <a:gd name="connsiteX0" fmla="*/ 6010592 w 9098732"/>
              <a:gd name="connsiteY0" fmla="*/ 0 h 6858000"/>
              <a:gd name="connsiteX1" fmla="*/ 6873692 w 9098732"/>
              <a:gd name="connsiteY1" fmla="*/ 0 h 6858000"/>
              <a:gd name="connsiteX2" fmla="*/ 8235629 w 9098732"/>
              <a:gd name="connsiteY2" fmla="*/ 4 h 6858000"/>
              <a:gd name="connsiteX3" fmla="*/ 8235630 w 9098732"/>
              <a:gd name="connsiteY3" fmla="*/ 2 h 6858000"/>
              <a:gd name="connsiteX4" fmla="*/ 8235632 w 9098732"/>
              <a:gd name="connsiteY4" fmla="*/ 0 h 6858000"/>
              <a:gd name="connsiteX5" fmla="*/ 9098732 w 9098732"/>
              <a:gd name="connsiteY5" fmla="*/ 0 h 6858000"/>
              <a:gd name="connsiteX6" fmla="*/ 9098732 w 9098732"/>
              <a:gd name="connsiteY6" fmla="*/ 6858000 h 6858000"/>
              <a:gd name="connsiteX7" fmla="*/ 6873692 w 9098732"/>
              <a:gd name="connsiteY7" fmla="*/ 6858000 h 6858000"/>
              <a:gd name="connsiteX8" fmla="*/ 2225040 w 9098732"/>
              <a:gd name="connsiteY8" fmla="*/ 6858000 h 6858000"/>
              <a:gd name="connsiteX9" fmla="*/ 0 w 9098732"/>
              <a:gd name="connsiteY9" fmla="*/ 6858000 h 6858000"/>
              <a:gd name="connsiteX10" fmla="*/ 6010589 w 9098732"/>
              <a:gd name="connsiteY10" fmla="*/ 4 h 6858000"/>
              <a:gd name="connsiteX11" fmla="*/ 6010590 w 9098732"/>
              <a:gd name="connsiteY11" fmla="*/ 2 h 6858000"/>
              <a:gd name="connsiteX12" fmla="*/ 6010592 w 9098732"/>
              <a:gd name="connsiteY12" fmla="*/ 0 h 6858000"/>
              <a:gd name="connsiteX0" fmla="*/ 6010592 w 9098732"/>
              <a:gd name="connsiteY0" fmla="*/ 0 h 6858000"/>
              <a:gd name="connsiteX1" fmla="*/ 8235629 w 9098732"/>
              <a:gd name="connsiteY1" fmla="*/ 4 h 6858000"/>
              <a:gd name="connsiteX2" fmla="*/ 8235630 w 9098732"/>
              <a:gd name="connsiteY2" fmla="*/ 2 h 6858000"/>
              <a:gd name="connsiteX3" fmla="*/ 8235632 w 9098732"/>
              <a:gd name="connsiteY3" fmla="*/ 0 h 6858000"/>
              <a:gd name="connsiteX4" fmla="*/ 9098732 w 9098732"/>
              <a:gd name="connsiteY4" fmla="*/ 0 h 6858000"/>
              <a:gd name="connsiteX5" fmla="*/ 9098732 w 9098732"/>
              <a:gd name="connsiteY5" fmla="*/ 6858000 h 6858000"/>
              <a:gd name="connsiteX6" fmla="*/ 6873692 w 9098732"/>
              <a:gd name="connsiteY6" fmla="*/ 6858000 h 6858000"/>
              <a:gd name="connsiteX7" fmla="*/ 2225040 w 9098732"/>
              <a:gd name="connsiteY7" fmla="*/ 6858000 h 6858000"/>
              <a:gd name="connsiteX8" fmla="*/ 0 w 9098732"/>
              <a:gd name="connsiteY8" fmla="*/ 6858000 h 6858000"/>
              <a:gd name="connsiteX9" fmla="*/ 6010589 w 9098732"/>
              <a:gd name="connsiteY9" fmla="*/ 4 h 6858000"/>
              <a:gd name="connsiteX10" fmla="*/ 6010590 w 9098732"/>
              <a:gd name="connsiteY10" fmla="*/ 2 h 6858000"/>
              <a:gd name="connsiteX11" fmla="*/ 6010592 w 9098732"/>
              <a:gd name="connsiteY11" fmla="*/ 0 h 6858000"/>
              <a:gd name="connsiteX0" fmla="*/ 6010592 w 9098732"/>
              <a:gd name="connsiteY0" fmla="*/ 0 h 6858000"/>
              <a:gd name="connsiteX1" fmla="*/ 8235629 w 9098732"/>
              <a:gd name="connsiteY1" fmla="*/ 4 h 6858000"/>
              <a:gd name="connsiteX2" fmla="*/ 8235630 w 9098732"/>
              <a:gd name="connsiteY2" fmla="*/ 2 h 6858000"/>
              <a:gd name="connsiteX3" fmla="*/ 9098732 w 9098732"/>
              <a:gd name="connsiteY3" fmla="*/ 0 h 6858000"/>
              <a:gd name="connsiteX4" fmla="*/ 9098732 w 9098732"/>
              <a:gd name="connsiteY4" fmla="*/ 6858000 h 6858000"/>
              <a:gd name="connsiteX5" fmla="*/ 6873692 w 9098732"/>
              <a:gd name="connsiteY5" fmla="*/ 6858000 h 6858000"/>
              <a:gd name="connsiteX6" fmla="*/ 2225040 w 9098732"/>
              <a:gd name="connsiteY6" fmla="*/ 6858000 h 6858000"/>
              <a:gd name="connsiteX7" fmla="*/ 0 w 9098732"/>
              <a:gd name="connsiteY7" fmla="*/ 6858000 h 6858000"/>
              <a:gd name="connsiteX8" fmla="*/ 6010589 w 9098732"/>
              <a:gd name="connsiteY8" fmla="*/ 4 h 6858000"/>
              <a:gd name="connsiteX9" fmla="*/ 6010590 w 9098732"/>
              <a:gd name="connsiteY9" fmla="*/ 2 h 6858000"/>
              <a:gd name="connsiteX10" fmla="*/ 6010592 w 9098732"/>
              <a:gd name="connsiteY10" fmla="*/ 0 h 6858000"/>
              <a:gd name="connsiteX0" fmla="*/ 6010592 w 9098732"/>
              <a:gd name="connsiteY0" fmla="*/ 0 h 6858000"/>
              <a:gd name="connsiteX1" fmla="*/ 8235629 w 9098732"/>
              <a:gd name="connsiteY1" fmla="*/ 4 h 6858000"/>
              <a:gd name="connsiteX2" fmla="*/ 8235630 w 9098732"/>
              <a:gd name="connsiteY2" fmla="*/ 2 h 6858000"/>
              <a:gd name="connsiteX3" fmla="*/ 9098732 w 9098732"/>
              <a:gd name="connsiteY3" fmla="*/ 0 h 6858000"/>
              <a:gd name="connsiteX4" fmla="*/ 9098732 w 9098732"/>
              <a:gd name="connsiteY4" fmla="*/ 6858000 h 6858000"/>
              <a:gd name="connsiteX5" fmla="*/ 2225040 w 9098732"/>
              <a:gd name="connsiteY5" fmla="*/ 6858000 h 6858000"/>
              <a:gd name="connsiteX6" fmla="*/ 0 w 9098732"/>
              <a:gd name="connsiteY6" fmla="*/ 6858000 h 6858000"/>
              <a:gd name="connsiteX7" fmla="*/ 6010589 w 9098732"/>
              <a:gd name="connsiteY7" fmla="*/ 4 h 6858000"/>
              <a:gd name="connsiteX8" fmla="*/ 6010590 w 9098732"/>
              <a:gd name="connsiteY8" fmla="*/ 2 h 6858000"/>
              <a:gd name="connsiteX9" fmla="*/ 6010592 w 9098732"/>
              <a:gd name="connsiteY9" fmla="*/ 0 h 6858000"/>
              <a:gd name="connsiteX0" fmla="*/ 6010592 w 9098732"/>
              <a:gd name="connsiteY0" fmla="*/ 0 h 6858000"/>
              <a:gd name="connsiteX1" fmla="*/ 8235629 w 9098732"/>
              <a:gd name="connsiteY1" fmla="*/ 4 h 6858000"/>
              <a:gd name="connsiteX2" fmla="*/ 8235630 w 9098732"/>
              <a:gd name="connsiteY2" fmla="*/ 2 h 6858000"/>
              <a:gd name="connsiteX3" fmla="*/ 9098732 w 9098732"/>
              <a:gd name="connsiteY3" fmla="*/ 0 h 6858000"/>
              <a:gd name="connsiteX4" fmla="*/ 9098732 w 9098732"/>
              <a:gd name="connsiteY4" fmla="*/ 6858000 h 6858000"/>
              <a:gd name="connsiteX5" fmla="*/ 0 w 9098732"/>
              <a:gd name="connsiteY5" fmla="*/ 6858000 h 6858000"/>
              <a:gd name="connsiteX6" fmla="*/ 6010589 w 9098732"/>
              <a:gd name="connsiteY6" fmla="*/ 4 h 6858000"/>
              <a:gd name="connsiteX7" fmla="*/ 6010590 w 9098732"/>
              <a:gd name="connsiteY7" fmla="*/ 2 h 6858000"/>
              <a:gd name="connsiteX8" fmla="*/ 6010592 w 9098732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98732" h="6858000">
                <a:moveTo>
                  <a:pt x="6010592" y="0"/>
                </a:moveTo>
                <a:lnTo>
                  <a:pt x="8235629" y="4"/>
                </a:lnTo>
                <a:cubicBezTo>
                  <a:pt x="8235629" y="3"/>
                  <a:pt x="8235630" y="3"/>
                  <a:pt x="8235630" y="2"/>
                </a:cubicBezTo>
                <a:lnTo>
                  <a:pt x="9098732" y="0"/>
                </a:lnTo>
                <a:lnTo>
                  <a:pt x="909873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788E3B-1F24-7798-C4B5-63FE9CC19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142908"/>
            <a:ext cx="5860716" cy="25720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400" cap="all" spc="300" dirty="0"/>
              <a:t>Практическая работа №6: </a:t>
            </a:r>
            <a:r>
              <a:rPr lang="en-US" sz="3400" cap="all" spc="300" dirty="0" err="1"/>
              <a:t>Результат</a:t>
            </a:r>
            <a:r>
              <a:rPr lang="en-US" sz="3400" cap="all" spc="300" dirty="0"/>
              <a:t> </a:t>
            </a:r>
            <a:r>
              <a:rPr lang="en-US" sz="3400" cap="all" spc="300" dirty="0" err="1"/>
              <a:t>выполнения</a:t>
            </a:r>
            <a:r>
              <a:rPr lang="en-US" sz="3400" cap="all" spc="300" dirty="0"/>
              <a:t> </a:t>
            </a:r>
            <a:r>
              <a:rPr lang="en-US" sz="3400" cap="all" spc="300" dirty="0" err="1"/>
              <a:t>работы</a:t>
            </a:r>
            <a:r>
              <a:rPr lang="en-US" sz="3400" cap="all" spc="300" dirty="0"/>
              <a:t> </a:t>
            </a:r>
            <a:r>
              <a:rPr lang="en-US" sz="3400" cap="all" spc="300" dirty="0" err="1"/>
              <a:t>кода</a:t>
            </a:r>
            <a:endParaRPr lang="en-US" sz="3400" cap="all" spc="3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CC4E73-50A4-0F95-F4B7-0085394C73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452" y="146009"/>
            <a:ext cx="4436801" cy="296156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229460-ADA9-C746-423B-EE4341130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97" y="3253584"/>
            <a:ext cx="4436803" cy="296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86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46E70A-EC11-DB3F-547D-38757CC3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317" y="247294"/>
            <a:ext cx="7683366" cy="522728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Практическая работа №7: </a:t>
            </a:r>
            <a:r>
              <a:rPr lang="en-US" sz="3200" dirty="0"/>
              <a:t>ER-</a:t>
            </a:r>
            <a:r>
              <a:rPr lang="ru-RU" sz="3200" dirty="0"/>
              <a:t>диаграмма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DDF40B-1FBF-31FF-B608-A621E1BAA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67" y="1295400"/>
            <a:ext cx="10521676" cy="428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726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DB8708-98C9-EEA8-C03E-6AD4C3BBB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4295"/>
            <a:ext cx="9905999" cy="493852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Практическая работа №8: Выбор СУБД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24C0EA-60E9-49BF-AB11-3EE94E958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080742"/>
            <a:ext cx="4738036" cy="4207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Сравнительный анализ СУБД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0E2284C-C32C-6D96-19B4-849522982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493121"/>
              </p:ext>
            </p:extLst>
          </p:nvPr>
        </p:nvGraphicFramePr>
        <p:xfrm>
          <a:off x="1143000" y="1764136"/>
          <a:ext cx="9906000" cy="2711554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3007273">
                  <a:extLst>
                    <a:ext uri="{9D8B030D-6E8A-4147-A177-3AD203B41FA5}">
                      <a16:colId xmlns:a16="http://schemas.microsoft.com/office/drawing/2014/main" val="2514749069"/>
                    </a:ext>
                  </a:extLst>
                </a:gridCol>
                <a:gridCol w="2300979">
                  <a:extLst>
                    <a:ext uri="{9D8B030D-6E8A-4147-A177-3AD203B41FA5}">
                      <a16:colId xmlns:a16="http://schemas.microsoft.com/office/drawing/2014/main" val="1242843991"/>
                    </a:ext>
                  </a:extLst>
                </a:gridCol>
                <a:gridCol w="2295716">
                  <a:extLst>
                    <a:ext uri="{9D8B030D-6E8A-4147-A177-3AD203B41FA5}">
                      <a16:colId xmlns:a16="http://schemas.microsoft.com/office/drawing/2014/main" val="3620122351"/>
                    </a:ext>
                  </a:extLst>
                </a:gridCol>
                <a:gridCol w="2302032">
                  <a:extLst>
                    <a:ext uri="{9D8B030D-6E8A-4147-A177-3AD203B41FA5}">
                      <a16:colId xmlns:a16="http://schemas.microsoft.com/office/drawing/2014/main" val="606009757"/>
                    </a:ext>
                  </a:extLst>
                </a:gridCol>
              </a:tblGrid>
              <a:tr h="3853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Критерий</a:t>
                      </a:r>
                      <a:endParaRPr lang="ru-RU" sz="14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b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b="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PostgreSQL</a:t>
                      </a:r>
                      <a:endParaRPr lang="ru-RU" sz="14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b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MySQL</a:t>
                      </a:r>
                      <a:endParaRPr lang="ru-RU" sz="14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b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b="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SQLite</a:t>
                      </a:r>
                      <a:endParaRPr lang="ru-RU" sz="14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 anchor="b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893072"/>
                  </a:ext>
                </a:extLst>
              </a:tr>
              <a:tr h="707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0" kern="100">
                          <a:effectLst/>
                          <a:latin typeface="+mn-lt"/>
                        </a:rPr>
                        <a:t>Поддержка конкурентного доступа</a:t>
                      </a:r>
                      <a:endParaRPr lang="ru-RU" sz="1400" b="0" kern="100"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0" kern="100" dirty="0">
                          <a:effectLst/>
                          <a:latin typeface="+mn-lt"/>
                        </a:rPr>
                        <a:t>Отличная (MVCC)</a:t>
                      </a:r>
                      <a:endParaRPr lang="ru-RU" sz="1400" b="0" kern="100" dirty="0"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0" kern="100">
                          <a:effectLst/>
                          <a:latin typeface="+mn-lt"/>
                        </a:rPr>
                        <a:t>Хорошая (InnoDB)</a:t>
                      </a:r>
                      <a:endParaRPr lang="ru-RU" sz="1400" b="0" kern="100"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0" kern="100" dirty="0">
                          <a:effectLst/>
                          <a:latin typeface="+mn-lt"/>
                        </a:rPr>
                        <a:t>Отсутствует (только один писатель одновременно)</a:t>
                      </a:r>
                      <a:endParaRPr lang="ru-RU" sz="1400" b="0" kern="100" dirty="0"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/>
                </a:tc>
                <a:extLst>
                  <a:ext uri="{0D108BD9-81ED-4DB2-BD59-A6C34878D82A}">
                    <a16:rowId xmlns:a16="http://schemas.microsoft.com/office/drawing/2014/main" val="653494861"/>
                  </a:ext>
                </a:extLst>
              </a:tr>
              <a:tr h="3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0" kern="100">
                          <a:effectLst/>
                          <a:latin typeface="+mn-lt"/>
                        </a:rPr>
                        <a:t>Работа с временными рядами</a:t>
                      </a:r>
                      <a:endParaRPr lang="ru-RU" sz="1400" b="0" kern="100"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0" kern="100">
                          <a:effectLst/>
                          <a:latin typeface="+mn-lt"/>
                        </a:rPr>
                        <a:t>Отличная(через </a:t>
                      </a:r>
                      <a:r>
                        <a:rPr lang="en-US" sz="1400" b="0" kern="100">
                          <a:effectLst/>
                          <a:latin typeface="+mn-lt"/>
                        </a:rPr>
                        <a:t>TimescaleDB)</a:t>
                      </a:r>
                      <a:endParaRPr lang="ru-RU" sz="1400" b="0" kern="100"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0" kern="100">
                          <a:effectLst/>
                          <a:latin typeface="+mn-lt"/>
                        </a:rPr>
                        <a:t>Средняя</a:t>
                      </a:r>
                      <a:endParaRPr lang="ru-RU" sz="1400" b="0" kern="100"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0" kern="100" dirty="0">
                          <a:effectLst/>
                          <a:latin typeface="+mn-lt"/>
                        </a:rPr>
                        <a:t>Плохая</a:t>
                      </a:r>
                      <a:endParaRPr lang="ru-RU" sz="1400" b="0" kern="100" dirty="0"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/>
                </a:tc>
                <a:extLst>
                  <a:ext uri="{0D108BD9-81ED-4DB2-BD59-A6C34878D82A}">
                    <a16:rowId xmlns:a16="http://schemas.microsoft.com/office/drawing/2014/main" val="1092908617"/>
                  </a:ext>
                </a:extLst>
              </a:tr>
              <a:tr h="3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0" kern="100">
                          <a:effectLst/>
                          <a:latin typeface="+mn-lt"/>
                        </a:rPr>
                        <a:t>Работа с </a:t>
                      </a:r>
                      <a:r>
                        <a:rPr lang="en-US" sz="1400" b="0" kern="100">
                          <a:effectLst/>
                          <a:latin typeface="+mn-lt"/>
                        </a:rPr>
                        <a:t>JSON</a:t>
                      </a:r>
                      <a:endParaRPr lang="ru-RU" sz="1400" b="0" kern="100"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0" kern="100">
                          <a:effectLst/>
                          <a:latin typeface="+mn-lt"/>
                        </a:rPr>
                        <a:t>Отличная(</a:t>
                      </a:r>
                      <a:r>
                        <a:rPr lang="en-US" sz="1400" b="0" kern="100">
                          <a:effectLst/>
                          <a:latin typeface="+mn-lt"/>
                        </a:rPr>
                        <a:t>JSONB)</a:t>
                      </a:r>
                      <a:endParaRPr lang="ru-RU" sz="1400" b="0" kern="100"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0" kern="100">
                          <a:effectLst/>
                          <a:latin typeface="+mn-lt"/>
                        </a:rPr>
                        <a:t>Хорошая</a:t>
                      </a:r>
                      <a:endParaRPr lang="ru-RU" sz="1400" b="0" kern="100"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0" kern="100" dirty="0">
                          <a:effectLst/>
                          <a:latin typeface="+mn-lt"/>
                        </a:rPr>
                        <a:t>Базовая</a:t>
                      </a:r>
                      <a:endParaRPr lang="ru-RU" sz="1400" b="0" kern="100" dirty="0"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/>
                </a:tc>
                <a:extLst>
                  <a:ext uri="{0D108BD9-81ED-4DB2-BD59-A6C34878D82A}">
                    <a16:rowId xmlns:a16="http://schemas.microsoft.com/office/drawing/2014/main" val="4210035629"/>
                  </a:ext>
                </a:extLst>
              </a:tr>
              <a:tr h="3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0" kern="100">
                          <a:effectLst/>
                          <a:latin typeface="+mn-lt"/>
                        </a:rPr>
                        <a:t>Сложность администрирования</a:t>
                      </a:r>
                      <a:endParaRPr lang="ru-RU" sz="1400" b="0" kern="100"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0" kern="100">
                          <a:effectLst/>
                          <a:latin typeface="+mn-lt"/>
                        </a:rPr>
                        <a:t>Высокая </a:t>
                      </a:r>
                      <a:endParaRPr lang="ru-RU" sz="1400" b="0" kern="100"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0" kern="100">
                          <a:effectLst/>
                          <a:latin typeface="+mn-lt"/>
                        </a:rPr>
                        <a:t>Средняя</a:t>
                      </a:r>
                      <a:endParaRPr lang="ru-RU" sz="1400" b="0" kern="100"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0" kern="100" dirty="0">
                          <a:effectLst/>
                          <a:latin typeface="+mn-lt"/>
                        </a:rPr>
                        <a:t>Нулевая</a:t>
                      </a:r>
                      <a:endParaRPr lang="ru-RU" sz="1400" b="0" kern="100" dirty="0"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/>
                </a:tc>
                <a:extLst>
                  <a:ext uri="{0D108BD9-81ED-4DB2-BD59-A6C34878D82A}">
                    <a16:rowId xmlns:a16="http://schemas.microsoft.com/office/drawing/2014/main" val="1883739798"/>
                  </a:ext>
                </a:extLst>
              </a:tr>
              <a:tr h="3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0" kern="100">
                          <a:effectLst/>
                          <a:latin typeface="+mn-lt"/>
                        </a:rPr>
                        <a:t>Соответствие стандарту SQL</a:t>
                      </a:r>
                      <a:endParaRPr lang="ru-RU" sz="1400" b="0" kern="100"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0" kern="100">
                          <a:effectLst/>
                          <a:latin typeface="+mn-lt"/>
                        </a:rPr>
                        <a:t>Очень высокое</a:t>
                      </a:r>
                      <a:endParaRPr lang="ru-RU" sz="1400" b="0" kern="100"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0" kern="100">
                          <a:effectLst/>
                          <a:latin typeface="+mn-lt"/>
                        </a:rPr>
                        <a:t>Среднее</a:t>
                      </a:r>
                      <a:endParaRPr lang="ru-RU" sz="1400" b="0" kern="100"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0" kern="100" dirty="0">
                          <a:effectLst/>
                          <a:latin typeface="+mn-lt"/>
                        </a:rPr>
                        <a:t>Высокое</a:t>
                      </a:r>
                      <a:endParaRPr lang="ru-RU" sz="1400" b="0" kern="100" dirty="0">
                        <a:effectLst/>
                        <a:latin typeface="+mn-lt"/>
                        <a:ea typeface="Droid Sans Fallback"/>
                        <a:cs typeface="FreeSans"/>
                      </a:endParaRPr>
                    </a:p>
                  </a:txBody>
                  <a:tcPr marL="17780" marR="17780" marT="17780" marB="17780"/>
                </a:tc>
                <a:extLst>
                  <a:ext uri="{0D108BD9-81ED-4DB2-BD59-A6C34878D82A}">
                    <a16:rowId xmlns:a16="http://schemas.microsoft.com/office/drawing/2014/main" val="3079469175"/>
                  </a:ext>
                </a:extLst>
              </a:tr>
            </a:tbl>
          </a:graphicData>
        </a:graphic>
      </p:graphicFrame>
      <p:sp>
        <p:nvSpPr>
          <p:cNvPr id="5" name="Овал 4">
            <a:extLst>
              <a:ext uri="{FF2B5EF4-FFF2-40B4-BE49-F238E27FC236}">
                <a16:creationId xmlns:a16="http://schemas.microsoft.com/office/drawing/2014/main" id="{25F56CBF-7434-D70D-48B4-44257D224CCA}"/>
              </a:ext>
            </a:extLst>
          </p:cNvPr>
          <p:cNvSpPr/>
          <p:nvPr/>
        </p:nvSpPr>
        <p:spPr>
          <a:xfrm>
            <a:off x="1260908" y="4738284"/>
            <a:ext cx="9711891" cy="11716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Выбор СУБД:  </a:t>
            </a:r>
            <a:r>
              <a:rPr lang="ru-RU" dirty="0" err="1"/>
              <a:t>PostgreSQL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1886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ACE8B47-FB23-4E42-20EA-42C0A0AC5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665" y="958856"/>
            <a:ext cx="8934668" cy="498832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E7E295-5171-C065-D67E-AA329EA44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8438" y="310999"/>
            <a:ext cx="7895122" cy="647857"/>
          </a:xfrm>
        </p:spPr>
        <p:txBody>
          <a:bodyPr>
            <a:normAutofit/>
          </a:bodyPr>
          <a:lstStyle/>
          <a:p>
            <a:r>
              <a:rPr lang="ru-RU" sz="3200"/>
              <a:t>Практическая работа №8: Создание БД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2333203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54E22-04AB-075C-EDC6-7D1138F44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2877" y="343545"/>
            <a:ext cx="7866246" cy="878863"/>
          </a:xfrm>
        </p:spPr>
        <p:txBody>
          <a:bodyPr>
            <a:normAutofit fontScale="90000"/>
          </a:bodyPr>
          <a:lstStyle/>
          <a:p>
            <a:r>
              <a:rPr lang="ru-RU" sz="3200"/>
              <a:t>Практическая работа №8: Заполнение БД</a:t>
            </a:r>
            <a:endParaRPr lang="ru-RU" sz="3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59ADE8C-8D81-C75B-288A-0A8331790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248" y="1076557"/>
            <a:ext cx="8675036" cy="487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51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3C7574-55ED-B82C-AED6-EAA07E889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4514" y="279132"/>
            <a:ext cx="6922971" cy="616017"/>
          </a:xfrm>
        </p:spPr>
        <p:txBody>
          <a:bodyPr>
            <a:normAutofit/>
          </a:bodyPr>
          <a:lstStyle/>
          <a:p>
            <a:r>
              <a:rPr lang="ru-RU" sz="3200" b="1" dirty="0"/>
              <a:t>Практическая работа №8:</a:t>
            </a:r>
            <a:r>
              <a:rPr lang="en-US" sz="3200" b="1" dirty="0"/>
              <a:t> </a:t>
            </a:r>
            <a:r>
              <a:rPr lang="ru-RU" sz="3200" b="1" dirty="0"/>
              <a:t>Запрос </a:t>
            </a:r>
            <a:endParaRPr lang="ru-RU" sz="3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4B76A6B-8223-64E2-C172-ABB5AB4BB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356" y="1125269"/>
            <a:ext cx="8713288" cy="489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1384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C03566-1A03-5F1C-FE1E-1B2A19750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424" y="397627"/>
            <a:ext cx="10191150" cy="561229"/>
          </a:xfrm>
        </p:spPr>
        <p:txBody>
          <a:bodyPr>
            <a:noAutofit/>
          </a:bodyPr>
          <a:lstStyle/>
          <a:p>
            <a:r>
              <a:rPr lang="ru-RU" sz="3200" dirty="0"/>
              <a:t>Практическая работа №9: Клиентское оборудование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F2A8F3B-AC55-64B5-70CB-5781DA9AC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878801"/>
              </p:ext>
            </p:extLst>
          </p:nvPr>
        </p:nvGraphicFramePr>
        <p:xfrm>
          <a:off x="1270535" y="1135782"/>
          <a:ext cx="9692640" cy="4860281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2310289">
                  <a:extLst>
                    <a:ext uri="{9D8B030D-6E8A-4147-A177-3AD203B41FA5}">
                      <a16:colId xmlns:a16="http://schemas.microsoft.com/office/drawing/2014/main" val="3164320832"/>
                    </a:ext>
                  </a:extLst>
                </a:gridCol>
                <a:gridCol w="3126287">
                  <a:extLst>
                    <a:ext uri="{9D8B030D-6E8A-4147-A177-3AD203B41FA5}">
                      <a16:colId xmlns:a16="http://schemas.microsoft.com/office/drawing/2014/main" val="4173476846"/>
                    </a:ext>
                  </a:extLst>
                </a:gridCol>
                <a:gridCol w="4256064">
                  <a:extLst>
                    <a:ext uri="{9D8B030D-6E8A-4147-A177-3AD203B41FA5}">
                      <a16:colId xmlns:a16="http://schemas.microsoft.com/office/drawing/2014/main" val="3066225710"/>
                    </a:ext>
                  </a:extLst>
                </a:gridCol>
              </a:tblGrid>
              <a:tr h="1197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kern="100" dirty="0">
                          <a:effectLst/>
                        </a:rPr>
                        <a:t>Параметр</a:t>
                      </a:r>
                      <a:endParaRPr lang="ru-RU" sz="1400" b="1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8670" marR="8670" marT="0" marB="0" anchor="ctr"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kern="100">
                          <a:effectLst/>
                        </a:rPr>
                        <a:t>Значение</a:t>
                      </a:r>
                      <a:endParaRPr lang="ru-RU" sz="1400" b="1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8670" marR="8670" marT="0" marB="0" anchor="ctr"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kern="100">
                          <a:effectLst/>
                        </a:rPr>
                        <a:t>Обоснование</a:t>
                      </a:r>
                      <a:endParaRPr lang="ru-RU" sz="1400" b="1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8670" marR="8670" marT="0" marB="0" anchor="ctr"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1583119"/>
                  </a:ext>
                </a:extLst>
              </a:tr>
              <a:tr h="1051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kern="100" dirty="0">
                          <a:effectLst/>
                        </a:rPr>
                        <a:t>Тип устройства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8670" marR="867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kern="100" dirty="0">
                          <a:effectLst/>
                        </a:rPr>
                        <a:t>ПК / Ноутбук / Промышленный </a:t>
                      </a:r>
                      <a:r>
                        <a:rPr lang="ru-RU" sz="1400" kern="100" dirty="0" err="1">
                          <a:effectLst/>
                        </a:rPr>
                        <a:t>паланшет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8670" marR="867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kern="100">
                          <a:effectLst/>
                        </a:rPr>
                        <a:t>Доступ к системе осуществляется через веб-интерфейс диспетчерской или мобильное приложение агронома. Промышленные планшеты используются для обхода теплиц.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8670" marR="867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925941"/>
                  </a:ext>
                </a:extLst>
              </a:tr>
              <a:tr h="5839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kern="100" dirty="0">
                          <a:effectLst/>
                        </a:rPr>
                        <a:t>Процессор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8670" marR="867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00">
                          <a:effectLst/>
                        </a:rPr>
                        <a:t>Intel Core i3-10100 / AMD Ryzen 3 4300G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8670" marR="867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kern="100">
                          <a:effectLst/>
                        </a:rPr>
                        <a:t>Достаточно для работы современного браузера (Chrome, Edge) с панелью мониторинга датчиков и графиками температур.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8670" marR="867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2344451"/>
                  </a:ext>
                </a:extLst>
              </a:tr>
              <a:tr h="700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kern="100" dirty="0">
                          <a:effectLst/>
                        </a:rPr>
                        <a:t>Оперативная память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8670" marR="867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kern="100">
                          <a:effectLst/>
                        </a:rPr>
                        <a:t>8 ГБ DDR4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8670" marR="867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kern="100">
                          <a:effectLst/>
                        </a:rPr>
                        <a:t>Обеспечивает одновременную работу ОС, браузера с дашбордом в реальном времени и офисного пакета для отчетов.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8670" marR="867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894716"/>
                  </a:ext>
                </a:extLst>
              </a:tr>
              <a:tr h="5839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kern="100" dirty="0">
                          <a:effectLst/>
                        </a:rPr>
                        <a:t>Накопитель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8670" marR="867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kern="100">
                          <a:effectLst/>
                        </a:rPr>
                        <a:t>SSD 256 ГБ (NVMe/SATA)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8670" marR="867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kern="100" dirty="0">
                          <a:effectLst/>
                        </a:rPr>
                        <a:t>Обеспечивает быструю загрузку ОС и браузера. Журнал событий и графики не хранятся локально.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8670" marR="867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2076128"/>
                  </a:ext>
                </a:extLst>
              </a:tr>
              <a:tr h="8175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kern="100" dirty="0">
                          <a:effectLst/>
                        </a:rPr>
                        <a:t>Сетевой адаптер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8670" marR="867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00">
                          <a:effectLst/>
                        </a:rPr>
                        <a:t>Gigabit Ethernet (1 </a:t>
                      </a:r>
                      <a:r>
                        <a:rPr lang="ru-RU" sz="1400" kern="100">
                          <a:effectLst/>
                        </a:rPr>
                        <a:t>Гбит</a:t>
                      </a:r>
                      <a:r>
                        <a:rPr lang="en-US" sz="1400" kern="100">
                          <a:effectLst/>
                        </a:rPr>
                        <a:t>/</a:t>
                      </a:r>
                      <a:r>
                        <a:rPr lang="ru-RU" sz="1400" kern="100">
                          <a:effectLst/>
                        </a:rPr>
                        <a:t>с</a:t>
                      </a:r>
                      <a:r>
                        <a:rPr lang="en-US" sz="1400" kern="100">
                          <a:effectLst/>
                        </a:rPr>
                        <a:t>) </a:t>
                      </a:r>
                      <a:r>
                        <a:rPr lang="ru-RU" sz="1400" kern="100">
                          <a:effectLst/>
                        </a:rPr>
                        <a:t>или</a:t>
                      </a:r>
                      <a:r>
                        <a:rPr lang="en-US" sz="1400" kern="100">
                          <a:effectLst/>
                        </a:rPr>
                        <a:t> Wi-Fi 5/6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8670" marR="867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kern="100">
                          <a:effectLst/>
                        </a:rPr>
                        <a:t>Для стабильного подключения к серверу управления. Полосы пропускания достаточно для передачи показаний датчиков и команд управления.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8670" marR="867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3859976"/>
                  </a:ext>
                </a:extLst>
              </a:tr>
              <a:tr h="8175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kern="100" dirty="0">
                          <a:effectLst/>
                        </a:rPr>
                        <a:t>Монитор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8670" marR="867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kern="100">
                          <a:effectLst/>
                        </a:rPr>
                        <a:t>23.8", 1920x1080 (Full HD)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8670" marR="867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kern="100" dirty="0">
                          <a:effectLst/>
                        </a:rPr>
                        <a:t>Для диспетчерской — Full HD для отображения всех зон оранжереи на мнемосхеме. Для мобильных агрономов — сенсорный экран планшета.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8670" marR="867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403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65714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DA9A40-9C85-9D62-2600-4906F92F9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826" y="278407"/>
            <a:ext cx="10494346" cy="866999"/>
          </a:xfrm>
        </p:spPr>
        <p:txBody>
          <a:bodyPr>
            <a:normAutofit/>
          </a:bodyPr>
          <a:lstStyle/>
          <a:p>
            <a:r>
              <a:rPr lang="ru-RU" sz="3200" dirty="0"/>
              <a:t>Практическая работа №9: Серверная инфраструктура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6C4057FF-4C71-1911-5CCD-F5EDC8BC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64" y="1135779"/>
            <a:ext cx="4862764" cy="2367213"/>
          </a:xfrm>
          <a:solidFill>
            <a:schemeClr val="accent5">
              <a:lumMod val="75000"/>
            </a:schemeClr>
          </a:solidFill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ru-RU" sz="5200" b="1" dirty="0"/>
              <a:t>Сервер баз данных (</a:t>
            </a:r>
            <a:r>
              <a:rPr lang="en-US" sz="5200" b="1" dirty="0"/>
              <a:t>PostgreSQL + </a:t>
            </a:r>
            <a:r>
              <a:rPr lang="en-US" sz="5200" b="1" dirty="0" err="1"/>
              <a:t>TimescaleDB</a:t>
            </a:r>
            <a:r>
              <a:rPr lang="en-US" sz="5200" b="1" dirty="0"/>
              <a:t>)</a:t>
            </a:r>
          </a:p>
          <a:p>
            <a:r>
              <a:rPr lang="en-US" sz="5200" b="1" dirty="0"/>
              <a:t>CPU:</a:t>
            </a:r>
            <a:r>
              <a:rPr lang="en-US" sz="5200" dirty="0"/>
              <a:t> Intel Xeon Silver 4314 (16 </a:t>
            </a:r>
            <a:r>
              <a:rPr lang="ru-RU" sz="5200" dirty="0"/>
              <a:t>ядер, 2.4 ГГц) — параллельная запись показаний от 100 датчиков</a:t>
            </a:r>
          </a:p>
          <a:p>
            <a:r>
              <a:rPr lang="en-US" sz="5200" b="1" dirty="0"/>
              <a:t>RAM:</a:t>
            </a:r>
            <a:r>
              <a:rPr lang="en-US" sz="5200" dirty="0"/>
              <a:t> 64 </a:t>
            </a:r>
            <a:r>
              <a:rPr lang="ru-RU" sz="5200" dirty="0"/>
              <a:t>ГБ </a:t>
            </a:r>
            <a:r>
              <a:rPr lang="en-US" sz="5200" dirty="0"/>
              <a:t>DDR4 ECC — </a:t>
            </a:r>
            <a:r>
              <a:rPr lang="ru-RU" sz="5200" dirty="0"/>
              <a:t>кэширование «горячих» данных (индексы, последние показания)</a:t>
            </a:r>
          </a:p>
          <a:p>
            <a:r>
              <a:rPr lang="en-US" sz="5200" b="1" dirty="0"/>
              <a:t>Storage:</a:t>
            </a:r>
            <a:r>
              <a:rPr lang="en-US" sz="5200" dirty="0"/>
              <a:t> 4x </a:t>
            </a:r>
            <a:r>
              <a:rPr lang="en-US" sz="5200" dirty="0" err="1"/>
              <a:t>NVMe</a:t>
            </a:r>
            <a:r>
              <a:rPr lang="en-US" sz="5200" dirty="0"/>
              <a:t> SSD 960 </a:t>
            </a:r>
            <a:r>
              <a:rPr lang="ru-RU" sz="5200" dirty="0"/>
              <a:t>ГБ (</a:t>
            </a:r>
            <a:r>
              <a:rPr lang="en-US" sz="5200" dirty="0"/>
              <a:t>RAID 10) — </a:t>
            </a:r>
            <a:r>
              <a:rPr lang="ru-RU" sz="5200" dirty="0"/>
              <a:t>быстрая запись временных рядов</a:t>
            </a:r>
          </a:p>
          <a:p>
            <a:r>
              <a:rPr lang="ru-RU" sz="5200" b="1" dirty="0"/>
              <a:t>Сеть:</a:t>
            </a:r>
            <a:r>
              <a:rPr lang="ru-RU" sz="5200" dirty="0"/>
              <a:t> 2</a:t>
            </a:r>
            <a:r>
              <a:rPr lang="en-US" sz="5200" dirty="0"/>
              <a:t>x 10 GbE SFP+ — </a:t>
            </a:r>
            <a:r>
              <a:rPr lang="ru-RU" sz="5200" dirty="0"/>
              <a:t>репликация и связь с сервером приложений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8E4A1917-00BE-698B-8350-F98F4729AE96}"/>
              </a:ext>
            </a:extLst>
          </p:cNvPr>
          <p:cNvSpPr txBox="1">
            <a:spLocks/>
          </p:cNvSpPr>
          <p:nvPr/>
        </p:nvSpPr>
        <p:spPr>
          <a:xfrm>
            <a:off x="5932367" y="1071411"/>
            <a:ext cx="5088557" cy="243158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0292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3300" b="1" dirty="0"/>
              <a:t>Сервер приложений (</a:t>
            </a:r>
            <a:r>
              <a:rPr lang="en-US" sz="3300" b="1" dirty="0"/>
              <a:t>SCADA + MQTT Broker + Web)</a:t>
            </a:r>
          </a:p>
          <a:p>
            <a:r>
              <a:rPr lang="en-US" sz="3300" b="1" dirty="0"/>
              <a:t>CPU:</a:t>
            </a:r>
            <a:r>
              <a:rPr lang="en-US" sz="3300" dirty="0"/>
              <a:t> Intel Xeon E-2336 (6 </a:t>
            </a:r>
            <a:r>
              <a:rPr lang="ru-RU" sz="3300" dirty="0"/>
              <a:t>ядер, 3.0 ГГц) — обработка </a:t>
            </a:r>
            <a:r>
              <a:rPr lang="en-US" sz="3300" dirty="0"/>
              <a:t>MQTT-</a:t>
            </a:r>
            <a:r>
              <a:rPr lang="ru-RU" sz="3300" dirty="0"/>
              <a:t>трафика и логика ПИД</a:t>
            </a:r>
          </a:p>
          <a:p>
            <a:r>
              <a:rPr lang="en-US" sz="3300" b="1" dirty="0"/>
              <a:t>RAM:</a:t>
            </a:r>
            <a:r>
              <a:rPr lang="en-US" sz="3300" dirty="0"/>
              <a:t> 32 </a:t>
            </a:r>
            <a:r>
              <a:rPr lang="ru-RU" sz="3300" dirty="0"/>
              <a:t>ГБ </a:t>
            </a:r>
            <a:r>
              <a:rPr lang="en-US" sz="3300" dirty="0"/>
              <a:t>DDR4 ECC — </a:t>
            </a:r>
            <a:r>
              <a:rPr lang="ru-RU" sz="3300" dirty="0"/>
              <a:t>кэш мнемосхем, сессии пользователей, состояния устройств</a:t>
            </a:r>
          </a:p>
          <a:p>
            <a:r>
              <a:rPr lang="en-US" sz="3300" b="1" dirty="0"/>
              <a:t>Storage:</a:t>
            </a:r>
            <a:r>
              <a:rPr lang="en-US" sz="3300" dirty="0"/>
              <a:t> 2x SSD 480 </a:t>
            </a:r>
            <a:r>
              <a:rPr lang="ru-RU" sz="3300" dirty="0"/>
              <a:t>ГБ (</a:t>
            </a:r>
            <a:r>
              <a:rPr lang="en-US" sz="3300" dirty="0"/>
              <a:t>RAID 1) — </a:t>
            </a:r>
            <a:r>
              <a:rPr lang="ru-RU" sz="3300" dirty="0"/>
              <a:t>логи, конфигурации, веб-приложение</a:t>
            </a:r>
          </a:p>
          <a:p>
            <a:r>
              <a:rPr lang="ru-RU" sz="3300" b="1" dirty="0"/>
              <a:t>Сеть:</a:t>
            </a:r>
            <a:r>
              <a:rPr lang="ru-RU" sz="3300" dirty="0"/>
              <a:t> 2</a:t>
            </a:r>
            <a:r>
              <a:rPr lang="en-US" sz="3300" dirty="0"/>
              <a:t>x 10 GbE SFP+ — </a:t>
            </a:r>
            <a:r>
              <a:rPr lang="ru-RU" sz="3300" dirty="0"/>
              <a:t>связь с БД и промышленными контроллерами</a:t>
            </a:r>
          </a:p>
          <a:p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62E131A6-E2D9-057F-EBC3-4855DA616D1B}"/>
              </a:ext>
            </a:extLst>
          </p:cNvPr>
          <p:cNvSpPr txBox="1">
            <a:spLocks/>
          </p:cNvSpPr>
          <p:nvPr/>
        </p:nvSpPr>
        <p:spPr>
          <a:xfrm>
            <a:off x="748764" y="3576988"/>
            <a:ext cx="4862764" cy="256633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0292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b="1" dirty="0"/>
              <a:t>Промышленные контроллеры (</a:t>
            </a:r>
            <a:r>
              <a:rPr lang="en-US" sz="1400" b="1" dirty="0"/>
              <a:t>PLC)</a:t>
            </a:r>
          </a:p>
          <a:p>
            <a:r>
              <a:rPr lang="ru-RU" sz="1400" b="1" dirty="0"/>
              <a:t>Тип:</a:t>
            </a:r>
            <a:r>
              <a:rPr lang="ru-RU" sz="1400" dirty="0"/>
              <a:t> </a:t>
            </a:r>
            <a:r>
              <a:rPr lang="en-US" sz="1400" dirty="0"/>
              <a:t>Siemens SIMATIC S7-1200 / OWEN PLC110 / Raspberry Pi</a:t>
            </a:r>
          </a:p>
          <a:p>
            <a:r>
              <a:rPr lang="ru-RU" sz="1400" b="1" dirty="0"/>
              <a:t>Входы/выходы:</a:t>
            </a:r>
            <a:r>
              <a:rPr lang="ru-RU" sz="1400" dirty="0"/>
              <a:t> 8-16 </a:t>
            </a:r>
            <a:r>
              <a:rPr lang="en-US" sz="1400" dirty="0"/>
              <a:t>DI / 8-16 DO + 4-8 AI (4-20 </a:t>
            </a:r>
            <a:r>
              <a:rPr lang="ru-RU" sz="1400" dirty="0"/>
              <a:t>мА, </a:t>
            </a:r>
            <a:r>
              <a:rPr lang="en-US" sz="1400" dirty="0"/>
              <a:t>Pt100)</a:t>
            </a:r>
          </a:p>
          <a:p>
            <a:r>
              <a:rPr lang="ru-RU" sz="1400" b="1" dirty="0"/>
              <a:t>Протоколы:</a:t>
            </a:r>
            <a:r>
              <a:rPr lang="ru-RU" sz="1400" dirty="0"/>
              <a:t> </a:t>
            </a:r>
            <a:r>
              <a:rPr lang="en-US" sz="1400" dirty="0"/>
              <a:t>MQTT / Modbus TCP — </a:t>
            </a:r>
            <a:r>
              <a:rPr lang="ru-RU" sz="1400" dirty="0"/>
              <a:t>передача телеметрии и приём команд</a:t>
            </a:r>
          </a:p>
          <a:p>
            <a:r>
              <a:rPr lang="ru-RU" sz="1400" b="1" dirty="0"/>
              <a:t>Сеть:</a:t>
            </a:r>
            <a:r>
              <a:rPr lang="ru-RU" sz="1400" dirty="0"/>
              <a:t> </a:t>
            </a:r>
            <a:r>
              <a:rPr lang="en-US" sz="1400" dirty="0"/>
              <a:t>Ethernet 100 </a:t>
            </a:r>
            <a:r>
              <a:rPr lang="ru-RU" sz="1400" dirty="0"/>
              <a:t>Мбит/с + </a:t>
            </a:r>
            <a:r>
              <a:rPr lang="en-US" sz="1400" dirty="0"/>
              <a:t>Wi-Fi </a:t>
            </a:r>
            <a:r>
              <a:rPr lang="ru-RU" sz="1400" dirty="0"/>
              <a:t>для мобильных датчиков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7571B4C0-506F-8C48-10B4-206BA326A608}"/>
              </a:ext>
            </a:extLst>
          </p:cNvPr>
          <p:cNvSpPr txBox="1">
            <a:spLocks/>
          </p:cNvSpPr>
          <p:nvPr/>
        </p:nvSpPr>
        <p:spPr>
          <a:xfrm>
            <a:off x="5932368" y="3576988"/>
            <a:ext cx="5088557" cy="25663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0292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b="1" dirty="0"/>
              <a:t>Диспетчерская рабочая станция</a:t>
            </a:r>
          </a:p>
          <a:p>
            <a:r>
              <a:rPr lang="ru-RU" sz="1400" b="1" dirty="0"/>
              <a:t>CPU:</a:t>
            </a:r>
            <a:r>
              <a:rPr lang="ru-RU" sz="1400" dirty="0"/>
              <a:t> Intel Core i5-12400 / AMD </a:t>
            </a:r>
            <a:r>
              <a:rPr lang="ru-RU" sz="1400" dirty="0" err="1"/>
              <a:t>Ryzen</a:t>
            </a:r>
            <a:r>
              <a:rPr lang="ru-RU" sz="1400" dirty="0"/>
              <a:t> 5 5600G</a:t>
            </a:r>
          </a:p>
          <a:p>
            <a:r>
              <a:rPr lang="ru-RU" sz="1400" b="1" dirty="0"/>
              <a:t>RAM:</a:t>
            </a:r>
            <a:r>
              <a:rPr lang="ru-RU" sz="1400" dirty="0"/>
              <a:t> 16 ГБ DDR4 — браузер с мнемосхемами, графиками, журналом событий</a:t>
            </a:r>
          </a:p>
          <a:p>
            <a:r>
              <a:rPr lang="ru-RU" sz="1400" b="1" dirty="0"/>
              <a:t>Видеокарта:</a:t>
            </a:r>
            <a:r>
              <a:rPr lang="ru-RU" sz="1400" dirty="0"/>
              <a:t> Встроенная или дискретная (для 2-3 мониторов / видеостены)</a:t>
            </a:r>
          </a:p>
          <a:p>
            <a:r>
              <a:rPr lang="ru-RU" sz="1400" b="1" dirty="0"/>
              <a:t>Сеть:</a:t>
            </a:r>
            <a:r>
              <a:rPr lang="ru-RU" sz="1400" dirty="0"/>
              <a:t> Gigabit Ethernet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74274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462545-94A6-2A09-B4EE-3C9E542C2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78407"/>
            <a:ext cx="9905999" cy="1360898"/>
          </a:xfrm>
        </p:spPr>
        <p:txBody>
          <a:bodyPr>
            <a:normAutofit/>
          </a:bodyPr>
          <a:lstStyle/>
          <a:p>
            <a:r>
              <a:rPr lang="ru-RU" sz="3200" dirty="0"/>
              <a:t>Практическая работа №10: Сравнение и выбор среды виртуализации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00134C9-B2DD-C4DA-36EF-BAB50A74B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028811"/>
              </p:ext>
            </p:extLst>
          </p:nvPr>
        </p:nvGraphicFramePr>
        <p:xfrm>
          <a:off x="1143000" y="1780674"/>
          <a:ext cx="9906000" cy="4072282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2857968">
                  <a:extLst>
                    <a:ext uri="{9D8B030D-6E8A-4147-A177-3AD203B41FA5}">
                      <a16:colId xmlns:a16="http://schemas.microsoft.com/office/drawing/2014/main" val="811292256"/>
                    </a:ext>
                  </a:extLst>
                </a:gridCol>
                <a:gridCol w="3524016">
                  <a:extLst>
                    <a:ext uri="{9D8B030D-6E8A-4147-A177-3AD203B41FA5}">
                      <a16:colId xmlns:a16="http://schemas.microsoft.com/office/drawing/2014/main" val="1907116374"/>
                    </a:ext>
                  </a:extLst>
                </a:gridCol>
                <a:gridCol w="3524016">
                  <a:extLst>
                    <a:ext uri="{9D8B030D-6E8A-4147-A177-3AD203B41FA5}">
                      <a16:colId xmlns:a16="http://schemas.microsoft.com/office/drawing/2014/main" val="3971965015"/>
                    </a:ext>
                  </a:extLst>
                </a:gridCol>
              </a:tblGrid>
              <a:tr h="2262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100" dirty="0">
                          <a:effectLst/>
                        </a:rPr>
                        <a:t>Критерий</a:t>
                      </a:r>
                      <a:endParaRPr lang="ru-RU" sz="1200" b="1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100">
                          <a:effectLst/>
                        </a:rPr>
                        <a:t>Oracle VM VirtualBox</a:t>
                      </a:r>
                      <a:endParaRPr lang="ru-RU" sz="1200" b="1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100">
                          <a:effectLst/>
                        </a:rPr>
                        <a:t>VMware Workstation Pro</a:t>
                      </a:r>
                      <a:endParaRPr lang="ru-RU" sz="1200" b="1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595167"/>
                  </a:ext>
                </a:extLst>
              </a:tr>
              <a:tr h="6787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100" dirty="0">
                          <a:effectLst/>
                        </a:rPr>
                        <a:t>Лицензия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 dirty="0">
                          <a:effectLst/>
                        </a:rPr>
                        <a:t>Полностью свободная (GPLv3), без ограничений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Бесплатна для личного использования, требует регистрации; коммерческое использование требует платной лицензии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696787"/>
                  </a:ext>
                </a:extLst>
              </a:tr>
              <a:tr h="2262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100">
                          <a:effectLst/>
                        </a:rPr>
                        <a:t>Кроссплатформенность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 dirty="0">
                          <a:effectLst/>
                        </a:rPr>
                        <a:t>Windows, Linux, </a:t>
                      </a:r>
                      <a:r>
                        <a:rPr lang="ru-RU" sz="1200" kern="100" dirty="0" err="1">
                          <a:effectLst/>
                        </a:rPr>
                        <a:t>macOS</a:t>
                      </a:r>
                      <a:r>
                        <a:rPr lang="ru-RU" sz="1200" kern="100" dirty="0">
                          <a:effectLst/>
                        </a:rPr>
                        <a:t>, Solaris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Windows, Linux (хост-система)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8577437"/>
                  </a:ext>
                </a:extLst>
              </a:tr>
              <a:tr h="4524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100">
                          <a:effectLst/>
                        </a:rPr>
                        <a:t>Поддержка гостевых ОС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Широкий список (Windows, Linux, BSD, Solaris, macOS с оговорками)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Широкий список, улучшенная поддержка Windows и Linux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902177"/>
                  </a:ext>
                </a:extLst>
              </a:tr>
              <a:tr h="4524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100">
                          <a:effectLst/>
                        </a:rPr>
                        <a:t>Снапшоты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 dirty="0">
                          <a:effectLst/>
                        </a:rPr>
                        <a:t>Поддерживаются в полном объёме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Поддерживаются в Pro-версии (отсутствуют в Player)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2143766"/>
                  </a:ext>
                </a:extLst>
              </a:tr>
              <a:tr h="4524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100">
                          <a:effectLst/>
                        </a:rPr>
                        <a:t>Виртуальные сети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kern="100">
                          <a:effectLst/>
                        </a:rPr>
                        <a:t>NAT, NAT Network, Bridged, Internal, Host-Only, Generic (</a:t>
                      </a:r>
                      <a:r>
                        <a:rPr lang="ru-RU" sz="1200" kern="100">
                          <a:effectLst/>
                        </a:rPr>
                        <a:t>гибкая настройка</a:t>
                      </a:r>
                      <a:r>
                        <a:rPr lang="en-US" sz="1200" kern="100">
                          <a:effectLst/>
                        </a:rPr>
                        <a:t>)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kern="100" dirty="0">
                          <a:effectLst/>
                        </a:rPr>
                        <a:t>NAT, Bridged, Host-Only, Custom (</a:t>
                      </a:r>
                      <a:r>
                        <a:rPr lang="en-US" sz="1200" kern="100" dirty="0" err="1">
                          <a:effectLst/>
                        </a:rPr>
                        <a:t>VMnet</a:t>
                      </a:r>
                      <a:r>
                        <a:rPr lang="en-US" sz="1200" kern="100" dirty="0">
                          <a:effectLst/>
                        </a:rPr>
                        <a:t>)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281376"/>
                  </a:ext>
                </a:extLst>
              </a:tr>
              <a:tr h="6787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100">
                          <a:effectLst/>
                        </a:rPr>
                        <a:t>Производительность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Хорошая; на гостевых Linux сопоставима с нативной, но немного уступает VMware на Windows-хосте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 dirty="0">
                          <a:effectLst/>
                        </a:rPr>
                        <a:t>Традиционно высокая, отличная оптимизация для Windows-гостей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0999373"/>
                  </a:ext>
                </a:extLst>
              </a:tr>
              <a:tr h="4524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100">
                          <a:effectLst/>
                        </a:rPr>
                        <a:t>Интерфейс и удобство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Простой, интуитивный GUI; возможно управление из командной строки (VBoxManage)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 dirty="0">
                          <a:effectLst/>
                        </a:rPr>
                        <a:t>Удобный GUI с расширенными возможностями, тесная интеграция с хостом (</a:t>
                      </a:r>
                      <a:r>
                        <a:rPr lang="ru-RU" sz="1200" kern="100" dirty="0" err="1">
                          <a:effectLst/>
                        </a:rPr>
                        <a:t>Unity</a:t>
                      </a:r>
                      <a:r>
                        <a:rPr lang="ru-RU" sz="1200" kern="100" dirty="0">
                          <a:effectLst/>
                        </a:rPr>
                        <a:t>, </a:t>
                      </a:r>
                      <a:r>
                        <a:rPr lang="ru-RU" sz="1200" kern="100" dirty="0" err="1">
                          <a:effectLst/>
                        </a:rPr>
                        <a:t>drag-and-drop</a:t>
                      </a:r>
                      <a:r>
                        <a:rPr lang="ru-RU" sz="1200" kern="100" dirty="0">
                          <a:effectLst/>
                        </a:rPr>
                        <a:t>)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1495725"/>
                  </a:ext>
                </a:extLst>
              </a:tr>
              <a:tr h="4524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100">
                          <a:effectLst/>
                        </a:rPr>
                        <a:t>Ограничения бесплатной версии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Отсутствуют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 dirty="0">
                          <a:effectLst/>
                        </a:rPr>
                        <a:t>Ранее ограниченная версия Player без </a:t>
                      </a:r>
                      <a:r>
                        <a:rPr lang="ru-RU" sz="1200" kern="100" dirty="0" err="1">
                          <a:effectLst/>
                        </a:rPr>
                        <a:t>снапшотов</a:t>
                      </a:r>
                      <a:r>
                        <a:rPr lang="ru-RU" sz="1200" kern="100" dirty="0">
                          <a:effectLst/>
                        </a:rPr>
                        <a:t>; сейчас Pro бесплатна для личного использования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809707"/>
                  </a:ext>
                </a:extLst>
              </a:tr>
            </a:tbl>
          </a:graphicData>
        </a:graphic>
      </p:graphicFrame>
      <p:sp>
        <p:nvSpPr>
          <p:cNvPr id="5" name="Овал 4">
            <a:extLst>
              <a:ext uri="{FF2B5EF4-FFF2-40B4-BE49-F238E27FC236}">
                <a16:creationId xmlns:a16="http://schemas.microsoft.com/office/drawing/2014/main" id="{D84274F0-2C45-4DC4-FF16-B901AF42006E}"/>
              </a:ext>
            </a:extLst>
          </p:cNvPr>
          <p:cNvSpPr/>
          <p:nvPr/>
        </p:nvSpPr>
        <p:spPr>
          <a:xfrm>
            <a:off x="1376412" y="6237171"/>
            <a:ext cx="9201751" cy="476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Для реализации виртуального стенда выбрана Oracle VM </a:t>
            </a:r>
            <a:r>
              <a:rPr lang="ru-RU" sz="1600" dirty="0" err="1"/>
              <a:t>VirtualBox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9696027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7BDD8-6514-EC10-82A2-AAAEF6139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112D67-5CAF-564E-2FCA-D9D2321BB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14040"/>
            <a:ext cx="9905999" cy="1360898"/>
          </a:xfrm>
        </p:spPr>
        <p:txBody>
          <a:bodyPr>
            <a:normAutofit/>
          </a:bodyPr>
          <a:lstStyle/>
          <a:p>
            <a:r>
              <a:rPr lang="ru-RU" sz="3200" dirty="0"/>
              <a:t>Практическая работа №10: Распределение ПО </a:t>
            </a:r>
            <a:r>
              <a:rPr lang="ru-RU" sz="3200" dirty="0" err="1"/>
              <a:t>по</a:t>
            </a:r>
            <a:r>
              <a:rPr lang="ru-RU" sz="3200" dirty="0"/>
              <a:t> виртуальным машинам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46420187-CF69-806F-F508-A2539F2F3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706813"/>
              </p:ext>
            </p:extLst>
          </p:nvPr>
        </p:nvGraphicFramePr>
        <p:xfrm>
          <a:off x="1028300" y="1392059"/>
          <a:ext cx="10135400" cy="4624779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2156858">
                  <a:extLst>
                    <a:ext uri="{9D8B030D-6E8A-4147-A177-3AD203B41FA5}">
                      <a16:colId xmlns:a16="http://schemas.microsoft.com/office/drawing/2014/main" val="811292256"/>
                    </a:ext>
                  </a:extLst>
                </a:gridCol>
                <a:gridCol w="2659514">
                  <a:extLst>
                    <a:ext uri="{9D8B030D-6E8A-4147-A177-3AD203B41FA5}">
                      <a16:colId xmlns:a16="http://schemas.microsoft.com/office/drawing/2014/main" val="1907116374"/>
                    </a:ext>
                  </a:extLst>
                </a:gridCol>
                <a:gridCol w="2659514">
                  <a:extLst>
                    <a:ext uri="{9D8B030D-6E8A-4147-A177-3AD203B41FA5}">
                      <a16:colId xmlns:a16="http://schemas.microsoft.com/office/drawing/2014/main" val="3971965015"/>
                    </a:ext>
                  </a:extLst>
                </a:gridCol>
                <a:gridCol w="2659514">
                  <a:extLst>
                    <a:ext uri="{9D8B030D-6E8A-4147-A177-3AD203B41FA5}">
                      <a16:colId xmlns:a16="http://schemas.microsoft.com/office/drawing/2014/main" val="2691422441"/>
                    </a:ext>
                  </a:extLst>
                </a:gridCol>
              </a:tblGrid>
              <a:tr h="6340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Виртуальная машина</a:t>
                      </a:r>
                      <a:endParaRPr lang="ru-RU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Роль в АСУ</a:t>
                      </a:r>
                      <a:endParaRPr lang="ru-RU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Основное ПО и сервисы</a:t>
                      </a:r>
                      <a:endParaRPr lang="ru-RU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IP-</a:t>
                      </a:r>
                      <a:r>
                        <a:rPr lang="ru-RU" sz="160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адресс</a:t>
                      </a:r>
                      <a:endParaRPr lang="ru-RU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595167"/>
                  </a:ext>
                </a:extLst>
              </a:tr>
              <a:tr h="1385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VM1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Сервер БД и SCADA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ОС</a:t>
                      </a: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: Ubuntu Server 22.04 LTS; PostgreSQL 14 + TimescaleDB; SCADA-</a:t>
                      </a: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сервер</a:t>
                      </a: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 (FastAPI); Prometheus (</a:t>
                      </a: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метрики</a:t>
                      </a: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)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192.168.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56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.10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696787"/>
                  </a:ext>
                </a:extLst>
              </a:tr>
              <a:tr h="1385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VM2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MQTT-брокер и управление устройствами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ОС: Ubuntu Server 22.04 LTS; EMQX / </a:t>
                      </a:r>
                      <a:r>
                        <a:rPr lang="ru-RU" sz="1600" kern="100" dirty="0" err="1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Mosquitto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 (MQTT-брокер); Python-сервисы управления; </a:t>
                      </a:r>
                      <a:r>
                        <a:rPr lang="ru-RU" sz="1600" kern="100" dirty="0" err="1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Grafana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 (дашборды)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192.168.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56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.20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8577437"/>
                  </a:ext>
                </a:extLst>
              </a:tr>
              <a:tr h="1170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VM3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Клиент агронома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ОС: Ubuntu Desktop 22.04 LTS; веб-браузер Firefox/</a:t>
                      </a:r>
                      <a:r>
                        <a:rPr lang="ru-RU" sz="1600" kern="100" dirty="0" err="1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Chrome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; (опционально) MQTT-клиент для отладки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192.168.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56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Droid Sans Fallback"/>
                          <a:cs typeface="FreeSans"/>
                        </a:rPr>
                        <a:t>.30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902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830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579CDA-1926-3EB6-2917-9796A0773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090" y="278407"/>
            <a:ext cx="10445817" cy="1360898"/>
          </a:xfrm>
        </p:spPr>
        <p:txBody>
          <a:bodyPr>
            <a:normAutofit/>
          </a:bodyPr>
          <a:lstStyle/>
          <a:p>
            <a:r>
              <a:rPr lang="ru-RU" sz="3200" dirty="0"/>
              <a:t>Практическая работа №10: Распределение аппаратных ресурсов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1E1AD2E7-6AA6-4E8F-00D4-6A73946730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395044"/>
              </p:ext>
            </p:extLst>
          </p:nvPr>
        </p:nvGraphicFramePr>
        <p:xfrm>
          <a:off x="873090" y="1639304"/>
          <a:ext cx="10359593" cy="4289855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2260174">
                  <a:extLst>
                    <a:ext uri="{9D8B030D-6E8A-4147-A177-3AD203B41FA5}">
                      <a16:colId xmlns:a16="http://schemas.microsoft.com/office/drawing/2014/main" val="3240863437"/>
                    </a:ext>
                  </a:extLst>
                </a:gridCol>
                <a:gridCol w="2699806">
                  <a:extLst>
                    <a:ext uri="{9D8B030D-6E8A-4147-A177-3AD203B41FA5}">
                      <a16:colId xmlns:a16="http://schemas.microsoft.com/office/drawing/2014/main" val="1919587681"/>
                    </a:ext>
                  </a:extLst>
                </a:gridCol>
                <a:gridCol w="2698699">
                  <a:extLst>
                    <a:ext uri="{9D8B030D-6E8A-4147-A177-3AD203B41FA5}">
                      <a16:colId xmlns:a16="http://schemas.microsoft.com/office/drawing/2014/main" val="1842415393"/>
                    </a:ext>
                  </a:extLst>
                </a:gridCol>
                <a:gridCol w="2700914">
                  <a:extLst>
                    <a:ext uri="{9D8B030D-6E8A-4147-A177-3AD203B41FA5}">
                      <a16:colId xmlns:a16="http://schemas.microsoft.com/office/drawing/2014/main" val="879166074"/>
                    </a:ext>
                  </a:extLst>
                </a:gridCol>
              </a:tblGrid>
              <a:tr h="8579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kern="100" dirty="0">
                          <a:effectLst/>
                        </a:rPr>
                        <a:t>Параметр</a:t>
                      </a:r>
                      <a:endParaRPr lang="ru-RU" sz="1800" b="1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kern="100" dirty="0">
                          <a:effectLst/>
                        </a:rPr>
                        <a:t>VM1</a:t>
                      </a:r>
                      <a:endParaRPr lang="ru-RU" sz="1800" b="1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kern="100" dirty="0">
                          <a:effectLst/>
                        </a:rPr>
                        <a:t>VM</a:t>
                      </a:r>
                      <a:r>
                        <a:rPr lang="en-US" sz="1800" kern="100" dirty="0">
                          <a:effectLst/>
                        </a:rPr>
                        <a:t>2</a:t>
                      </a:r>
                      <a:endParaRPr lang="ru-RU" sz="1800" b="1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kern="100" dirty="0">
                          <a:effectLst/>
                        </a:rPr>
                        <a:t>VM</a:t>
                      </a:r>
                      <a:r>
                        <a:rPr lang="en-US" sz="1800" kern="100" dirty="0">
                          <a:effectLst/>
                        </a:rPr>
                        <a:t>3</a:t>
                      </a:r>
                      <a:endParaRPr lang="ru-RU" sz="1800" b="1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26161"/>
                  </a:ext>
                </a:extLst>
              </a:tr>
              <a:tr h="8579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kern="100">
                          <a:effectLst/>
                        </a:rPr>
                        <a:t>vCPU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kern="100" dirty="0">
                          <a:effectLst/>
                        </a:rPr>
                        <a:t>2</a:t>
                      </a:r>
                      <a:endParaRPr lang="ru-RU" sz="18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kern="100" dirty="0">
                          <a:effectLst/>
                        </a:rPr>
                        <a:t>2</a:t>
                      </a:r>
                      <a:endParaRPr lang="ru-RU" sz="18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kern="100" dirty="0">
                          <a:effectLst/>
                        </a:rPr>
                        <a:t>2</a:t>
                      </a:r>
                      <a:endParaRPr lang="ru-RU" sz="18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1316126"/>
                  </a:ext>
                </a:extLst>
              </a:tr>
              <a:tr h="8579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kern="100">
                          <a:effectLst/>
                        </a:rPr>
                        <a:t>RAM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00">
                          <a:effectLst/>
                        </a:rPr>
                        <a:t>2</a:t>
                      </a:r>
                      <a:r>
                        <a:rPr lang="ru-RU" sz="1800" kern="100">
                          <a:effectLst/>
                        </a:rPr>
                        <a:t> ГБ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00" dirty="0">
                          <a:effectLst/>
                        </a:rPr>
                        <a:t>2</a:t>
                      </a:r>
                      <a:r>
                        <a:rPr lang="ru-RU" sz="1800" kern="100" dirty="0">
                          <a:effectLst/>
                        </a:rPr>
                        <a:t> ГБ</a:t>
                      </a:r>
                      <a:endParaRPr lang="ru-RU" sz="18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kern="100">
                          <a:effectLst/>
                        </a:rPr>
                        <a:t>4 ГБ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9158008"/>
                  </a:ext>
                </a:extLst>
              </a:tr>
              <a:tr h="8579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kern="100">
                          <a:effectLst/>
                        </a:rPr>
                        <a:t>Виртуальный диск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00">
                          <a:effectLst/>
                        </a:rPr>
                        <a:t>25</a:t>
                      </a:r>
                      <a:r>
                        <a:rPr lang="ru-RU" sz="1800" kern="100">
                          <a:effectLst/>
                        </a:rPr>
                        <a:t> ГБ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00" dirty="0">
                          <a:effectLst/>
                        </a:rPr>
                        <a:t>25</a:t>
                      </a:r>
                      <a:r>
                        <a:rPr lang="ru-RU" sz="1800" kern="100" dirty="0">
                          <a:effectLst/>
                        </a:rPr>
                        <a:t> ГБ</a:t>
                      </a:r>
                      <a:endParaRPr lang="ru-RU" sz="18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00" dirty="0">
                          <a:effectLst/>
                        </a:rPr>
                        <a:t>25</a:t>
                      </a:r>
                      <a:r>
                        <a:rPr lang="ru-RU" sz="1800" kern="100" dirty="0">
                          <a:effectLst/>
                        </a:rPr>
                        <a:t> ГБ</a:t>
                      </a:r>
                      <a:endParaRPr lang="ru-RU" sz="18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3374745"/>
                  </a:ext>
                </a:extLst>
              </a:tr>
              <a:tr h="8579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kern="100">
                          <a:effectLst/>
                        </a:rPr>
                        <a:t>Сеть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kern="100">
                          <a:effectLst/>
                        </a:rPr>
                        <a:t>Host-Only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kern="100">
                          <a:effectLst/>
                        </a:rPr>
                        <a:t>Host-Only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kern="100" dirty="0">
                          <a:effectLst/>
                        </a:rPr>
                        <a:t>Host-Only</a:t>
                      </a:r>
                      <a:endParaRPr lang="ru-RU" sz="18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9323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63531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BEA1A24-9CA1-4513-A409-3AD90DB09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994B0C-F81C-F485-6414-C2D6B187A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6756" y="906189"/>
            <a:ext cx="8689571" cy="1001886"/>
          </a:xfrm>
        </p:spPr>
        <p:txBody>
          <a:bodyPr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ru-RU" sz="3100" dirty="0"/>
              <a:t>Практическая работа №1</a:t>
            </a:r>
            <a:r>
              <a:rPr lang="en-US" sz="3100" dirty="0"/>
              <a:t>1</a:t>
            </a:r>
            <a:r>
              <a:rPr lang="ru-RU" sz="3100" dirty="0"/>
              <a:t>:Архитектура и стек технологий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C0930BD-361E-4C4D-8B08-ED210DFA2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Объект 2">
            <a:extLst>
              <a:ext uri="{FF2B5EF4-FFF2-40B4-BE49-F238E27FC236}">
                <a16:creationId xmlns:a16="http://schemas.microsoft.com/office/drawing/2014/main" id="{97E5BE78-6B3F-8E46-4EDA-3E57741BAF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757498"/>
              </p:ext>
            </p:extLst>
          </p:nvPr>
        </p:nvGraphicFramePr>
        <p:xfrm>
          <a:off x="1143000" y="2338016"/>
          <a:ext cx="10455442" cy="3561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80610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CD60141-EEBD-4EC1-8E34-0344C16A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308" y="0"/>
            <a:ext cx="6873692" cy="6858000"/>
          </a:xfrm>
          <a:custGeom>
            <a:avLst/>
            <a:gdLst/>
            <a:ahLst/>
            <a:cxnLst/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75A547-BCD1-42BE-966E-53CA0AB93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8357" y="5151666"/>
            <a:ext cx="98225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BF1DCD9-4684-4B84-AD73-6652C8BAC7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008FDB5-B8C7-0357-94C5-8CB751B979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"/>
          <a:stretch>
            <a:fillRect/>
          </a:stretch>
        </p:blipFill>
        <p:spPr>
          <a:xfrm>
            <a:off x="20" y="10"/>
            <a:ext cx="12199237" cy="6857989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BE6A732-8124-4A59-8EC9-BF4A1648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2226538" y="-2233466"/>
            <a:ext cx="6858000" cy="11324929"/>
          </a:xfrm>
          <a:custGeom>
            <a:avLst/>
            <a:gdLst>
              <a:gd name="connsiteX0" fmla="*/ 0 w 6858000"/>
              <a:gd name="connsiteY0" fmla="*/ 9303227 h 11262142"/>
              <a:gd name="connsiteX1" fmla="*/ 0 w 6858000"/>
              <a:gd name="connsiteY1" fmla="*/ 6495555 h 11262142"/>
              <a:gd name="connsiteX2" fmla="*/ 1 w 6858000"/>
              <a:gd name="connsiteY2" fmla="*/ 6495555 h 11262142"/>
              <a:gd name="connsiteX3" fmla="*/ 1 w 6858000"/>
              <a:gd name="connsiteY3" fmla="*/ 0 h 11262142"/>
              <a:gd name="connsiteX4" fmla="*/ 6858000 w 6858000"/>
              <a:gd name="connsiteY4" fmla="*/ 6015407 h 11262142"/>
              <a:gd name="connsiteX5" fmla="*/ 6858000 w 6858000"/>
              <a:gd name="connsiteY5" fmla="*/ 8999698 h 11262142"/>
              <a:gd name="connsiteX6" fmla="*/ 6858000 w 6858000"/>
              <a:gd name="connsiteY6" fmla="*/ 11262142 h 11262142"/>
              <a:gd name="connsiteX7" fmla="*/ 1 w 6858000"/>
              <a:gd name="connsiteY7" fmla="*/ 11262142 h 11262142"/>
              <a:gd name="connsiteX8" fmla="*/ 1 w 6858000"/>
              <a:gd name="connsiteY8" fmla="*/ 9303227 h 1126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1262142">
                <a:moveTo>
                  <a:pt x="0" y="9303227"/>
                </a:moveTo>
                <a:lnTo>
                  <a:pt x="0" y="6495555"/>
                </a:lnTo>
                <a:lnTo>
                  <a:pt x="1" y="6495555"/>
                </a:lnTo>
                <a:lnTo>
                  <a:pt x="1" y="0"/>
                </a:lnTo>
                <a:lnTo>
                  <a:pt x="6858000" y="6015407"/>
                </a:lnTo>
                <a:lnTo>
                  <a:pt x="6858000" y="8999698"/>
                </a:lnTo>
                <a:lnTo>
                  <a:pt x="6858000" y="11262142"/>
                </a:lnTo>
                <a:lnTo>
                  <a:pt x="1" y="11262142"/>
                </a:lnTo>
                <a:lnTo>
                  <a:pt x="1" y="9303227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85FED7-8CFD-7643-0445-88FEA183F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008" y="156912"/>
            <a:ext cx="6585553" cy="98849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3200" cap="all" spc="300" dirty="0">
                <a:solidFill>
                  <a:srgbClr val="FFFFFF"/>
                </a:solidFill>
              </a:rPr>
              <a:t>Практическая работа №11: Вкладк</a:t>
            </a:r>
            <a:r>
              <a:rPr lang="ru-RU" sz="3200" cap="all" spc="300" dirty="0">
                <a:solidFill>
                  <a:srgbClr val="FFFFFF"/>
                </a:solidFill>
              </a:rPr>
              <a:t>а о системе</a:t>
            </a:r>
            <a:endParaRPr lang="en-US" sz="3200" cap="all" spc="300" dirty="0">
              <a:solidFill>
                <a:srgbClr val="FFFFFF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DAA6A4-1F42-460B-A500-921EEB4BC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8357" y="5151666"/>
            <a:ext cx="986064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0185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0">
            <a:extLst>
              <a:ext uri="{FF2B5EF4-FFF2-40B4-BE49-F238E27FC236}">
                <a16:creationId xmlns:a16="http://schemas.microsoft.com/office/drawing/2014/main" id="{5CD60141-EEBD-4EC1-8E34-0344C16A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308" y="0"/>
            <a:ext cx="6873692" cy="6858000"/>
          </a:xfrm>
          <a:custGeom>
            <a:avLst/>
            <a:gdLst/>
            <a:ahLst/>
            <a:cxnLst/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20" name="Straight Connector 12">
            <a:extLst>
              <a:ext uri="{FF2B5EF4-FFF2-40B4-BE49-F238E27FC236}">
                <a16:creationId xmlns:a16="http://schemas.microsoft.com/office/drawing/2014/main" id="{4C75A547-BCD1-42BE-966E-53CA0AB93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8357" y="5151666"/>
            <a:ext cx="98225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14">
            <a:extLst>
              <a:ext uri="{FF2B5EF4-FFF2-40B4-BE49-F238E27FC236}">
                <a16:creationId xmlns:a16="http://schemas.microsoft.com/office/drawing/2014/main" id="{C5B2F33C-7FA5-42B8-B6FB-3262DF21F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158C8F-7113-563B-4559-A66374D3F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3606" y="3275216"/>
            <a:ext cx="5095393" cy="252157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4400" cap="all" spc="300" dirty="0"/>
              <a:t>Практическая работа №11:Другие </a:t>
            </a:r>
            <a:r>
              <a:rPr lang="en-US" sz="4400" cap="all" spc="300" dirty="0" err="1"/>
              <a:t>вкладки</a:t>
            </a:r>
            <a:endParaRPr lang="en-US" sz="4400" b="1" cap="all" spc="3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5FEBF9-21DE-24D6-6EEB-7F19DD9117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37004"/>
          <a:stretch>
            <a:fillRect/>
          </a:stretch>
        </p:blipFill>
        <p:spPr>
          <a:xfrm>
            <a:off x="2648634" y="10"/>
            <a:ext cx="6451116" cy="2285990"/>
          </a:xfrm>
          <a:custGeom>
            <a:avLst/>
            <a:gdLst/>
            <a:ahLst/>
            <a:cxnLst/>
            <a:rect l="l" t="t" r="r" b="b"/>
            <a:pathLst>
              <a:path w="6451116" h="2286000">
                <a:moveTo>
                  <a:pt x="2003531" y="0"/>
                </a:moveTo>
                <a:lnTo>
                  <a:pt x="4221782" y="0"/>
                </a:lnTo>
                <a:lnTo>
                  <a:pt x="4232865" y="0"/>
                </a:lnTo>
                <a:lnTo>
                  <a:pt x="6451116" y="0"/>
                </a:lnTo>
                <a:lnTo>
                  <a:pt x="4447586" y="2286000"/>
                </a:lnTo>
                <a:lnTo>
                  <a:pt x="0" y="2286000"/>
                </a:lnTo>
                <a:close/>
              </a:path>
            </a:pathLst>
          </a:cu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94D6E32-3B6E-D7C0-3333-E2FFD61F09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863" r="1" b="26102"/>
          <a:stretch>
            <a:fillRect/>
          </a:stretch>
        </p:blipFill>
        <p:spPr>
          <a:xfrm>
            <a:off x="647110" y="2286000"/>
            <a:ext cx="6447107" cy="2286000"/>
          </a:xfrm>
          <a:custGeom>
            <a:avLst/>
            <a:gdLst/>
            <a:ahLst/>
            <a:cxnLst/>
            <a:rect l="l" t="t" r="r" b="b"/>
            <a:pathLst>
              <a:path w="6447107" h="2286000">
                <a:moveTo>
                  <a:pt x="2003531" y="0"/>
                </a:moveTo>
                <a:lnTo>
                  <a:pt x="6447107" y="0"/>
                </a:lnTo>
                <a:lnTo>
                  <a:pt x="4443576" y="2286000"/>
                </a:lnTo>
                <a:lnTo>
                  <a:pt x="0" y="2286000"/>
                </a:lnTo>
                <a:close/>
              </a:path>
            </a:pathLst>
          </a:cu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3BBDD63-832C-A42D-67A1-614D44F612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457" r="-4" b="11781"/>
          <a:stretch>
            <a:fillRect/>
          </a:stretch>
        </p:blipFill>
        <p:spPr>
          <a:xfrm>
            <a:off x="1952" y="4572000"/>
            <a:ext cx="5095393" cy="2286000"/>
          </a:xfrm>
          <a:custGeom>
            <a:avLst/>
            <a:gdLst/>
            <a:ahLst/>
            <a:cxnLst/>
            <a:rect l="l" t="t" r="r" b="b"/>
            <a:pathLst>
              <a:path w="5095393" h="2286000">
                <a:moveTo>
                  <a:pt x="647807" y="0"/>
                </a:moveTo>
                <a:lnTo>
                  <a:pt x="5095393" y="0"/>
                </a:lnTo>
                <a:lnTo>
                  <a:pt x="3091862" y="2286000"/>
                </a:lnTo>
                <a:lnTo>
                  <a:pt x="873611" y="2286000"/>
                </a:lnTo>
                <a:lnTo>
                  <a:pt x="862527" y="2286000"/>
                </a:lnTo>
                <a:lnTo>
                  <a:pt x="0" y="2286000"/>
                </a:lnTo>
                <a:lnTo>
                  <a:pt x="0" y="73913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143028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0123E-A124-D2CC-2F37-0BD64C23B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Практическая работа №12: Обоснование и архитектура модуля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57FBE2-C658-4BA3-FE34-440A9E3B2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230960"/>
            <a:ext cx="4795787" cy="39628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b="1" dirty="0"/>
              <a:t>Почему этот модуль критичен:</a:t>
            </a:r>
          </a:p>
          <a:p>
            <a:r>
              <a:rPr lang="ru-RU" sz="1200" b="1" dirty="0"/>
              <a:t>Температура — основа качества урожая.</a:t>
            </a:r>
            <a:r>
              <a:rPr lang="ru-RU" sz="1200" dirty="0"/>
              <a:t> Отклонение от оптимальных значений приводит к замедлению роста растений, болезням или гибели урожая.</a:t>
            </a:r>
          </a:p>
          <a:p>
            <a:r>
              <a:rPr lang="ru-RU" sz="1200" b="1" dirty="0"/>
              <a:t>Требуется частая адаптация под разные культуры.</a:t>
            </a:r>
            <a:r>
              <a:rPr lang="ru-RU" sz="1200" dirty="0"/>
              <a:t> Томатам нужны одни режимы (20-26°C), огурцам — другие (22-28°C), рассаде — третьи (18-22°C). Система должна легко перенастраиваться.</a:t>
            </a:r>
          </a:p>
          <a:p>
            <a:r>
              <a:rPr lang="ru-RU" sz="1200" b="1" dirty="0"/>
              <a:t>Необходим строгий контроль доступа.</a:t>
            </a:r>
            <a:r>
              <a:rPr lang="ru-RU" sz="1200" dirty="0"/>
              <a:t> Только агроном и инженер-технолог могут изменять температурные уставки. Оператор имеет права только на просмотр и ручное управление.</a:t>
            </a:r>
          </a:p>
          <a:p>
            <a:r>
              <a:rPr lang="ru-RU" sz="1200" b="1" dirty="0"/>
              <a:t>Критична визуализация в реальном времени.</a:t>
            </a:r>
            <a:r>
              <a:rPr lang="ru-RU" sz="1200" dirty="0"/>
              <a:t> Агроном должен видеть текущие показания датчиков и тренды для оперативного принятия решений.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9703B2AE-9471-3E67-ADEB-474184A76681}"/>
              </a:ext>
            </a:extLst>
          </p:cNvPr>
          <p:cNvSpPr txBox="1">
            <a:spLocks/>
          </p:cNvSpPr>
          <p:nvPr/>
        </p:nvSpPr>
        <p:spPr>
          <a:xfrm>
            <a:off x="6253212" y="2332026"/>
            <a:ext cx="4795787" cy="3760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0292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/>
              <a:t>Архитектура модуля:</a:t>
            </a:r>
          </a:p>
          <a:p>
            <a:r>
              <a:rPr lang="en-US" dirty="0"/>
              <a:t>Backend</a:t>
            </a:r>
            <a:r>
              <a:rPr lang="ru-RU" dirty="0"/>
              <a:t>: </a:t>
            </a:r>
            <a:r>
              <a:rPr lang="en-US" dirty="0"/>
              <a:t>Python + Flask</a:t>
            </a:r>
            <a:endParaRPr lang="ru-RU" dirty="0"/>
          </a:p>
          <a:p>
            <a:r>
              <a:rPr lang="en-US" dirty="0"/>
              <a:t>Database</a:t>
            </a:r>
            <a:r>
              <a:rPr lang="ru-RU" dirty="0"/>
              <a:t>: </a:t>
            </a:r>
            <a:r>
              <a:rPr lang="en-US" dirty="0"/>
              <a:t>PostgreSQL 15 + </a:t>
            </a:r>
            <a:r>
              <a:rPr lang="en-US" dirty="0" err="1"/>
              <a:t>TimescaleDB</a:t>
            </a:r>
            <a:endParaRPr lang="ru-RU" dirty="0"/>
          </a:p>
          <a:p>
            <a:r>
              <a:rPr lang="en-US" dirty="0"/>
              <a:t>Frontend</a:t>
            </a:r>
            <a:r>
              <a:rPr lang="ru-RU" dirty="0"/>
              <a:t>: </a:t>
            </a:r>
            <a:r>
              <a:rPr lang="en-US" dirty="0"/>
              <a:t>HTML + Jinja2</a:t>
            </a:r>
          </a:p>
          <a:p>
            <a:r>
              <a:rPr lang="ru-RU" dirty="0"/>
              <a:t>Стилизация</a:t>
            </a:r>
            <a:r>
              <a:rPr lang="en-US" dirty="0"/>
              <a:t>: </a:t>
            </a:r>
            <a:r>
              <a:rPr lang="ru-RU" dirty="0"/>
              <a:t>Встроенный CSS (тег &lt;</a:t>
            </a:r>
            <a:r>
              <a:rPr lang="ru-RU" dirty="0" err="1"/>
              <a:t>style</a:t>
            </a:r>
            <a:r>
              <a:rPr lang="ru-RU" dirty="0"/>
              <a:t>&gt; в HTML)</a:t>
            </a:r>
          </a:p>
          <a:p>
            <a:r>
              <a:rPr lang="en-US" dirty="0"/>
              <a:t>Frontend</a:t>
            </a:r>
            <a:r>
              <a:rPr lang="ru-RU" dirty="0"/>
              <a:t>: </a:t>
            </a:r>
            <a:r>
              <a:rPr lang="en-US" dirty="0"/>
              <a:t>psycopg2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1427750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2C51FA-A94C-601F-8ABE-1CE9A56B0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295420"/>
            <a:ext cx="9905999" cy="1360898"/>
          </a:xfrm>
        </p:spPr>
        <p:txBody>
          <a:bodyPr/>
          <a:lstStyle/>
          <a:p>
            <a:r>
              <a:rPr lang="ru-RU" dirty="0"/>
              <a:t>Практическая работа №12: веб-интерфейс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D15BDEE-ED97-409B-8433-38A3A3AD8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043" y="2660993"/>
            <a:ext cx="5110955" cy="24552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5C99C5-759A-2546-A484-8EEC94D9D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595" y="1815784"/>
            <a:ext cx="5105648" cy="207282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64EC44F-365C-00A1-A649-B990E5408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2595" y="3958776"/>
            <a:ext cx="5105648" cy="243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0621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8389D0-9FCB-97E6-3E70-88618CE59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032" y="179915"/>
            <a:ext cx="9560292" cy="936615"/>
          </a:xfrm>
        </p:spPr>
        <p:txBody>
          <a:bodyPr>
            <a:noAutofit/>
          </a:bodyPr>
          <a:lstStyle/>
          <a:p>
            <a:r>
              <a:rPr lang="ru-RU" sz="3200" dirty="0"/>
              <a:t>Практическая работа №13: Схема компьютерной сети проектируемой АСУ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AD1B4D-6FA0-63B8-FA9C-3E41C78FD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436913"/>
            <a:ext cx="6825344" cy="455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6229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D9E81-4A4B-4C54-39D9-18C7AB593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4DBB85-09DF-15A7-9A74-4DA2F576B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032" y="179915"/>
            <a:ext cx="9560292" cy="936615"/>
          </a:xfrm>
        </p:spPr>
        <p:txBody>
          <a:bodyPr>
            <a:noAutofit/>
          </a:bodyPr>
          <a:lstStyle/>
          <a:p>
            <a:r>
              <a:rPr lang="ru-RU" sz="3200" dirty="0"/>
              <a:t>Практическая работа №13: Схема компьютерной сети проектируемой АСУ 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262574B7-7E4F-70E4-D66B-9857FFEA0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710680"/>
              </p:ext>
            </p:extLst>
          </p:nvPr>
        </p:nvGraphicFramePr>
        <p:xfrm>
          <a:off x="1086031" y="1247266"/>
          <a:ext cx="10242902" cy="4739648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2703577">
                  <a:extLst>
                    <a:ext uri="{9D8B030D-6E8A-4147-A177-3AD203B41FA5}">
                      <a16:colId xmlns:a16="http://schemas.microsoft.com/office/drawing/2014/main" val="1523694481"/>
                    </a:ext>
                  </a:extLst>
                </a:gridCol>
                <a:gridCol w="3959588">
                  <a:extLst>
                    <a:ext uri="{9D8B030D-6E8A-4147-A177-3AD203B41FA5}">
                      <a16:colId xmlns:a16="http://schemas.microsoft.com/office/drawing/2014/main" val="4280442788"/>
                    </a:ext>
                  </a:extLst>
                </a:gridCol>
                <a:gridCol w="3579737">
                  <a:extLst>
                    <a:ext uri="{9D8B030D-6E8A-4147-A177-3AD203B41FA5}">
                      <a16:colId xmlns:a16="http://schemas.microsoft.com/office/drawing/2014/main" val="646147711"/>
                    </a:ext>
                  </a:extLst>
                </a:gridCol>
              </a:tblGrid>
              <a:tr h="2962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100">
                          <a:effectLst/>
                        </a:rPr>
                        <a:t>Угроза</a:t>
                      </a:r>
                      <a:endParaRPr lang="ru-RU" sz="1200" b="1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100">
                          <a:effectLst/>
                        </a:rPr>
                        <a:t>Описание</a:t>
                      </a:r>
                      <a:endParaRPr lang="ru-RU" sz="1200" b="1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100">
                          <a:effectLst/>
                        </a:rPr>
                        <a:t>Возможные последствия</a:t>
                      </a:r>
                      <a:endParaRPr lang="ru-RU" sz="1200" b="1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88727"/>
                  </a:ext>
                </a:extLst>
              </a:tr>
              <a:tr h="592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Несанкционированный доступ к рабочей станции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Получение физического доступа к компьютеру оператора или администратора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Изменение температурных уставок, отключение систем управления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8989046"/>
                  </a:ext>
                </a:extLst>
              </a:tr>
              <a:tr h="888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Вредоносное программное обеспечение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Заражение рабочей станции вирусами, троянами или программами-вымогателями через интернет или внешние носители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Блокировка работы АСУ, удаление или повреждение архивов данных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2899191"/>
                  </a:ext>
                </a:extLst>
              </a:tr>
              <a:tr h="592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Использование слабых паролей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Использование простых или одинаковых паролей для входа в систему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Получение злоумышленником доступа к SCADA и серверу БД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45014"/>
                  </a:ext>
                </a:extLst>
              </a:tr>
              <a:tr h="592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Уязвимости операционной системы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Использование необновлённой ОС и устаревшего программного обеспечения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Удалённое выполнение вредоносного кода и компрометация системы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869532"/>
                  </a:ext>
                </a:extLst>
              </a:tr>
              <a:tr h="592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Ошибки персонала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Неправильная настройка параметров системы или случайное удаление данных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Нарушение работы системы поддержания микроклимата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945523"/>
                  </a:ext>
                </a:extLst>
              </a:tr>
              <a:tr h="592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Отсутствие резервного копирования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Отсутствие резервных копий базы данных и конфигурации SCADA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Потеря архивов температур и настроек системы при сбое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0401397"/>
                  </a:ext>
                </a:extLst>
              </a:tr>
              <a:tr h="592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Хранение данных в открытом виде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>
                          <a:effectLst/>
                        </a:rPr>
                        <a:t>Сохранение паролей и конфигурационных файлов без шифрования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kern="100" dirty="0">
                          <a:effectLst/>
                        </a:rPr>
                        <a:t>Компрометация учётных данных и параметров системы управления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FreeSan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6269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58952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E15069-D7A2-8824-A4F7-B5E75CEF3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78407"/>
            <a:ext cx="9905999" cy="1360898"/>
          </a:xfrm>
        </p:spPr>
        <p:txBody>
          <a:bodyPr>
            <a:normAutofit/>
          </a:bodyPr>
          <a:lstStyle/>
          <a:p>
            <a:r>
              <a:rPr lang="ru-RU" sz="3200" dirty="0"/>
              <a:t>Практическая работа №14: Выбор средств защиты информации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E7093FE6-ED35-75D3-736C-807A6C217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617" y="1475377"/>
            <a:ext cx="5527307" cy="478551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Сравнение </a:t>
            </a:r>
            <a:r>
              <a:rPr lang="en-US" dirty="0"/>
              <a:t>Kaspersky / </a:t>
            </a:r>
            <a:r>
              <a:rPr lang="en-US" dirty="0" err="1"/>
              <a:t>Dr.Web</a:t>
            </a:r>
            <a:r>
              <a:rPr lang="en-US" dirty="0"/>
              <a:t> / </a:t>
            </a:r>
            <a:r>
              <a:rPr lang="en-US" dirty="0" err="1"/>
              <a:t>ViPNet</a:t>
            </a:r>
            <a:r>
              <a:rPr lang="en-US" dirty="0"/>
              <a:t>:</a:t>
            </a:r>
          </a:p>
        </p:txBody>
      </p:sp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BB088761-DBE7-1B30-9995-E4B8379E11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06413"/>
              </p:ext>
            </p:extLst>
          </p:nvPr>
        </p:nvGraphicFramePr>
        <p:xfrm>
          <a:off x="844617" y="2211673"/>
          <a:ext cx="9906000" cy="2940050"/>
        </p:xfrm>
        <a:graphic>
          <a:graphicData uri="http://schemas.openxmlformats.org/drawingml/2006/table">
            <a:tbl>
              <a:tblPr/>
              <a:tblGrid>
                <a:gridCol w="2393022">
                  <a:extLst>
                    <a:ext uri="{9D8B030D-6E8A-4147-A177-3AD203B41FA5}">
                      <a16:colId xmlns:a16="http://schemas.microsoft.com/office/drawing/2014/main" val="834248294"/>
                    </a:ext>
                  </a:extLst>
                </a:gridCol>
                <a:gridCol w="2504326">
                  <a:extLst>
                    <a:ext uri="{9D8B030D-6E8A-4147-A177-3AD203B41FA5}">
                      <a16:colId xmlns:a16="http://schemas.microsoft.com/office/drawing/2014/main" val="1004779007"/>
                    </a:ext>
                  </a:extLst>
                </a:gridCol>
                <a:gridCol w="2504326">
                  <a:extLst>
                    <a:ext uri="{9D8B030D-6E8A-4147-A177-3AD203B41FA5}">
                      <a16:colId xmlns:a16="http://schemas.microsoft.com/office/drawing/2014/main" val="1143351340"/>
                    </a:ext>
                  </a:extLst>
                </a:gridCol>
                <a:gridCol w="2504326">
                  <a:extLst>
                    <a:ext uri="{9D8B030D-6E8A-4147-A177-3AD203B41FA5}">
                      <a16:colId xmlns:a16="http://schemas.microsoft.com/office/drawing/2014/main" val="11136372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+mn-lt"/>
                        </a:rPr>
                        <a:t>Критерий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+mn-lt"/>
                        </a:rPr>
                        <a:t>Kaspersky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+mn-lt"/>
                        </a:rPr>
                        <a:t>Dr.Web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 dirty="0" err="1">
                          <a:effectLst/>
                          <a:latin typeface="+mn-lt"/>
                        </a:rPr>
                        <a:t>ViPNet</a:t>
                      </a:r>
                      <a:endParaRPr lang="en-US" b="0" dirty="0">
                        <a:effectLst/>
                        <a:latin typeface="+mn-lt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46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+mn-lt"/>
                        </a:rPr>
                        <a:t>Антивирус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+mn-lt"/>
                        </a:rPr>
                        <a:t>Высокий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+mn-lt"/>
                        </a:rPr>
                        <a:t>Высокий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+mn-lt"/>
                        </a:rPr>
                        <a:t>Средний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899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+mn-lt"/>
                        </a:rPr>
                        <a:t>Защита от шифровальщиков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+mn-lt"/>
                        </a:rPr>
                        <a:t>✅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+mn-lt"/>
                        </a:rPr>
                        <a:t>✅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+mn-lt"/>
                        </a:rPr>
                        <a:t>❌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005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+mn-lt"/>
                        </a:rPr>
                        <a:t>Централизованное управление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+mn-lt"/>
                        </a:rPr>
                        <a:t>✅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+mn-lt"/>
                        </a:rPr>
                        <a:t>✅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+mn-lt"/>
                        </a:rPr>
                        <a:t>✅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527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+mn-lt"/>
                        </a:rPr>
                        <a:t>Совместимость с </a:t>
                      </a:r>
                      <a:r>
                        <a:rPr lang="en-US" b="0">
                          <a:effectLst/>
                          <a:latin typeface="+mn-lt"/>
                        </a:rPr>
                        <a:t>Linux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+mn-lt"/>
                        </a:rPr>
                        <a:t>Частично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+mn-lt"/>
                        </a:rPr>
                        <a:t>Полная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+mn-lt"/>
                        </a:rPr>
                        <a:t>Частично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331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+mn-lt"/>
                        </a:rPr>
                        <a:t>Ресурсоёмкость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+mn-lt"/>
                        </a:rPr>
                        <a:t>Средняя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+mn-lt"/>
                        </a:rPr>
                        <a:t>Низкая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+mn-lt"/>
                        </a:rPr>
                        <a:t>Средняя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93175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AD2206C-D4D1-E836-DD96-B6C737674113}"/>
              </a:ext>
            </a:extLst>
          </p:cNvPr>
          <p:cNvSpPr txBox="1"/>
          <p:nvPr/>
        </p:nvSpPr>
        <p:spPr>
          <a:xfrm>
            <a:off x="3867750" y="5289082"/>
            <a:ext cx="4456497" cy="374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dirty="0">
                <a:solidFill>
                  <a:srgbClr val="F9FAFB"/>
                </a:solidFill>
                <a:effectLst/>
              </a:rPr>
              <a:t>Выбрано: </a:t>
            </a:r>
            <a:r>
              <a:rPr lang="en-US" dirty="0">
                <a:solidFill>
                  <a:srgbClr val="F9FAFB"/>
                </a:solidFill>
                <a:effectLst/>
              </a:rPr>
              <a:t>Kaspersky Endpoint Security</a:t>
            </a:r>
          </a:p>
        </p:txBody>
      </p:sp>
    </p:spTree>
    <p:extLst>
      <p:ext uri="{BB962C8B-B14F-4D97-AF65-F5344CB8AC3E}">
        <p14:creationId xmlns:p14="http://schemas.microsoft.com/office/powerpoint/2010/main" val="26939792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8F801-97E3-74FB-9A7B-E47FF163D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23F032-C1FD-F0EF-A39D-CF19F84A2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98382"/>
            <a:ext cx="9905999" cy="782657"/>
          </a:xfrm>
        </p:spPr>
        <p:txBody>
          <a:bodyPr>
            <a:normAutofit/>
          </a:bodyPr>
          <a:lstStyle/>
          <a:p>
            <a:r>
              <a:rPr lang="ru-RU" sz="3200" dirty="0"/>
              <a:t>Практическая работа №14: Политики защиты АРМ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9EECE6B6-6014-90F6-FA7F-7D6B0E6973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743547"/>
              </p:ext>
            </p:extLst>
          </p:nvPr>
        </p:nvGraphicFramePr>
        <p:xfrm>
          <a:off x="1947510" y="1081039"/>
          <a:ext cx="8296978" cy="3602055"/>
        </p:xfrm>
        <a:graphic>
          <a:graphicData uri="http://schemas.openxmlformats.org/drawingml/2006/table">
            <a:tbl>
              <a:tblPr/>
              <a:tblGrid>
                <a:gridCol w="4148489">
                  <a:extLst>
                    <a:ext uri="{9D8B030D-6E8A-4147-A177-3AD203B41FA5}">
                      <a16:colId xmlns:a16="http://schemas.microsoft.com/office/drawing/2014/main" val="2919280498"/>
                    </a:ext>
                  </a:extLst>
                </a:gridCol>
                <a:gridCol w="4148489">
                  <a:extLst>
                    <a:ext uri="{9D8B030D-6E8A-4147-A177-3AD203B41FA5}">
                      <a16:colId xmlns:a16="http://schemas.microsoft.com/office/drawing/2014/main" val="3576435824"/>
                    </a:ext>
                  </a:extLst>
                </a:gridCol>
              </a:tblGrid>
              <a:tr h="29984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+mn-lt"/>
                        </a:rPr>
                        <a:t>Политика</a:t>
                      </a:r>
                    </a:p>
                  </a:txBody>
                  <a:tcPr marL="74444" marR="82716" marT="51697" marB="5169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+mn-lt"/>
                        </a:rPr>
                        <a:t>Настройка</a:t>
                      </a:r>
                    </a:p>
                  </a:txBody>
                  <a:tcPr marL="82716" marR="82716" marT="51697" marB="5169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548207"/>
                  </a:ext>
                </a:extLst>
              </a:tr>
              <a:tr h="88919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1" dirty="0">
                          <a:effectLst/>
                          <a:latin typeface="+mn-lt"/>
                        </a:rPr>
                        <a:t>Device Control</a:t>
                      </a:r>
                      <a:endParaRPr lang="en-US" sz="1500" b="0" dirty="0">
                        <a:effectLst/>
                        <a:latin typeface="+mn-lt"/>
                      </a:endParaRPr>
                    </a:p>
                  </a:txBody>
                  <a:tcPr marL="74444" marR="82716" marT="51697" marB="5169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+mn-lt"/>
                        </a:rPr>
                        <a:t>Полный запрет USB-накопителей (только клавиатура/мышь)</a:t>
                      </a:r>
                    </a:p>
                  </a:txBody>
                  <a:tcPr marL="82716" marR="74444" marT="51697" marB="5169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59691"/>
                  </a:ext>
                </a:extLst>
              </a:tr>
              <a:tr h="69274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1" dirty="0">
                          <a:effectLst/>
                          <a:latin typeface="+mn-lt"/>
                        </a:rPr>
                        <a:t>Control Applications</a:t>
                      </a:r>
                      <a:endParaRPr lang="en-US" sz="1500" b="0" dirty="0">
                        <a:effectLst/>
                        <a:latin typeface="+mn-lt"/>
                      </a:endParaRPr>
                    </a:p>
                  </a:txBody>
                  <a:tcPr marL="74444" marR="82716" marT="51697" marB="5169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+mn-lt"/>
                        </a:rPr>
                        <a:t>Белый список: браузер, </a:t>
                      </a:r>
                      <a:r>
                        <a:rPr lang="en-US" sz="1500" b="0">
                          <a:effectLst/>
                          <a:latin typeface="+mn-lt"/>
                        </a:rPr>
                        <a:t>SCADA-</a:t>
                      </a:r>
                      <a:r>
                        <a:rPr lang="ru-RU" sz="1500" b="0">
                          <a:effectLst/>
                          <a:latin typeface="+mn-lt"/>
                        </a:rPr>
                        <a:t>клиент</a:t>
                      </a:r>
                    </a:p>
                  </a:txBody>
                  <a:tcPr marL="82716" marR="74444" marT="51697" marB="5169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28569"/>
                  </a:ext>
                </a:extLst>
              </a:tr>
              <a:tr h="49629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1">
                          <a:effectLst/>
                          <a:latin typeface="+mn-lt"/>
                        </a:rPr>
                        <a:t>Блокировка экрана</a:t>
                      </a:r>
                      <a:endParaRPr lang="ru-RU" sz="1500" b="0">
                        <a:effectLst/>
                        <a:latin typeface="+mn-lt"/>
                      </a:endParaRPr>
                    </a:p>
                  </a:txBody>
                  <a:tcPr marL="74444" marR="82716" marT="51697" marB="5169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+mn-lt"/>
                        </a:rPr>
                        <a:t>Автоматически через 5 минут</a:t>
                      </a:r>
                    </a:p>
                  </a:txBody>
                  <a:tcPr marL="82716" marR="74444" marT="51697" marB="5169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843046"/>
                  </a:ext>
                </a:extLst>
              </a:tr>
              <a:tr h="69274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1">
                          <a:effectLst/>
                          <a:latin typeface="+mn-lt"/>
                        </a:rPr>
                        <a:t>Парольная политика</a:t>
                      </a:r>
                      <a:endParaRPr lang="ru-RU" sz="1500" b="0">
                        <a:effectLst/>
                        <a:latin typeface="+mn-lt"/>
                      </a:endParaRPr>
                    </a:p>
                  </a:txBody>
                  <a:tcPr marL="74444" marR="82716" marT="51697" marB="5169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+mn-lt"/>
                        </a:rPr>
                        <a:t>Длина ≥8, сложные, смена каждые 90 дней</a:t>
                      </a:r>
                    </a:p>
                  </a:txBody>
                  <a:tcPr marL="82716" marR="74444" marT="51697" marB="5169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48303"/>
                  </a:ext>
                </a:extLst>
              </a:tr>
              <a:tr h="49629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1">
                          <a:effectLst/>
                          <a:latin typeface="+mn-lt"/>
                        </a:rPr>
                        <a:t>Шифрование диска</a:t>
                      </a:r>
                      <a:endParaRPr lang="ru-RU" sz="1500" b="0">
                        <a:effectLst/>
                        <a:latin typeface="+mn-lt"/>
                      </a:endParaRPr>
                    </a:p>
                  </a:txBody>
                  <a:tcPr marL="74444" marR="82716" marT="51697" marB="5169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dirty="0">
                          <a:effectLst/>
                          <a:latin typeface="+mn-lt"/>
                        </a:rPr>
                        <a:t>BitLocker (Windows) / LUKS (Linux)</a:t>
                      </a:r>
                    </a:p>
                  </a:txBody>
                  <a:tcPr marL="82716" marR="74444" marT="51697" marB="5169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06916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6C3197B-D123-0C6D-AD25-66C2767EC38E}"/>
              </a:ext>
            </a:extLst>
          </p:cNvPr>
          <p:cNvSpPr txBox="1"/>
          <p:nvPr/>
        </p:nvSpPr>
        <p:spPr>
          <a:xfrm>
            <a:off x="1947510" y="4937041"/>
            <a:ext cx="82969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Разграничение прав (агроном — просмотр, инженер — настройка ПИД, администратор — полный доступ)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98839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F328D8-6B62-AA2D-DC8B-FAFF3B219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288758"/>
            <a:ext cx="9905999" cy="936660"/>
          </a:xfrm>
        </p:spPr>
        <p:txBody>
          <a:bodyPr>
            <a:noAutofit/>
          </a:bodyPr>
          <a:lstStyle/>
          <a:p>
            <a:r>
              <a:rPr lang="ru-RU" sz="3200"/>
              <a:t>Практическая работа №15: Комплекс средств защиты сети</a:t>
            </a:r>
            <a:endParaRPr lang="ru-RU" sz="3200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90A70986-B6B1-9269-2ED4-7F70C7B7AB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267669"/>
              </p:ext>
            </p:extLst>
          </p:nvPr>
        </p:nvGraphicFramePr>
        <p:xfrm>
          <a:off x="479660" y="1702558"/>
          <a:ext cx="5845743" cy="4511320"/>
        </p:xfrm>
        <a:graphic>
          <a:graphicData uri="http://schemas.openxmlformats.org/drawingml/2006/table">
            <a:tbl>
              <a:tblPr/>
              <a:tblGrid>
                <a:gridCol w="1948581">
                  <a:extLst>
                    <a:ext uri="{9D8B030D-6E8A-4147-A177-3AD203B41FA5}">
                      <a16:colId xmlns:a16="http://schemas.microsoft.com/office/drawing/2014/main" val="2875571972"/>
                    </a:ext>
                  </a:extLst>
                </a:gridCol>
                <a:gridCol w="1948581">
                  <a:extLst>
                    <a:ext uri="{9D8B030D-6E8A-4147-A177-3AD203B41FA5}">
                      <a16:colId xmlns:a16="http://schemas.microsoft.com/office/drawing/2014/main" val="1299604088"/>
                    </a:ext>
                  </a:extLst>
                </a:gridCol>
                <a:gridCol w="1948581">
                  <a:extLst>
                    <a:ext uri="{9D8B030D-6E8A-4147-A177-3AD203B41FA5}">
                      <a16:colId xmlns:a16="http://schemas.microsoft.com/office/drawing/2014/main" val="1646229142"/>
                    </a:ext>
                  </a:extLst>
                </a:gridCol>
              </a:tblGrid>
              <a:tr h="31610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effectLst/>
                          <a:latin typeface="+mn-lt"/>
                        </a:rPr>
                        <a:t>Компонент</a:t>
                      </a:r>
                    </a:p>
                  </a:txBody>
                  <a:tcPr marL="36901" marR="41001" marT="25626" marB="25626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effectLst/>
                          <a:latin typeface="+mn-lt"/>
                        </a:rPr>
                        <a:t>Средство</a:t>
                      </a:r>
                    </a:p>
                  </a:txBody>
                  <a:tcPr marL="41001" marR="41001" marT="25626" marB="25626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effectLst/>
                          <a:latin typeface="+mn-lt"/>
                        </a:rPr>
                        <a:t>Назначение</a:t>
                      </a:r>
                    </a:p>
                  </a:txBody>
                  <a:tcPr marL="41001" marR="41001" marT="25626" marB="25626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622489"/>
                  </a:ext>
                </a:extLst>
              </a:tr>
              <a:tr h="96272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>
                          <a:effectLst/>
                          <a:latin typeface="+mn-lt"/>
                        </a:rPr>
                        <a:t>Веб-интерфейс АСУ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6901" marR="41001" marT="25626" marB="25626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+mn-lt"/>
                        </a:rPr>
                        <a:t>TLS 1.3 / HTTPS</a:t>
                      </a:r>
                    </a:p>
                  </a:txBody>
                  <a:tcPr marL="41001" marR="41001" marT="25626" marB="25626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effectLst/>
                          <a:latin typeface="+mn-lt"/>
                        </a:rPr>
                        <a:t>Шифрование клиент-серверных соединений, защита от MitM и перехвата трафика</a:t>
                      </a:r>
                    </a:p>
                  </a:txBody>
                  <a:tcPr marL="41001" marR="36901" marT="25626" marB="25626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695727"/>
                  </a:ext>
                </a:extLst>
              </a:tr>
              <a:tr h="118855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effectLst/>
                          <a:latin typeface="+mn-lt"/>
                        </a:rPr>
                        <a:t>Сетевая фильтрация</a:t>
                      </a:r>
                      <a:endParaRPr lang="ru-RU" sz="1200" b="0">
                        <a:effectLst/>
                        <a:latin typeface="+mn-lt"/>
                      </a:endParaRPr>
                    </a:p>
                  </a:txBody>
                  <a:tcPr marL="36901" marR="41001" marT="25626" marB="25626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effectLst/>
                          <a:latin typeface="+mn-lt"/>
                        </a:rPr>
                        <a:t>Межсетевой экран (</a:t>
                      </a:r>
                      <a:r>
                        <a:rPr lang="en-US" sz="1200" b="0" dirty="0" err="1">
                          <a:effectLst/>
                          <a:latin typeface="+mn-lt"/>
                        </a:rPr>
                        <a:t>pfSense</a:t>
                      </a:r>
                      <a:r>
                        <a:rPr lang="en-US" sz="1200" b="0" dirty="0">
                          <a:effectLst/>
                          <a:latin typeface="+mn-lt"/>
                        </a:rPr>
                        <a:t> / NGFW)</a:t>
                      </a:r>
                    </a:p>
                  </a:txBody>
                  <a:tcPr marL="41001" marR="41001" marT="25626" marB="25626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effectLst/>
                          <a:latin typeface="+mn-lt"/>
                        </a:rPr>
                        <a:t>Фильтрация трафика между виртуальными машинами, контроль доступа к PostgreSQL и MQTT</a:t>
                      </a:r>
                    </a:p>
                  </a:txBody>
                  <a:tcPr marL="41001" marR="36901" marT="25626" marB="25626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068631"/>
                  </a:ext>
                </a:extLst>
              </a:tr>
              <a:tr h="87569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effectLst/>
                          <a:latin typeface="+mn-lt"/>
                        </a:rPr>
                        <a:t>Удалённое администрирование</a:t>
                      </a:r>
                      <a:endParaRPr lang="ru-RU" sz="1200" b="0">
                        <a:effectLst/>
                        <a:latin typeface="+mn-lt"/>
                      </a:endParaRPr>
                    </a:p>
                  </a:txBody>
                  <a:tcPr marL="36901" marR="41001" marT="25626" marB="25626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+mn-lt"/>
                        </a:rPr>
                        <a:t>SSHv2</a:t>
                      </a:r>
                    </a:p>
                  </a:txBody>
                  <a:tcPr marL="41001" marR="41001" marT="25626" marB="25626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effectLst/>
                          <a:latin typeface="+mn-lt"/>
                        </a:rPr>
                        <a:t>Безопасный доступ к Linux-серверам, аутентификация по ключам</a:t>
                      </a:r>
                    </a:p>
                  </a:txBody>
                  <a:tcPr marL="41001" marR="36901" marT="25626" marB="25626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363680"/>
                  </a:ext>
                </a:extLst>
              </a:tr>
              <a:tr h="96272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effectLst/>
                          <a:latin typeface="+mn-lt"/>
                        </a:rPr>
                        <a:t>Защита </a:t>
                      </a:r>
                      <a:r>
                        <a:rPr lang="en-US" sz="1200" b="1">
                          <a:effectLst/>
                          <a:latin typeface="+mn-lt"/>
                        </a:rPr>
                        <a:t>MQTT/PLC</a:t>
                      </a:r>
                      <a:endParaRPr lang="en-US" sz="1200" b="0">
                        <a:effectLst/>
                        <a:latin typeface="+mn-lt"/>
                      </a:endParaRPr>
                    </a:p>
                  </a:txBody>
                  <a:tcPr marL="36901" marR="41001" marT="25626" marB="25626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+mn-lt"/>
                        </a:rPr>
                        <a:t>TLS + </a:t>
                      </a:r>
                      <a:r>
                        <a:rPr lang="ru-RU" sz="1200" b="0" dirty="0">
                          <a:effectLst/>
                          <a:latin typeface="+mn-lt"/>
                        </a:rPr>
                        <a:t>аутентификация</a:t>
                      </a:r>
                    </a:p>
                  </a:txBody>
                  <a:tcPr marL="41001" marR="41001" marT="25626" marB="25626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effectLst/>
                          <a:latin typeface="+mn-lt"/>
                        </a:rPr>
                        <a:t>Шифрование телеметрии от контроллеров, защита управляющих команд</a:t>
                      </a:r>
                    </a:p>
                  </a:txBody>
                  <a:tcPr marL="41001" marR="36901" marT="25626" marB="25626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5817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6C08AED-4675-591D-E627-74F1CBF2A1AD}"/>
              </a:ext>
            </a:extLst>
          </p:cNvPr>
          <p:cNvSpPr txBox="1"/>
          <p:nvPr/>
        </p:nvSpPr>
        <p:spPr>
          <a:xfrm>
            <a:off x="6739290" y="2326003"/>
            <a:ext cx="5292290" cy="307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Дополнительные меры: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VLAN-сегментация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— изоляция трафика между зонами (серверная → контроллеры → клиенты)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Port Security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— привязка MAC-адресов к портам коммутатора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Host-</a:t>
            </a:r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based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 Firewall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— закрытие всех портов на серверах, кроме строго необходимых (443, 5432, 1883)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448D5B-F4E6-7DF3-9FC1-869581E731F1}"/>
              </a:ext>
            </a:extLst>
          </p:cNvPr>
          <p:cNvSpPr txBox="1"/>
          <p:nvPr/>
        </p:nvSpPr>
        <p:spPr>
          <a:xfrm>
            <a:off x="479660" y="1225418"/>
            <a:ext cx="2200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Выбранные меры: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79299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DEE98-99BB-92C0-E127-EBBCACAFB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89033C-FCDF-9FBA-FBFE-65B056B5E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288758"/>
            <a:ext cx="9905999" cy="936660"/>
          </a:xfrm>
        </p:spPr>
        <p:txBody>
          <a:bodyPr>
            <a:noAutofit/>
          </a:bodyPr>
          <a:lstStyle/>
          <a:p>
            <a:r>
              <a:rPr lang="ru-RU" sz="3200" dirty="0"/>
              <a:t>Практическая работа №15: Противодействие конкретным сетевым угрозам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FCA576-1091-1BA3-AF84-8F3FB75AC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388750"/>
            <a:ext cx="5508058" cy="4400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Механизмы нейтрализации сетевых угроз: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DD835D61-ACB5-0428-5243-A3B58F442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082814"/>
              </p:ext>
            </p:extLst>
          </p:nvPr>
        </p:nvGraphicFramePr>
        <p:xfrm>
          <a:off x="2797743" y="1992132"/>
          <a:ext cx="6814686" cy="4037252"/>
        </p:xfrm>
        <a:graphic>
          <a:graphicData uri="http://schemas.openxmlformats.org/drawingml/2006/table">
            <a:tbl>
              <a:tblPr/>
              <a:tblGrid>
                <a:gridCol w="3407343">
                  <a:extLst>
                    <a:ext uri="{9D8B030D-6E8A-4147-A177-3AD203B41FA5}">
                      <a16:colId xmlns:a16="http://schemas.microsoft.com/office/drawing/2014/main" val="1847463149"/>
                    </a:ext>
                  </a:extLst>
                </a:gridCol>
                <a:gridCol w="3407343">
                  <a:extLst>
                    <a:ext uri="{9D8B030D-6E8A-4147-A177-3AD203B41FA5}">
                      <a16:colId xmlns:a16="http://schemas.microsoft.com/office/drawing/2014/main" val="2455086290"/>
                    </a:ext>
                  </a:extLst>
                </a:gridCol>
              </a:tblGrid>
              <a:tr h="284421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+mn-lt"/>
                        </a:rPr>
                        <a:t>Угроза</a:t>
                      </a:r>
                    </a:p>
                  </a:txBody>
                  <a:tcPr marL="42663" marR="47403" marT="29627" marB="2962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+mn-lt"/>
                        </a:rPr>
                        <a:t>Средство нейтрализации</a:t>
                      </a:r>
                    </a:p>
                  </a:txBody>
                  <a:tcPr marL="47403" marR="47403" marT="29627" marB="2962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378523"/>
                  </a:ext>
                </a:extLst>
              </a:tr>
              <a:tr h="62217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1">
                          <a:effectLst/>
                          <a:latin typeface="+mn-lt"/>
                        </a:rPr>
                        <a:t>Перехват трафика (сниффинг)</a:t>
                      </a:r>
                      <a:endParaRPr lang="ru-RU" sz="1400" b="0">
                        <a:effectLst/>
                        <a:latin typeface="+mn-lt"/>
                      </a:endParaRPr>
                    </a:p>
                  </a:txBody>
                  <a:tcPr marL="42663" marR="47403" marT="29627" marB="2962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+mn-lt"/>
                        </a:rPr>
                        <a:t>HTTPS (TLS 1.3) для веб-интерфейса; SSHv2 для администрирования</a:t>
                      </a:r>
                    </a:p>
                  </a:txBody>
                  <a:tcPr marL="47403" marR="42663" marT="29627" marB="2962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682331"/>
                  </a:ext>
                </a:extLst>
              </a:tr>
              <a:tr h="50958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1">
                          <a:effectLst/>
                          <a:latin typeface="+mn-lt"/>
                        </a:rPr>
                        <a:t>Атака «Человек посередине» (</a:t>
                      </a:r>
                      <a:r>
                        <a:rPr lang="en-US" sz="1400" b="1">
                          <a:effectLst/>
                          <a:latin typeface="+mn-lt"/>
                        </a:rPr>
                        <a:t>MitM)</a:t>
                      </a:r>
                      <a:endParaRPr lang="en-US" sz="1400" b="0">
                        <a:effectLst/>
                        <a:latin typeface="+mn-lt"/>
                      </a:endParaRPr>
                    </a:p>
                  </a:txBody>
                  <a:tcPr marL="42663" marR="47403" marT="29627" marB="2962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+mn-lt"/>
                        </a:rPr>
                        <a:t>Сертификаты TLS; проверка ключей SSH; шифрование MQTT-соединений</a:t>
                      </a:r>
                    </a:p>
                  </a:txBody>
                  <a:tcPr marL="47403" marR="42663" marT="29627" marB="2962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621871"/>
                  </a:ext>
                </a:extLst>
              </a:tr>
              <a:tr h="62217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1">
                          <a:effectLst/>
                          <a:latin typeface="+mn-lt"/>
                        </a:rPr>
                        <a:t>Несанкционированный доступ к MQTT/PostgreSQL</a:t>
                      </a:r>
                      <a:endParaRPr lang="ru-RU" sz="1400" b="0">
                        <a:effectLst/>
                        <a:latin typeface="+mn-lt"/>
                      </a:endParaRPr>
                    </a:p>
                  </a:txBody>
                  <a:tcPr marL="42663" marR="47403" marT="29627" marB="2962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+mn-lt"/>
                        </a:rPr>
                        <a:t>Межсетевой экран (pfSense) — доступ только с разрешённых IP; парольная защита</a:t>
                      </a:r>
                    </a:p>
                  </a:txBody>
                  <a:tcPr marL="47403" marR="42663" marT="29627" marB="2962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876897"/>
                  </a:ext>
                </a:extLst>
              </a:tr>
              <a:tr h="62217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1">
                          <a:effectLst/>
                          <a:latin typeface="+mn-lt"/>
                        </a:rPr>
                        <a:t>Сканирование портов / сетевые атаки</a:t>
                      </a:r>
                      <a:endParaRPr lang="ru-RU" sz="1400" b="0">
                        <a:effectLst/>
                        <a:latin typeface="+mn-lt"/>
                      </a:endParaRPr>
                    </a:p>
                  </a:txBody>
                  <a:tcPr marL="42663" marR="47403" marT="29627" marB="2962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+mn-lt"/>
                        </a:rPr>
                        <a:t>Фильтрация трафика; закрытие неиспользуемых портов (Host-based Firewall)</a:t>
                      </a:r>
                    </a:p>
                  </a:txBody>
                  <a:tcPr marL="47403" marR="42663" marT="29627" marB="2962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145658"/>
                  </a:ext>
                </a:extLst>
              </a:tr>
              <a:tr h="50958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1">
                          <a:effectLst/>
                          <a:latin typeface="+mn-lt"/>
                        </a:rPr>
                        <a:t>Компрометация канала администрирования</a:t>
                      </a:r>
                      <a:endParaRPr lang="ru-RU" sz="1400" b="0">
                        <a:effectLst/>
                        <a:latin typeface="+mn-lt"/>
                      </a:endParaRPr>
                    </a:p>
                  </a:txBody>
                  <a:tcPr marL="42663" marR="47403" marT="29627" marB="2962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+mn-lt"/>
                        </a:rPr>
                        <a:t>SSHv2 с аутентификацией по ключам; запрет входа по паролю</a:t>
                      </a:r>
                    </a:p>
                  </a:txBody>
                  <a:tcPr marL="47403" marR="42663" marT="29627" marB="2962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781858"/>
                  </a:ext>
                </a:extLst>
              </a:tr>
              <a:tr h="39700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+mn-lt"/>
                        </a:rPr>
                        <a:t>Внутренние атаки между ВМ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42663" marR="47403" marT="29627" marB="2962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+mn-lt"/>
                        </a:rPr>
                        <a:t>VLAN-</a:t>
                      </a:r>
                      <a:r>
                        <a:rPr lang="ru-RU" sz="1400" b="0" dirty="0">
                          <a:effectLst/>
                          <a:latin typeface="+mn-lt"/>
                        </a:rPr>
                        <a:t>сегментация; </a:t>
                      </a:r>
                      <a:r>
                        <a:rPr lang="en-US" sz="1400" b="0" dirty="0">
                          <a:effectLst/>
                          <a:latin typeface="+mn-lt"/>
                        </a:rPr>
                        <a:t>Private VLAN (</a:t>
                      </a:r>
                      <a:r>
                        <a:rPr lang="ru-RU" sz="1400" b="0" dirty="0">
                          <a:effectLst/>
                          <a:latin typeface="+mn-lt"/>
                        </a:rPr>
                        <a:t>изоляция портов)</a:t>
                      </a:r>
                    </a:p>
                  </a:txBody>
                  <a:tcPr marL="47403" marR="42663" marT="29627" marB="2962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39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37573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CD3668-3666-D5AA-6349-321471571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78407"/>
            <a:ext cx="9905999" cy="1360898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928537-7155-92A8-8914-A0070D7E9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764134"/>
            <a:ext cx="10060807" cy="39340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b="1" dirty="0"/>
              <a:t>Итоги работы:</a:t>
            </a:r>
            <a:endParaRPr lang="ru-RU" dirty="0"/>
          </a:p>
          <a:p>
            <a:r>
              <a:rPr lang="ru-RU" dirty="0"/>
              <a:t>✅ Разработана функциональная структура АСУ ТП поддержания температуры в оранжерее (5 подсистем).</a:t>
            </a:r>
          </a:p>
          <a:p>
            <a:r>
              <a:rPr lang="ru-RU" dirty="0"/>
              <a:t>✅ Спроектирована база данных </a:t>
            </a:r>
            <a:r>
              <a:rPr lang="ru-RU" dirty="0" err="1"/>
              <a:t>PostgreSQL</a:t>
            </a:r>
            <a:r>
              <a:rPr lang="ru-RU" dirty="0"/>
              <a:t> + </a:t>
            </a:r>
            <a:r>
              <a:rPr lang="ru-RU" dirty="0" err="1"/>
              <a:t>TimescaleDB</a:t>
            </a:r>
            <a:r>
              <a:rPr lang="ru-RU" dirty="0"/>
              <a:t> для хранения временных рядов показаний датчиков и журнала команд управления.</a:t>
            </a:r>
          </a:p>
          <a:p>
            <a:r>
              <a:rPr lang="ru-RU" dirty="0"/>
              <a:t>✅ Реализован модуль автонастройки ПИД-регулятора на Python (метод Циглера-Николса) с расчётом оптимальных </a:t>
            </a:r>
            <a:r>
              <a:rPr lang="ru-RU" dirty="0" err="1"/>
              <a:t>Kp</a:t>
            </a:r>
            <a:r>
              <a:rPr lang="ru-RU" dirty="0"/>
              <a:t>, </a:t>
            </a:r>
            <a:r>
              <a:rPr lang="ru-RU" dirty="0" err="1"/>
              <a:t>Ki</a:t>
            </a:r>
            <a:r>
              <a:rPr lang="ru-RU" dirty="0"/>
              <a:t>, </a:t>
            </a:r>
            <a:r>
              <a:rPr lang="ru-RU" dirty="0" err="1"/>
              <a:t>Kd</a:t>
            </a:r>
            <a:r>
              <a:rPr lang="ru-RU" dirty="0"/>
              <a:t>.</a:t>
            </a:r>
          </a:p>
          <a:p>
            <a:r>
              <a:rPr lang="ru-RU" dirty="0"/>
              <a:t>✅ Выбраны и обоснованы средства защиты информации (Kaspersky </a:t>
            </a:r>
            <a:r>
              <a:rPr lang="ru-RU" dirty="0" err="1"/>
              <a:t>Endpoint</a:t>
            </a:r>
            <a:r>
              <a:rPr lang="ru-RU" dirty="0"/>
              <a:t> Security, NGFW с VPN), соответствующие требованиям ФСТЭК для объектов КИИ.</a:t>
            </a:r>
          </a:p>
        </p:txBody>
      </p:sp>
    </p:spTree>
    <p:extLst>
      <p:ext uri="{BB962C8B-B14F-4D97-AF65-F5344CB8AC3E}">
        <p14:creationId xmlns:p14="http://schemas.microsoft.com/office/powerpoint/2010/main" val="124922675"/>
      </p:ext>
    </p:extLst>
  </p:cSld>
  <p:clrMapOvr>
    <a:masterClrMapping/>
  </p:clrMapOvr>
</p:sld>
</file>

<file path=ppt/theme/theme1.xml><?xml version="1.0" encoding="utf-8"?>
<a:theme xmlns:a="http://schemas.openxmlformats.org/drawingml/2006/main" name="RegattaVTI">
  <a:themeElements>
    <a:clrScheme name="Regatta Yellow">
      <a:dk1>
        <a:sysClr val="windowText" lastClr="000000"/>
      </a:dk1>
      <a:lt1>
        <a:sysClr val="window" lastClr="FFFFFF"/>
      </a:lt1>
      <a:dk2>
        <a:srgbClr val="181C30"/>
      </a:dk2>
      <a:lt2>
        <a:srgbClr val="C8E1F4"/>
      </a:lt2>
      <a:accent1>
        <a:srgbClr val="217ED3"/>
      </a:accent1>
      <a:accent2>
        <a:srgbClr val="B92525"/>
      </a:accent2>
      <a:accent3>
        <a:srgbClr val="18558C"/>
      </a:accent3>
      <a:accent4>
        <a:srgbClr val="1D8B35"/>
      </a:accent4>
      <a:accent5>
        <a:srgbClr val="EA75AA"/>
      </a:accent5>
      <a:accent6>
        <a:srgbClr val="F5A700"/>
      </a:accent6>
      <a:hlink>
        <a:srgbClr val="DB0000"/>
      </a:hlink>
      <a:folHlink>
        <a:srgbClr val="066BB6"/>
      </a:folHlink>
    </a:clrScheme>
    <a:fontScheme name="Walbaum Display">
      <a:majorFont>
        <a:latin typeface="Walbaum Display"/>
        <a:ea typeface=""/>
        <a:cs typeface=""/>
      </a:majorFont>
      <a:minorFont>
        <a:latin typeface="Walbaum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gattaVTI" id="{FFC3BCE5-6357-41D1-8E67-3F85B69D7E86}" vid="{893A6374-FE17-48E5-8B62-678C1B11AA1B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5444</Words>
  <Application>Microsoft Office PowerPoint</Application>
  <PresentationFormat>Широкоэкранный</PresentationFormat>
  <Paragraphs>772</Paragraphs>
  <Slides>42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48" baseType="lpstr">
      <vt:lpstr>Aptos</vt:lpstr>
      <vt:lpstr>Arial</vt:lpstr>
      <vt:lpstr>quote-cjk-patch</vt:lpstr>
      <vt:lpstr>Times New Roman</vt:lpstr>
      <vt:lpstr>Walbaum Display</vt:lpstr>
      <vt:lpstr>RegattaVTI</vt:lpstr>
      <vt:lpstr>АСУ ТП по поддержанию температуры в оранжереи </vt:lpstr>
      <vt:lpstr>Практическая работа №1: Описание объекта и причины автоматизации</vt:lpstr>
      <vt:lpstr>Практическая работа №1: Процессы автоматизации и функциональная структура</vt:lpstr>
      <vt:lpstr>Практическая работа №2: Функциональные требования</vt:lpstr>
      <vt:lpstr>Практическая работа №2: Функциональные требования</vt:lpstr>
      <vt:lpstr>Практическая работа №2: Нефункциональные требования</vt:lpstr>
      <vt:lpstr>Практическая работа №2: Нефункциональные требования</vt:lpstr>
      <vt:lpstr>Практическая работа №3: Архитектура модулей АСУ и ролевой доступ</vt:lpstr>
      <vt:lpstr>Практическая работа №3: модуль 1 - Мониторинг и визуализация</vt:lpstr>
      <vt:lpstr>Практическая работа №3: Модуль 2 - Управление исполнительными механизмами</vt:lpstr>
      <vt:lpstr>Презентация PowerPoint</vt:lpstr>
      <vt:lpstr>Практическая работа №4: диаграммы последовательностей</vt:lpstr>
      <vt:lpstr>Практическая работа №4: Диаграмма классов</vt:lpstr>
      <vt:lpstr>Практическая работа №5: Аппаратное обеспечение для автоматизированной системы по розливу напитков</vt:lpstr>
      <vt:lpstr>Практическая работа №5: Аппаратное обеспечение для автоматизированной системы</vt:lpstr>
      <vt:lpstr>Практическая работа №5: Аппаратное обеспечение для автоматизированной системы</vt:lpstr>
      <vt:lpstr>Практическая работа №5: Аппаратное обеспечение для автоматизированной системы</vt:lpstr>
      <vt:lpstr>Практическая работа №6: Выбор функции и языка программирования </vt:lpstr>
      <vt:lpstr>Практическая работа №6: Выбор IDE и библиотек</vt:lpstr>
      <vt:lpstr>Практическая работа №6: Результат выполнения работы кода</vt:lpstr>
      <vt:lpstr>Практическая работа №7: ER-диаграмма</vt:lpstr>
      <vt:lpstr>Практическая работа №8: Выбор СУБД</vt:lpstr>
      <vt:lpstr>Практическая работа №8: Создание БД</vt:lpstr>
      <vt:lpstr>Практическая работа №8: Заполнение БД</vt:lpstr>
      <vt:lpstr>Практическая работа №8: Запрос </vt:lpstr>
      <vt:lpstr>Практическая работа №9: Клиентское оборудование</vt:lpstr>
      <vt:lpstr>Практическая работа №9: Серверная инфраструктура</vt:lpstr>
      <vt:lpstr>Практическая работа №10: Сравнение и выбор среды виртуализации</vt:lpstr>
      <vt:lpstr>Практическая работа №10: Распределение ПО по виртуальным машинам</vt:lpstr>
      <vt:lpstr>Практическая работа №10: Распределение аппаратных ресурсов</vt:lpstr>
      <vt:lpstr>Практическая работа №11:Архитектура и стек технологий</vt:lpstr>
      <vt:lpstr>Практическая работа №11: Вкладка о системе</vt:lpstr>
      <vt:lpstr>Практическая работа №11:Другие вкладки</vt:lpstr>
      <vt:lpstr>Практическая работа №12: Обоснование и архитектура модуля</vt:lpstr>
      <vt:lpstr>Практическая работа №12: веб-интерфейс</vt:lpstr>
      <vt:lpstr>Практическая работа №13: Схема компьютерной сети проектируемой АСУ </vt:lpstr>
      <vt:lpstr>Практическая работа №13: Схема компьютерной сети проектируемой АСУ </vt:lpstr>
      <vt:lpstr>Практическая работа №14: Выбор средств защиты информации</vt:lpstr>
      <vt:lpstr>Практическая работа №14: Политики защиты АРМ</vt:lpstr>
      <vt:lpstr>Практическая работа №15: Комплекс средств защиты сети</vt:lpstr>
      <vt:lpstr>Практическая работа №15: Противодействие конкретным сетевым угрозам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Астахов</dc:creator>
  <cp:lastModifiedBy>Сергей Астахов</cp:lastModifiedBy>
  <cp:revision>101</cp:revision>
  <dcterms:created xsi:type="dcterms:W3CDTF">2026-05-20T05:20:48Z</dcterms:created>
  <dcterms:modified xsi:type="dcterms:W3CDTF">2026-06-04T17:59:53Z</dcterms:modified>
</cp:coreProperties>
</file>